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slide. The Big Book is built in three movements.
Doctor's Opinion + Bill's Story = Step 1. The Problem. We are powerless.
Chapters 2-4 = Step 2. The Solution. There is a Power.
Chapters 5-7 = Steps 3 through 12. The action necessary for recovery.
Chapters 8 and 9 speak to the family - read today as Al-Anon and Alateen.
The "MUSTS" exercise begins on page 142.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Big Book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7223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  ·   Solution   ·   Action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138160" y="320040"/>
            <a:ext cx="3502152" cy="960120"/>
          </a:xfrm>
          <a:prstGeom prst="roundRect">
            <a:avLst>
              <a:gd name="adj" fmla="val 9524"/>
            </a:avLst>
          </a:prstGeom>
          <a:solidFill>
            <a:srgbClr val="9E1B60"/>
          </a:solidFill>
          <a:ln/>
        </p:spPr>
      </p:sp>
      <p:sp>
        <p:nvSpPr>
          <p:cNvPr id="5" name="Text 3"/>
          <p:cNvSpPr/>
          <p:nvPr/>
        </p:nvSpPr>
        <p:spPr>
          <a:xfrm>
            <a:off x="8138160" y="320040"/>
            <a:ext cx="3502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“MUSTS”</a:t>
            </a:r>
            <a:endParaRPr lang="en-US" sz="19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7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on page 142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EAF1E6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41732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173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</a:t>
            </a:r>
            <a:endParaRPr lang="en-US" sz="2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 ·  Powerless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3794760" y="160020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370832" y="1600200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Doctor’s Opinion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195560" y="160020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xxi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94760" y="198424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370832" y="198424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Bill’s Story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195560" y="198424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1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269748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E2EDF4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697480"/>
            <a:ext cx="3017520" cy="1371600"/>
          </a:xfrm>
          <a:prstGeom prst="roundRect">
            <a:avLst>
              <a:gd name="adj" fmla="val 5333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269748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</a:t>
            </a:r>
            <a:endParaRPr lang="en-US" sz="2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 ·  Power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3794760" y="282549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70832" y="2825496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Solution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0195560" y="282549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17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794760" y="320954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370832" y="3209544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About Alcoholism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0195560" y="320954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30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794760" y="359359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370832" y="359359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Agnostics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0195560" y="359359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44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25196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EAF1E6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4251960"/>
            <a:ext cx="3017520" cy="1371600"/>
          </a:xfrm>
          <a:prstGeom prst="roundRect">
            <a:avLst>
              <a:gd name="adj" fmla="val 5333"/>
            </a:avLst>
          </a:prstGeom>
          <a:solidFill>
            <a:srgbClr val="2C5F2D"/>
          </a:solidFill>
          <a:ln/>
        </p:spPr>
      </p:sp>
      <p:sp>
        <p:nvSpPr>
          <p:cNvPr id="29" name="Text 27"/>
          <p:cNvSpPr/>
          <p:nvPr/>
        </p:nvSpPr>
        <p:spPr>
          <a:xfrm>
            <a:off x="777240" y="425196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STEPS 3–12</a:t>
            </a:r>
            <a:endParaRPr lang="en-US" sz="2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Necessary for Recovery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3794760" y="437997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370832" y="4379976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10195560" y="43799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58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794760" y="47640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370832" y="4764024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Action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10195560" y="476402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72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3794760" y="514807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370832" y="514807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Others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10195560" y="514807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89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48640" y="585216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1F4F7"/>
          </a:solidFill>
          <a:ln/>
        </p:spPr>
      </p:sp>
      <p:sp>
        <p:nvSpPr>
          <p:cNvPr id="40" name="Text 38"/>
          <p:cNvSpPr/>
          <p:nvPr/>
        </p:nvSpPr>
        <p:spPr>
          <a:xfrm>
            <a:off x="868680" y="58521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 </a:t>
            </a:r>
            <a:pPr indent="0" marL="0">
              <a:buNone/>
            </a:pPr>
            <a:r>
              <a:rPr lang="en-US" sz="1400" strike="sngStrike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Wives</a:t>
            </a:r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Al-Anons</a:t>
            </a:r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p. 104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309360" y="58521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 </a:t>
            </a:r>
            <a:pPr indent="0" marL="0">
              <a:buNone/>
            </a:pPr>
            <a:r>
              <a:rPr lang="en-US" sz="1400" strike="sngStrike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Afterward</a:t>
            </a:r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Alateens Afterward</a:t>
            </a:r>
            <a:pPr indent="0" marL="0"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p. 122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2026-08-04T20:57:42Z</dcterms:created>
  <dcterms:modified xsi:type="dcterms:W3CDTF">2026-08-04T20:57:42Z</dcterms:modified>
</cp:coreProperties>
</file>
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who wrote this letter is the same Silkworth from the Foreword - the one the
book calls a medical saint, the one who told the broker the grave nature of alcoholism.
His name is on it now. It was not always. In the first editions the letter was signed
Anonymous, and the name was added later.
A doctor put his professional reputation behind a book written by drunks, in 1939, when
there was nothing to gain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and mind. Both. That is the whole claim, and it is a must - what we who have
suffered alcoholic torture must believe.
Not a weak mind housed in a healthy body. Not a moral failure a person could think his
way out of. The body is as abnormal as the mind.
This is Step One territory. If only the mind were the problem, willpower would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double-underlined in the study copy. Sit on that word.
They are not arguing that the psychological picture is wrong. Read it again - these things
were true to some extent, in fact to a considerable extent with some of us. Maladjusted,
in flight from reality, all of it. They grant it.
What they will not grant is that it is the whole story. Our bodies were sickened as well.
Any picture that leaves out the physical factor is incomplete. Incomplete, not wrong -
and an incomplete picture is what keeps a man trying to solve a physical problem with
resolutions.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Interests us. Not proves, not settles - interests. They are careful here.
As laymen our opinion means little. They say so themselves. But as ex-problem drinkers -
and that is the standing that counts in this room - the explanation makes good sense.
It explains many things for which we cannot otherwise account. That is the test they are
applying. Not is it proven, but does it account for what happened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green arrow in the study copy starts here. This is the doctor speaking in his own
voice, and the first thing he does is establish standing.
The hospital is the Charles B. Towns Hospital, 293 Central Park West in Manhattan.
Silkworth was its medical director. That is where he saw thousands of alcoholics come
through, and it is where he met Bill.
Note his word for the book - masterly. A physician calling a book written by drunks
masterly, in 1939.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doctor admitting the limits of medicine. Read that second paragraph slowly.
They knew some form of moral psychology was urgently needed. They could not deliver it.
Its application presented difficulties beyond our conception.
And then he says why - our ultra-modern standards, our scientific approach to everything.
The training that makes a good physician is the same training that leaves him not well
equipped to apply powers of good outside his synthetic knowledge.
He is describing the gap that the Twelve Steps walked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Silkworth is being discreet. He does not name him. But everyone reading this in 1939 who
knew anything knew who it was.
One of the leading contributors to this book is Bill W. This hospital is Towns. Bill was
admitted four times between 1933 and 1934 - his last drink was 11 December 1934, and
three days later, still in that hospital, he had the experience he describes in his story.
The ideas he acquired came from Silkworth: the allergy, and the obsession. And he put them
into practical application at once - meaning he went out and started talking to other
alcoholics.
The doctor who explained the illness to him is the same doctor writing this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Craving in this book means the physical thing. Not wanting a drink - the body's reaction
once alcohol is in it.
And it is limited to this class. It never occurs in the average temperate drinker. That is
why the normal drinker cannot understand us and why his advice never helps.
Never safely use alcohol in any form at all. Not less. Not carefully. Not at all.
Then watch the order of the collapse: form the habit, cannot break it, lose self-confidence,
lose reliance upon things human. The problems pile up after that, not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Frothy emotional appeal seldom suffices. A doctor wrote that, about pep talks and
sentiment and getting people fired up. It does not hold.
Depth and weight. That is what he says the message needs, and it is why this book reads
the way it does rather than like a motivational pamphlet.
And there is Step Two, stated by a physician in the front matter: a power greater than
themselves. Re-create their lives - not improve, not manage. Re-create.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because of the wife, the job, the childhood. Because they like the effect. Start there.
Cannot differentiate the true from the false - he is describing a man who no longer knows
which of his own thoughts to trust.
Restless, irritable and discontented. Anyone who has been around a while can say that line
from memory, and it is in a doctor's letter before page 1.
And the last clause is the whole trouble: drinks which they see others taking with impunity.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SHEET here - that is the star in the margin.
Psychic change means a change in thinking. Circled three times on this page in the study
copy, so it is worth saying out loud: not mystical, not spooky. Thinking.
The cycle first: succumb, craving develops, the spree runs its stages, remorse, firm
resolution. Repeated over and over. Everyone in this room has run that lap.
The resolution is not the way out. An entire change in thinking is. And on the next page
Silkworth says that once it happens, the man who seemed doomed finds he can follow a few
simple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and all three are the doctor admitting he is beaten.
First, the patient: I must stop, but I cannot. That sentence is Step One in a man's own
words, said to a doctor, years before there were Steps.
Second, the physician: if he is honest with himself, he must sometimes feel his own
inadequacy. He gives all that is in him and it often is not enough.
Third: we physicians must admit we have made little impression upon the problem as a whole.
That is the man who signed this letter, with a hospital and thousands of cases behind him,
saying medicine could not do it. Something more than human power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types, and the doctor is not being unkind about any of them. He is showing that the
illness does not care what sort of person you are.
Type I - over-remorseful, always going on the wagon for keeps. Many resolutions, but never
a decision. Sit on that difference.
Type II - unwilling to admit he cannot take a drink. Changes his brand, changes his
environment. Anything but the one admission.
Type III - believes that after enough time off he can drink safely again.
Type IV - the manic-depressive, least understood by his friends.
Type V - entirely normal in every respect except one. Able, intelligent, friendly people.
That one is on the list so nobody in the room gets to disqualify himself for looking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the margin marks IMPORTANT, and it is the one that ties the five
types together.
Whatever type a man is, one symptom is common to all of them: he cannot start drinking
without developing the phenomenon of craving. Cannot start.
Sets them apart as a distinct entity - not worse people, a different category.
Never permanently eradicated, by any treatment he knows of. That word is doing a lot of
work. Not cured. Arrested, at best.
So the only relief he has to suggest is entire abstinence - double underlined in the study
copy. Entire. Not moderation, not management. And relief, not 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of the letter, and he is still being careful. He does not promise. He advises.
Came to scoff, may remain to pray. He knows exactly who is picking up this book and in
what frame of mind.
NOTE: this slide was built from dictation, not from a photograph of the page. Check the
wording and add the page number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before we read a word of it.
Identify, do not compare. The moment you start measuring your drinking against Bill's,
you are looking for a reason this does not apply to you.
And the bottom. We say it constantly - he had to hit bottom. The only true bottom is
death. Everything above that is a level, and every level has a door out of it.
Watch for those levels as we read. They are marked all the way down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of this one - the arrow in the margin says so.
The epitaph is real, from Winchester Cathedral. Pot means a drinking vessel, a pail.
A soldier who survived the muskets and died of the drink.
Bill reads his own obituary on a tombstone at twenty-two and calls it an ominous warning
he failed to heed. Then in the very next breath: leader, special token of appreciation,
vast enterprises, utmost assurance.
The warning and the ego, back to back, in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 drunk to think or write at a final - and he nearly failed the course he was paying for
with the job that drinking would eventually cost him.
And then the excuse, which is the part to sit on: men of genius conceived their best
projects when drunk. He is not lying to her. He believes it.
Everyone in this room has had a version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Quitting the law after finishing the course - that is a level. Not a catastrophe yet.
Just a man walking away from the thing he trained for.
The boomerang is his own image for it, written years later. Drink and speculation, alloyed
into a weapon that comes back around.
A thousand dollars in the early twenties was a year's income for a lot of people. And the
idea nobody would fund - going out to look at the factories himself - is the one he was
right about. He was among the first to write what we would now call a prospectus.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I had arrived. That is the top of the arc, and the book gives it its own
sentence for a reason.
Then read the levels coming down off it. All day and almost every night. Kept out of the
scrapes only by being too drunk for them - and notice he counts that as loyalty.
Jittery in the morning. That is the body speaking now, not the ego.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are going out of windows and his reaction is disgust - and then the bar. He notices
the insanity in other people and walks straight into his own.
Montreal is the next level: somebody else still has money, so go there.
And when that ends, they move in with his wife's parents. Sponging off family. Nobody
calls it that at the time. It is always temporary, always somebody being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Luxury to necessity. One clause, and a whole line has been crossed.
Control is double-underlined here, the same as on page xxii where the book says we could
not control our drinking. Same word, both places.
And notice what keeps the thing alive: periods of sobriety which renewed my wife's hope.
The dry stretches are not evidence of control. They are what makes everyone keep believing.
Gradually things got worse. Gradually. Nobody sees it happening, which is the note in the
margin - blinded to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will power level, and it is the honest one. He is not lying, he is not
half-hearted, he is not making a sweet promise. He means it, and his wife can tell the
difference. And so I did - he actually stopped.
Then: shortly afterward I came home drunk. There had been no fight.
No fight. No reason. No trigger to point at. That is the whole argument for the physical
factor, told as a story instead of a theory.
Was I crazy? He underlines it. He is asking the question the Doctor's Opinion already
answered - the body is as abnormal as the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what comes right before it - the remorse, the horror, the hopelessness of the next
morning. And the answer to all of that is gin.
The sickest reason to drink: not to feel good. To go out. Two bottles and oblivion.
Then the purse. A grown man taking coins from his wife's handbag because the terror is
on him. He does not dress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pounds under weight. That is not a figure of speech, it is a man starving.
Three people get circled on this page and none of them are named in the book.
The brother-in-law is Dr. Leonard Strong. The nationally-known hospital is Towns -
this is the first of the visits. The doctor is Silkworth, the same man who wrote
the letter we just read.
And the belladonna treatment - deadly nightshade. They were treating delirium with a
hallucinogen. That was the state of the art in 1934.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or four months. The goose hung high. He is going to work, making money, and he
understands his own condition for the first time in his life.
Surely this was the answer - self-knowledge. Underlined, because it is the trap.
But it was not. Four words, underlined, on its own.
Knowing exactly what is wrong with you does not fix what is wrong with you. He goes back
to the same hospital a second time. This is the argument against 'if I just understood
myself better,' and Bill made it with his own life before the book ever made it in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Step One starts for him, and notice it is not a decision. It is a report.
I had met my match. I had been overwhelmed. Alcohol was my master. Three flat statements
of fact, past tense.
Nobody talks him into this. He arrives at it in a bitter morass of self-pity with
quicksand in all directions - which is exactly where most people arrive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 at the door is Ebby Thatcher - the alcoholic friend from the Foreword, the one
Roland carried it to. Bill's sponsor, before the word existed.
Bill had heard he was locked up for alcoholic insanity. And here he is at the door, sober,
fresh-skinned and glowing, refusing a drink.
I've got religion. Bill is aghast. Watch what he does with that in the next paragraph -
he pours himself a drink and lets the old boy 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and the whole program is in it.
A simple religious idea - that is Step Two. Not a doctrine, not a denomination. An idea.
And a practical program of action - Steps Three through Twelve. Practical. Action.
The idea without the action is a conversation. The action without the idea is willpower,
and we already watched that fail on page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Circled in the study copy, and rightly. This is where Step One closes for him.
He is not interested because it sounds good. He is interested because he has run out of
everything else. I had to be, for I was hopeless.
Hopeless is not despair here. It is an accurate description of his position, and it is
the only thing that got him to listen to a man he thought was a crackpot.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marks this whole paragraph The Solution, and that is what it is.
Count what had already failed: his human will, the doctors, and society, which was about
to lock him up. Everything available had been tried and had lost.
Like myself, he had admitted complete defeat. That is the entry requirement, stated plainly.
And what follows defeat is not managing better. Raised from the dead. Scrap heap to a level
of life better than the best he had ever known. Better than his best, not back to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Bill checks the obvious explanation first. Maybe Ebby just found something in himself.
Obviously it had not. He had known Ebby for years. There was no more power in that man
than there was in Bill sitting across the table - and Bill knew exactly how much that was.
None at all.
So whatever did it came from somewhere else. That is the reasoning, and he does it cold,
as a skeptic, at his own kitchen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highlighted in this paragraph, but the margin says why it is here: Bill sees a
miracle in front of him.
Never mind the musty past. He is not being asked to believe something that happened two
thousand years ago to somebody he never met. The evidence is sitting across the kitchen
table drinking coffee.
That is still how it works. Nobody gets argued into this. They watch somebody they knew
when he was drinking, and they cannot account for what they are looking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William D. Silkworth, M.D.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letter is signed.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45920"/>
            <a:ext cx="11091672" cy="2103120"/>
          </a:xfrm>
          <a:prstGeom prst="roundRect">
            <a:avLst>
              <a:gd name="adj" fmla="val 3478"/>
            </a:avLst>
          </a:prstGeom>
          <a:solidFill>
            <a:srgbClr val="E2EDF4"/>
          </a:solidFill>
          <a:ln/>
        </p:spPr>
      </p:sp>
      <p:sp>
        <p:nvSpPr>
          <p:cNvPr id="7" name="Text 5"/>
          <p:cNvSpPr/>
          <p:nvPr/>
        </p:nvSpPr>
        <p:spPr>
          <a:xfrm>
            <a:off x="914400" y="2011680"/>
            <a:ext cx="10360152" cy="457200"/>
          </a:xfrm>
          <a:prstGeom prst="rect">
            <a:avLst/>
          </a:prstGeom>
          <a:noFill/>
          <a:ln/>
        </p:spPr>
        <p:txBody>
          <a:bodyPr wrap="square" lIns="0" tIns="0" rIns="0" bIns="0" rtlCol="0" anchor="ctr"/>
          <a:lstStyle/>
          <a:p>
            <a:pPr algn="r" indent="0" marL="0">
              <a:buNone/>
            </a:pPr>
            <a:r>
              <a:rPr lang="en-US" sz="2200" i="1" dirty="0">
                <a:solidFill>
                  <a:srgbClr val="1B2A41"/>
                </a:solidFill>
                <a:latin typeface="Calibri" pitchFamily="34" charset="0"/>
                <a:ea typeface="Calibri" pitchFamily="34" charset="-122"/>
                <a:cs typeface="Calibri" pitchFamily="34" charset="-120"/>
              </a:rPr>
              <a:t>Very truly yours,</a:t>
            </a:r>
            <a:endParaRPr lang="en-US" sz="2200" dirty="0"/>
          </a:p>
        </p:txBody>
      </p:sp>
      <p:sp>
        <p:nvSpPr>
          <p:cNvPr id="8" name="Text 6"/>
          <p:cNvSpPr/>
          <p:nvPr/>
        </p:nvSpPr>
        <p:spPr>
          <a:xfrm>
            <a:off x="914400" y="2560320"/>
            <a:ext cx="10360152" cy="685800"/>
          </a:xfrm>
          <a:prstGeom prst="rect">
            <a:avLst/>
          </a:prstGeom>
          <a:noFill/>
          <a:ln/>
        </p:spPr>
        <p:txBody>
          <a:bodyPr wrap="square" lIns="0" tIns="0" rIns="0" bIns="0" rtlCol="0" anchor="ctr"/>
          <a:lstStyle/>
          <a:p>
            <a:pPr algn="r" indent="0" marL="0">
              <a:buNone/>
            </a:pPr>
            <a:r>
              <a:rPr lang="en-US" sz="3400" b="1" dirty="0">
                <a:solidFill>
                  <a:srgbClr val="065A82"/>
                </a:solidFill>
                <a:latin typeface="Cambria" pitchFamily="34" charset="0"/>
                <a:ea typeface="Cambria" pitchFamily="34" charset="-122"/>
                <a:cs typeface="Cambria" pitchFamily="34" charset="-120"/>
              </a:rPr>
              <a:t>William D. Silkworth, M.D.</a:t>
            </a:r>
            <a:endParaRPr lang="en-US" sz="3400" dirty="0"/>
          </a:p>
        </p:txBody>
      </p:sp>
      <p:sp>
        <p:nvSpPr>
          <p:cNvPr id="9" name="Shape 7"/>
          <p:cNvSpPr/>
          <p:nvPr/>
        </p:nvSpPr>
        <p:spPr>
          <a:xfrm>
            <a:off x="548640" y="4023360"/>
            <a:ext cx="11091672" cy="1005840"/>
          </a:xfrm>
          <a:prstGeom prst="roundRect">
            <a:avLst>
              <a:gd name="adj" fmla="val 7273"/>
            </a:avLst>
          </a:prstGeom>
          <a:solidFill>
            <a:srgbClr val="1B2A41"/>
          </a:solidFill>
          <a:ln/>
        </p:spPr>
      </p:sp>
      <p:sp>
        <p:nvSpPr>
          <p:cNvPr id="10" name="Text 8"/>
          <p:cNvSpPr/>
          <p:nvPr/>
        </p:nvSpPr>
        <p:spPr>
          <a:xfrm>
            <a:off x="914400" y="41422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4165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Signed “Anonymous” in the first editions.</a:t>
            </a:r>
            <a:endParaRPr lang="en-US" sz="2200" dirty="0"/>
          </a:p>
        </p:txBody>
      </p:sp>
      <p:sp>
        <p:nvSpPr>
          <p:cNvPr id="12" name="Text 10"/>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As Abnormal as His Mind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who have suffered must believe.</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463040"/>
            <a:ext cx="11091672" cy="2103120"/>
          </a:xfrm>
          <a:prstGeom prst="roundRect">
            <a:avLst>
              <a:gd name="adj" fmla="val 3478"/>
            </a:avLst>
          </a:prstGeom>
          <a:solidFill>
            <a:srgbClr val="EAF1E6"/>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physician who, at our request, gave us this letter, has been kind enough to enlarge upon his views in another statement which follows. In this statement he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confirms what we who have suffered alcoholic torture must believe—</a:t>
            </a:r>
            <a:pPr indent="0" marL="0">
              <a:lnSpc>
                <a:spcPct val="115000"/>
              </a:lnSpc>
              <a:buNone/>
            </a:pPr>
            <a:r>
              <a:rPr lang="en-US" sz="1900" b="1" u="sng" dirty="0">
                <a:solidFill>
                  <a:srgbClr val="9E1B60"/>
                </a:solidFill>
                <a:latin typeface="Calibri" pitchFamily="34" charset="0"/>
                <a:ea typeface="Calibri" pitchFamily="34" charset="-122"/>
                <a:cs typeface="Calibri" pitchFamily="34" charset="-120"/>
              </a:rPr>
              <a:t>that the body of the alcoholic is quite as abnormal as his mind.</a:t>
            </a:r>
            <a:endParaRPr lang="en-US" sz="1900" dirty="0"/>
          </a:p>
        </p:txBody>
      </p:sp>
      <p:sp>
        <p:nvSpPr>
          <p:cNvPr id="8" name="Shape 6"/>
          <p:cNvSpPr/>
          <p:nvPr/>
        </p:nvSpPr>
        <p:spPr>
          <a:xfrm>
            <a:off x="548640" y="3840480"/>
            <a:ext cx="11091672" cy="1234440"/>
          </a:xfrm>
          <a:prstGeom prst="roundRect">
            <a:avLst>
              <a:gd name="adj" fmla="val 5926"/>
            </a:avLst>
          </a:prstGeom>
          <a:solidFill>
            <a:srgbClr val="9E1B60"/>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23367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body of the alcoholic is quite as abnormal as his mind.</a:t>
            </a:r>
            <a:endParaRPr lang="en-US" sz="2400" dirty="0"/>
          </a:p>
        </p:txBody>
      </p:sp>
      <p:sp>
        <p:nvSpPr>
          <p:cNvPr id="11" name="Text 9"/>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Physical Factor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It did not satisfy us to be told…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91640"/>
            <a:ext cx="11091672" cy="2788920"/>
          </a:xfrm>
          <a:prstGeom prst="roundRect">
            <a:avLst>
              <a:gd name="adj" fmla="val 2623"/>
            </a:avLst>
          </a:prstGeom>
          <a:solidFill>
            <a:srgbClr val="EAF1E6"/>
          </a:solidFill>
          <a:ln/>
        </p:spPr>
      </p:sp>
      <p:sp>
        <p:nvSpPr>
          <p:cNvPr id="7" name="Text 5"/>
          <p:cNvSpPr/>
          <p:nvPr/>
        </p:nvSpPr>
        <p:spPr>
          <a:xfrm>
            <a:off x="914400" y="1691640"/>
            <a:ext cx="10360152" cy="2788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It did not satisfy us to be told that we could not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our drinking just because we were maladjusted to life, that we were in full flight from reality, or were outright mental defectives. These things were true to some extent, in fact, to a considerable extent with some of us. But we are sure that our bodies were sickened as well. </a:t>
            </a:r>
            <a:pPr indent="0" marL="0">
              <a:lnSpc>
                <a:spcPct val="115000"/>
              </a:lnSpc>
              <a:buNone/>
            </a:pPr>
            <a:r>
              <a:rPr lang="en-US" sz="1900" b="1" u="sng" dirty="0">
                <a:solidFill>
                  <a:srgbClr val="2C5F2D"/>
                </a:solidFill>
                <a:latin typeface="Calibri" pitchFamily="34" charset="0"/>
                <a:ea typeface="Calibri" pitchFamily="34" charset="-122"/>
                <a:cs typeface="Calibri" pitchFamily="34" charset="-120"/>
              </a:rPr>
              <a:t>In our belief, any picture of the alcoholic which leaves out this physical factor is incomplete.</a:t>
            </a:r>
            <a:endParaRPr lang="en-US" sz="19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Allergy to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theory.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00200"/>
            <a:ext cx="11091672" cy="2377440"/>
          </a:xfrm>
          <a:prstGeom prst="roundRect">
            <a:avLst>
              <a:gd name="adj" fmla="val 3077"/>
            </a:avLst>
          </a:prstGeom>
          <a:solidFill>
            <a:srgbClr val="E2EDF4"/>
          </a:solidFill>
          <a:ln/>
        </p:spPr>
      </p:sp>
      <p:sp>
        <p:nvSpPr>
          <p:cNvPr id="7" name="Text 5"/>
          <p:cNvSpPr/>
          <p:nvPr/>
        </p:nvSpPr>
        <p:spPr>
          <a:xfrm>
            <a:off x="914400" y="1600200"/>
            <a:ext cx="10360152" cy="2377440"/>
          </a:xfrm>
          <a:prstGeom prst="rect">
            <a:avLst/>
          </a:prstGeom>
          <a:noFill/>
          <a:ln/>
        </p:spPr>
        <p:txBody>
          <a:bodyPr wrap="square" lIns="0" tIns="0" rIns="0" bIns="0" rtlCol="0" anchor="ctr"/>
          <a:lstStyle/>
          <a:p>
            <a:pPr indent="0" marL="0">
              <a:lnSpc>
                <a:spcPct val="115000"/>
              </a:lnSpc>
              <a:buNone/>
            </a:pPr>
            <a:r>
              <a:rPr lang="en-US" sz="2100" b="1" u="sng" dirty="0">
                <a:solidFill>
                  <a:srgbClr val="065A82"/>
                </a:solidFill>
                <a:latin typeface="Calibri" pitchFamily="34" charset="0"/>
                <a:ea typeface="Calibri" pitchFamily="34" charset="-122"/>
                <a:cs typeface="Calibri" pitchFamily="34" charset="-120"/>
              </a:rPr>
              <a:t>The doctor’s theory that we have an allergy to alcohol interests us.</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As laymen, our opinion as to its soundness may, of course, mean little. But as ex-problem drinkers, we can say that his explanation makes good sense. It explains many things for which we cannot otherwise account.</a:t>
            </a:r>
            <a:endParaRPr lang="en-US" sz="2100" dirty="0"/>
          </a:p>
        </p:txBody>
      </p:sp>
      <p:sp>
        <p:nvSpPr>
          <p:cNvPr id="8" name="Shape 6"/>
          <p:cNvSpPr/>
          <p:nvPr/>
        </p:nvSpPr>
        <p:spPr>
          <a:xfrm>
            <a:off x="548640" y="4251960"/>
            <a:ext cx="11091672" cy="960120"/>
          </a:xfrm>
          <a:prstGeom prst="roundRect">
            <a:avLst>
              <a:gd name="adj" fmla="val 7619"/>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Allergy = abnormal reaction.</a:t>
            </a:r>
            <a:endParaRPr lang="en-US" sz="22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Of Paramount Importance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 writes:</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463040"/>
            <a:ext cx="11091672" cy="2651760"/>
          </a:xfrm>
          <a:prstGeom prst="roundRect">
            <a:avLst>
              <a:gd name="adj" fmla="val 2759"/>
            </a:avLst>
          </a:prstGeom>
          <a:solidFill>
            <a:srgbClr val="EAF1E6"/>
          </a:solidFill>
          <a:ln/>
        </p:spPr>
      </p:sp>
      <p:sp>
        <p:nvSpPr>
          <p:cNvPr id="7" name="Text 5"/>
          <p:cNvSpPr/>
          <p:nvPr/>
        </p:nvSpPr>
        <p:spPr>
          <a:xfrm>
            <a:off x="914400" y="1463040"/>
            <a:ext cx="10360152" cy="2651760"/>
          </a:xfrm>
          <a:prstGeom prst="rect">
            <a:avLst/>
          </a:prstGeom>
          <a:noFill/>
          <a:ln/>
        </p:spPr>
        <p:txBody>
          <a:bodyPr wrap="square" lIns="0" tIns="0" rIns="0" bIns="0" rtlCol="0" anchor="ctr"/>
          <a:lstStyle/>
          <a:p>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The subject presented in this book seems to me to be of paramount importance to those afflicted with alcoholic addiction.</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say this after many years’ experience as Medical Director of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of the oldest hospitals in the country treating alcoholic and drug addiction</a:t>
            </a:r>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There was, therefore, a sense of real satisfaction when I was asked to contribute a few words on a subject which is covered in such masterly detail in these pages.</a:t>
            </a:r>
            <a:endParaRPr lang="en-US" sz="1900" dirty="0"/>
          </a:p>
        </p:txBody>
      </p:sp>
      <p:sp>
        <p:nvSpPr>
          <p:cNvPr id="8" name="Shape 6"/>
          <p:cNvSpPr/>
          <p:nvPr/>
        </p:nvSpPr>
        <p:spPr>
          <a:xfrm>
            <a:off x="548640" y="4389120"/>
            <a:ext cx="11091672" cy="960120"/>
          </a:xfrm>
          <a:prstGeom prst="roundRect">
            <a:avLst>
              <a:gd name="adj" fmla="val 7619"/>
            </a:avLst>
          </a:prstGeom>
          <a:solidFill>
            <a:srgbClr val="1B2A41"/>
          </a:solidFill>
          <a:ln/>
        </p:spPr>
      </p:sp>
      <p:sp>
        <p:nvSpPr>
          <p:cNvPr id="9" name="Text 7"/>
          <p:cNvSpPr/>
          <p:nvPr/>
        </p:nvSpPr>
        <p:spPr>
          <a:xfrm>
            <a:off x="914400" y="45079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78231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Towns Hospital, New York City.</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Beyond Our Conception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doctors have realized.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645920"/>
            <a:ext cx="11091672" cy="1463040"/>
          </a:xfrm>
          <a:prstGeom prst="roundRect">
            <a:avLst>
              <a:gd name="adj" fmla="val 5000"/>
            </a:avLst>
          </a:prstGeom>
          <a:solidFill>
            <a:srgbClr val="EAF1E6"/>
          </a:solidFill>
          <a:ln/>
        </p:spPr>
      </p:sp>
      <p:sp>
        <p:nvSpPr>
          <p:cNvPr id="7" name="Text 5"/>
          <p:cNvSpPr/>
          <p:nvPr/>
        </p:nvSpPr>
        <p:spPr>
          <a:xfrm>
            <a:off x="914400" y="164592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We doctors have realized for a long time that some form of </a:t>
            </a:r>
            <a:pPr indent="0" marL="0">
              <a:lnSpc>
                <a:spcPct val="115000"/>
              </a:lnSpc>
              <a:buNone/>
            </a:pPr>
            <a:r>
              <a:rPr lang="en-US" sz="2100" b="1" dirty="0">
                <a:solidFill>
                  <a:srgbClr val="2C5F2D"/>
                </a:solidFill>
                <a:latin typeface="Calibri" pitchFamily="34" charset="0"/>
                <a:ea typeface="Calibri" pitchFamily="34" charset="-122"/>
                <a:cs typeface="Calibri" pitchFamily="34" charset="-120"/>
              </a:rPr>
              <a:t>moral psychology</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was of urgent importance to alcoholics, but its application presented difficulties beyond our conception.</a:t>
            </a:r>
            <a:endParaRPr lang="en-US" sz="2100" dirty="0"/>
          </a:p>
        </p:txBody>
      </p:sp>
      <p:sp>
        <p:nvSpPr>
          <p:cNvPr id="8" name="Shape 6"/>
          <p:cNvSpPr/>
          <p:nvPr/>
        </p:nvSpPr>
        <p:spPr>
          <a:xfrm>
            <a:off x="548640" y="3383280"/>
            <a:ext cx="11091672" cy="1463040"/>
          </a:xfrm>
          <a:prstGeom prst="roundRect">
            <a:avLst>
              <a:gd name="adj" fmla="val 5000"/>
            </a:avLst>
          </a:prstGeom>
          <a:solidFill>
            <a:srgbClr val="EAF1E6"/>
          </a:solidFill>
          <a:ln/>
        </p:spPr>
      </p:sp>
      <p:sp>
        <p:nvSpPr>
          <p:cNvPr id="9" name="Text 7"/>
          <p:cNvSpPr/>
          <p:nvPr/>
        </p:nvSpPr>
        <p:spPr>
          <a:xfrm>
            <a:off x="914400" y="338328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What with our ultra-modern standards, our scientific approach to everything, we are perhaps not well equipped to apply the powers of good that lie outside our synthetic knowledge.</a:t>
            </a:r>
            <a:endParaRPr lang="en-US" sz="21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of the Leading Contributors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Came under our care in this hospital.</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554480"/>
            <a:ext cx="11091672" cy="1737360"/>
          </a:xfrm>
          <a:prstGeom prst="roundRect">
            <a:avLst>
              <a:gd name="adj" fmla="val 4211"/>
            </a:avLst>
          </a:prstGeom>
          <a:solidFill>
            <a:srgbClr val="EAF1E6"/>
          </a:solidFill>
          <a:ln/>
        </p:spPr>
      </p:sp>
      <p:sp>
        <p:nvSpPr>
          <p:cNvPr id="7" name="Text 5"/>
          <p:cNvSpPr/>
          <p:nvPr/>
        </p:nvSpPr>
        <p:spPr>
          <a:xfrm>
            <a:off x="914400" y="1554480"/>
            <a:ext cx="10360152" cy="173736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Many years ago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one of the leading contributors to this book</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came under our care in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this hospital</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and while here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he</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acquired some ideas which he put into practical application at once.</a:t>
            </a:r>
            <a:endParaRPr lang="en-US" sz="2200" dirty="0"/>
          </a:p>
        </p:txBody>
      </p:sp>
      <p:sp>
        <p:nvSpPr>
          <p:cNvPr id="8" name="Shape 6"/>
          <p:cNvSpPr/>
          <p:nvPr/>
        </p:nvSpPr>
        <p:spPr>
          <a:xfrm>
            <a:off x="548640" y="3566160"/>
            <a:ext cx="5440680" cy="1554480"/>
          </a:xfrm>
          <a:prstGeom prst="roundRect">
            <a:avLst>
              <a:gd name="adj" fmla="val 4706"/>
            </a:avLst>
          </a:prstGeom>
          <a:solidFill>
            <a:srgbClr val="1B2A41"/>
          </a:solidFill>
          <a:ln/>
        </p:spPr>
      </p:sp>
      <p:sp>
        <p:nvSpPr>
          <p:cNvPr id="9" name="Text 7"/>
          <p:cNvSpPr/>
          <p:nvPr/>
        </p:nvSpPr>
        <p:spPr>
          <a:xfrm>
            <a:off x="914400"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THIS HOSPITAL</a:t>
            </a:r>
            <a:endParaRPr lang="en-US" sz="1100" dirty="0"/>
          </a:p>
        </p:txBody>
      </p:sp>
      <p:sp>
        <p:nvSpPr>
          <p:cNvPr id="10" name="Text 8"/>
          <p:cNvSpPr/>
          <p:nvPr/>
        </p:nvSpPr>
        <p:spPr>
          <a:xfrm>
            <a:off x="914400"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Charles B. Towns Hospital</a:t>
            </a:r>
            <a:endParaRPr lang="en-US" sz="2400" dirty="0"/>
          </a:p>
        </p:txBody>
      </p:sp>
      <p:sp>
        <p:nvSpPr>
          <p:cNvPr id="11" name="Text 9"/>
          <p:cNvSpPr/>
          <p:nvPr/>
        </p:nvSpPr>
        <p:spPr>
          <a:xfrm>
            <a:off x="914400"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293 Central Park West, New York City.</a:t>
            </a:r>
            <a:endParaRPr lang="en-US" sz="1400" dirty="0"/>
          </a:p>
        </p:txBody>
      </p:sp>
      <p:sp>
        <p:nvSpPr>
          <p:cNvPr id="12" name="Shape 10"/>
          <p:cNvSpPr/>
          <p:nvPr/>
        </p:nvSpPr>
        <p:spPr>
          <a:xfrm>
            <a:off x="6199632" y="3566160"/>
            <a:ext cx="5440680" cy="1554480"/>
          </a:xfrm>
          <a:prstGeom prst="roundRect">
            <a:avLst>
              <a:gd name="adj" fmla="val 4706"/>
            </a:avLst>
          </a:prstGeom>
          <a:solidFill>
            <a:srgbClr val="1B2A41"/>
          </a:solidFill>
          <a:ln/>
        </p:spPr>
      </p:sp>
      <p:sp>
        <p:nvSpPr>
          <p:cNvPr id="13" name="Text 11"/>
          <p:cNvSpPr/>
          <p:nvPr/>
        </p:nvSpPr>
        <p:spPr>
          <a:xfrm>
            <a:off x="6565392"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HE</a:t>
            </a:r>
            <a:endParaRPr lang="en-US" sz="1100" dirty="0"/>
          </a:p>
        </p:txBody>
      </p:sp>
      <p:sp>
        <p:nvSpPr>
          <p:cNvPr id="14" name="Text 12"/>
          <p:cNvSpPr/>
          <p:nvPr/>
        </p:nvSpPr>
        <p:spPr>
          <a:xfrm>
            <a:off x="6565392"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Bill W.</a:t>
            </a:r>
            <a:endParaRPr lang="en-US" sz="2400" dirty="0"/>
          </a:p>
        </p:txBody>
      </p:sp>
      <p:sp>
        <p:nvSpPr>
          <p:cNvPr id="15" name="Text 13"/>
          <p:cNvSpPr/>
          <p:nvPr/>
        </p:nvSpPr>
        <p:spPr>
          <a:xfrm>
            <a:off x="6565392"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Admitted four times, 1933–34. Last drink 11 December 1934.</a:t>
            </a:r>
            <a:endParaRPr lang="en-US" sz="1400" dirty="0"/>
          </a:p>
        </p:txBody>
      </p:sp>
      <p:sp>
        <p:nvSpPr>
          <p:cNvPr id="16" name="Text 14"/>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7" name="Text 1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Phenomenon of Craving</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 manifestation of an allergy.</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believe, and so suggested a few years ago, that the action of alcohol on these chronic alcoholics is a manifestation of an allergy; that the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phenomenon of craving is limited to this class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never occurs in the average temperate drinker.</a:t>
            </a:r>
            <a:endParaRPr lang="en-US" sz="1900" dirty="0"/>
          </a:p>
        </p:txBody>
      </p:sp>
      <p:sp>
        <p:nvSpPr>
          <p:cNvPr id="8" name="Shape 6"/>
          <p:cNvSpPr/>
          <p:nvPr/>
        </p:nvSpPr>
        <p:spPr>
          <a:xfrm>
            <a:off x="548640" y="2971800"/>
            <a:ext cx="11091672" cy="1554480"/>
          </a:xfrm>
          <a:prstGeom prst="roundRect">
            <a:avLst>
              <a:gd name="adj" fmla="val 4706"/>
            </a:avLst>
          </a:prstGeom>
          <a:solidFill>
            <a:srgbClr val="E2EDF4"/>
          </a:solidFill>
          <a:ln/>
        </p:spPr>
      </p:sp>
      <p:sp>
        <p:nvSpPr>
          <p:cNvPr id="9" name="Text 7"/>
          <p:cNvSpPr/>
          <p:nvPr/>
        </p:nvSpPr>
        <p:spPr>
          <a:xfrm>
            <a:off x="914400" y="2971800"/>
            <a:ext cx="10360152" cy="15544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These allergic types can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never safely use alcohol in any form at all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once having formed the habit and found they cannot break it, once having lost their self-confidence, their reliance upon things human, their problems pile up on them and become astonishingly difficult to solve.</a:t>
            </a:r>
            <a:endParaRPr lang="en-US" sz="1900" dirty="0"/>
          </a:p>
        </p:txBody>
      </p:sp>
      <p:sp>
        <p:nvSpPr>
          <p:cNvPr id="10" name="Shape 8"/>
          <p:cNvSpPr/>
          <p:nvPr/>
        </p:nvSpPr>
        <p:spPr>
          <a:xfrm>
            <a:off x="548640" y="4754880"/>
            <a:ext cx="11091672" cy="868680"/>
          </a:xfrm>
          <a:prstGeom prst="roundRect">
            <a:avLst>
              <a:gd name="adj" fmla="val 8421"/>
            </a:avLst>
          </a:prstGeom>
          <a:solidFill>
            <a:srgbClr val="1B2A41"/>
          </a:solidFill>
          <a:ln/>
        </p:spPr>
      </p:sp>
      <p:sp>
        <p:nvSpPr>
          <p:cNvPr id="11" name="Text 9"/>
          <p:cNvSpPr/>
          <p:nvPr/>
        </p:nvSpPr>
        <p:spPr>
          <a:xfrm>
            <a:off x="914400" y="48737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148072"/>
            <a:ext cx="10360152" cy="35661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Crave = physical, in this book.</a:t>
            </a:r>
            <a:endParaRPr lang="en-US" sz="2200" dirty="0"/>
          </a:p>
        </p:txBody>
      </p:sp>
      <p:sp>
        <p:nvSpPr>
          <p:cNvPr id="13" name="Text 11"/>
          <p:cNvSpPr/>
          <p:nvPr/>
        </p:nvSpPr>
        <p:spPr>
          <a:xfrm>
            <a:off x="548640" y="58064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Frothy Emotional Appeal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Seldom suffices.</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63040"/>
            <a:ext cx="11091672" cy="1737360"/>
          </a:xfrm>
          <a:prstGeom prst="roundRect">
            <a:avLst>
              <a:gd name="adj" fmla="val 4211"/>
            </a:avLst>
          </a:prstGeom>
          <a:solidFill>
            <a:srgbClr val="F9E3EE"/>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Frothy emotional appeal seldom suffices. The message which can interest and hold these alcoholic people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have depth and weight</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In nearly all cases, their ideals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be grounded in a power greater than themselves</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if they are to re-create their lives.</a:t>
            </a:r>
            <a:endParaRPr lang="en-US" sz="2000" dirty="0"/>
          </a:p>
        </p:txBody>
      </p:sp>
      <p:sp>
        <p:nvSpPr>
          <p:cNvPr id="8" name="Shape 6"/>
          <p:cNvSpPr/>
          <p:nvPr/>
        </p:nvSpPr>
        <p:spPr>
          <a:xfrm>
            <a:off x="548640" y="3474720"/>
            <a:ext cx="11091672" cy="1371600"/>
          </a:xfrm>
          <a:prstGeom prst="roundRect">
            <a:avLst>
              <a:gd name="adj" fmla="val 5333"/>
            </a:avLst>
          </a:prstGeom>
          <a:solidFill>
            <a:srgbClr val="9E1B60"/>
          </a:solidFill>
          <a:ln/>
        </p:spPr>
      </p:sp>
      <p:sp>
        <p:nvSpPr>
          <p:cNvPr id="9" name="Text 7"/>
          <p:cNvSpPr/>
          <p:nvPr/>
        </p:nvSpPr>
        <p:spPr>
          <a:xfrm>
            <a:off x="914400" y="3611880"/>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3886200"/>
            <a:ext cx="10360152" cy="7772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…their ideals must be grounded in a power greater than themselves.</a:t>
            </a:r>
            <a:endParaRPr lang="en-US" sz="2400" dirty="0"/>
          </a:p>
        </p:txBody>
      </p:sp>
      <p:sp>
        <p:nvSpPr>
          <p:cNvPr id="11" name="Text 9"/>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Effect Produced by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Restless, irritable and discontented.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pp. xxiv–xxv</a:t>
            </a:r>
            <a:endParaRPr lang="en-US" sz="1700" dirty="0"/>
          </a:p>
        </p:txBody>
      </p:sp>
      <p:sp>
        <p:nvSpPr>
          <p:cNvPr id="6" name="Shape 4"/>
          <p:cNvSpPr/>
          <p:nvPr/>
        </p:nvSpPr>
        <p:spPr>
          <a:xfrm>
            <a:off x="548640" y="1463040"/>
            <a:ext cx="11091672" cy="1417320"/>
          </a:xfrm>
          <a:prstGeom prst="roundRect">
            <a:avLst>
              <a:gd name="adj" fmla="val 5161"/>
            </a:avLst>
          </a:prstGeom>
          <a:solidFill>
            <a:srgbClr val="EAF1E6"/>
          </a:solidFill>
          <a:ln/>
        </p:spPr>
      </p:sp>
      <p:sp>
        <p:nvSpPr>
          <p:cNvPr id="7" name="Text 5"/>
          <p:cNvSpPr/>
          <p:nvPr/>
        </p:nvSpPr>
        <p:spPr>
          <a:xfrm>
            <a:off x="914400" y="1463040"/>
            <a:ext cx="10360152" cy="14173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Men and women drink essentially because they </a:t>
            </a:r>
            <a:pPr indent="0" marL="0">
              <a:lnSpc>
                <a:spcPct val="115000"/>
              </a:lnSpc>
              <a:buNone/>
            </a:pPr>
            <a:r>
              <a:rPr lang="en-US" sz="2000" b="1" dirty="0">
                <a:solidFill>
                  <a:srgbClr val="2C5F2D"/>
                </a:solidFill>
                <a:latin typeface="Calibri" pitchFamily="34" charset="0"/>
                <a:ea typeface="Calibri" pitchFamily="34" charset="-122"/>
                <a:cs typeface="Calibri" pitchFamily="34" charset="-120"/>
              </a:rPr>
              <a:t>like the effect produced by alcohol</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 sensation is so elusive that, while they admit it is injurious, they cannot after a time differentiate the true from the false.</a:t>
            </a:r>
            <a:endParaRPr lang="en-US" sz="2000" dirty="0"/>
          </a:p>
        </p:txBody>
      </p:sp>
      <p:sp>
        <p:nvSpPr>
          <p:cNvPr id="8" name="Shape 6"/>
          <p:cNvSpPr/>
          <p:nvPr/>
        </p:nvSpPr>
        <p:spPr>
          <a:xfrm>
            <a:off x="548640" y="3063240"/>
            <a:ext cx="11091672" cy="1783080"/>
          </a:xfrm>
          <a:prstGeom prst="roundRect">
            <a:avLst>
              <a:gd name="adj" fmla="val 4103"/>
            </a:avLst>
          </a:prstGeom>
          <a:solidFill>
            <a:srgbClr val="E2EDF4"/>
          </a:solidFill>
          <a:ln/>
        </p:spPr>
      </p:sp>
      <p:sp>
        <p:nvSpPr>
          <p:cNvPr id="9" name="Text 7"/>
          <p:cNvSpPr/>
          <p:nvPr/>
        </p:nvSpPr>
        <p:spPr>
          <a:xfrm>
            <a:off x="914400" y="3063240"/>
            <a:ext cx="10360152" cy="17830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To them, their alcoholic life seems the only normal one. They are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restless, irritable and discontented</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unless they can again experience the sense of ease and comfort which comes at once by taking a few drinks—drinks which they see others taking with impunity.</a:t>
            </a:r>
            <a:endParaRPr lang="en-US" sz="20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pp. xxiv–xxv.</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Entire Psychic Change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Or very little hope of recovery.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554480"/>
            <a:ext cx="11091672" cy="2057400"/>
          </a:xfrm>
          <a:prstGeom prst="roundRect">
            <a:avLst>
              <a:gd name="adj" fmla="val 3556"/>
            </a:avLst>
          </a:prstGeom>
          <a:solidFill>
            <a:srgbClr val="E2EDF4"/>
          </a:solidFill>
          <a:ln/>
        </p:spPr>
      </p:sp>
      <p:sp>
        <p:nvSpPr>
          <p:cNvPr id="7" name="Text 5"/>
          <p:cNvSpPr/>
          <p:nvPr/>
        </p:nvSpPr>
        <p:spPr>
          <a:xfrm>
            <a:off x="914400" y="1554480"/>
            <a:ext cx="10360152" cy="2057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After they have succumbed to the desire again, as so many do, and the phenomenon of craving develops, they pass through the well-known stages of a spree, emerging remorseful, with a firm resolution not to drink again. This is repeated over and over, and unless this person can experience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an entire psychic change</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there is very little hope of his recovery.</a:t>
            </a:r>
            <a:endParaRPr lang="en-US" sz="2000" dirty="0"/>
          </a:p>
        </p:txBody>
      </p:sp>
      <p:sp>
        <p:nvSpPr>
          <p:cNvPr id="8" name="Shape 6"/>
          <p:cNvSpPr/>
          <p:nvPr/>
        </p:nvSpPr>
        <p:spPr>
          <a:xfrm>
            <a:off x="548640" y="3886200"/>
            <a:ext cx="11091672" cy="960120"/>
          </a:xfrm>
          <a:prstGeom prst="roundRect">
            <a:avLst>
              <a:gd name="adj" fmla="val 7619"/>
            </a:avLst>
          </a:prstGeom>
          <a:solidFill>
            <a:srgbClr val="1B2A41"/>
          </a:solidFill>
          <a:ln/>
        </p:spPr>
      </p:sp>
      <p:sp>
        <p:nvSpPr>
          <p:cNvPr id="9" name="Text 7"/>
          <p:cNvSpPr/>
          <p:nvPr/>
        </p:nvSpPr>
        <p:spPr>
          <a:xfrm>
            <a:off x="914400" y="40050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793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Psychic = thinking.</a:t>
            </a:r>
            <a:endParaRPr lang="en-US" sz="2200" dirty="0"/>
          </a:p>
        </p:txBody>
      </p:sp>
      <p:sp>
        <p:nvSpPr>
          <p:cNvPr id="11" name="Text 9"/>
          <p:cNvSpPr/>
          <p:nvPr/>
        </p:nvSpPr>
        <p:spPr>
          <a:xfrm>
            <a:off x="548640" y="50292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Doctor, I Cannot Go On Like This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Where medicine runs out.</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463040"/>
            <a:ext cx="11091672" cy="1280160"/>
          </a:xfrm>
          <a:prstGeom prst="roundRect">
            <a:avLst>
              <a:gd name="adj" fmla="val 5714"/>
            </a:avLst>
          </a:prstGeom>
          <a:solidFill>
            <a:srgbClr val="F9E3EE"/>
          </a:solidFill>
          <a:ln/>
        </p:spPr>
      </p:sp>
      <p:sp>
        <p:nvSpPr>
          <p:cNvPr id="7" name="Shape 5"/>
          <p:cNvSpPr/>
          <p:nvPr/>
        </p:nvSpPr>
        <p:spPr>
          <a:xfrm>
            <a:off x="914400" y="1847088"/>
            <a:ext cx="512064" cy="512064"/>
          </a:xfrm>
          <a:prstGeom prst="ellipse">
            <a:avLst/>
          </a:prstGeom>
          <a:solidFill>
            <a:srgbClr val="9E1B60"/>
          </a:solidFill>
          <a:ln/>
        </p:spPr>
      </p:sp>
      <p:sp>
        <p:nvSpPr>
          <p:cNvPr id="8" name="Text 6"/>
          <p:cNvSpPr/>
          <p:nvPr/>
        </p:nvSpPr>
        <p:spPr>
          <a:xfrm>
            <a:off x="914400" y="18470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1691640" y="1463040"/>
            <a:ext cx="9601200" cy="12801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Men have cried out to me in sincere and despairing appeal: “Doctor, I cannot go on like this! I have everything to live for!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I must stop, but I cannot!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You must help me!”</a:t>
            </a:r>
            <a:endParaRPr lang="en-US" sz="1900" dirty="0"/>
          </a:p>
        </p:txBody>
      </p:sp>
      <p:sp>
        <p:nvSpPr>
          <p:cNvPr id="10" name="Shape 8"/>
          <p:cNvSpPr/>
          <p:nvPr/>
        </p:nvSpPr>
        <p:spPr>
          <a:xfrm>
            <a:off x="548640" y="2926080"/>
            <a:ext cx="11091672" cy="1097280"/>
          </a:xfrm>
          <a:prstGeom prst="roundRect">
            <a:avLst>
              <a:gd name="adj" fmla="val 6667"/>
            </a:avLst>
          </a:prstGeom>
          <a:solidFill>
            <a:srgbClr val="F9E3EE"/>
          </a:solidFill>
          <a:ln/>
        </p:spPr>
      </p:sp>
      <p:sp>
        <p:nvSpPr>
          <p:cNvPr id="11" name="Shape 9"/>
          <p:cNvSpPr/>
          <p:nvPr/>
        </p:nvSpPr>
        <p:spPr>
          <a:xfrm>
            <a:off x="914400" y="3218688"/>
            <a:ext cx="512064" cy="512064"/>
          </a:xfrm>
          <a:prstGeom prst="ellipse">
            <a:avLst/>
          </a:prstGeom>
          <a:solidFill>
            <a:srgbClr val="9E1B60"/>
          </a:solidFill>
          <a:ln/>
        </p:spPr>
      </p:sp>
      <p:sp>
        <p:nvSpPr>
          <p:cNvPr id="12" name="Text 10"/>
          <p:cNvSpPr/>
          <p:nvPr/>
        </p:nvSpPr>
        <p:spPr>
          <a:xfrm>
            <a:off x="914400" y="32186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691640" y="292608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Faced with this problem, if a doctor is honest with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sometimes feel his own inadequacy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4" name="Shape 12"/>
          <p:cNvSpPr/>
          <p:nvPr/>
        </p:nvSpPr>
        <p:spPr>
          <a:xfrm>
            <a:off x="548640" y="4206240"/>
            <a:ext cx="11091672" cy="1097280"/>
          </a:xfrm>
          <a:prstGeom prst="roundRect">
            <a:avLst>
              <a:gd name="adj" fmla="val 6667"/>
            </a:avLst>
          </a:prstGeom>
          <a:solidFill>
            <a:srgbClr val="F9E3EE"/>
          </a:solidFill>
          <a:ln/>
        </p:spPr>
      </p:sp>
      <p:sp>
        <p:nvSpPr>
          <p:cNvPr id="15" name="Shape 13"/>
          <p:cNvSpPr/>
          <p:nvPr/>
        </p:nvSpPr>
        <p:spPr>
          <a:xfrm>
            <a:off x="914400" y="4498848"/>
            <a:ext cx="512064" cy="512064"/>
          </a:xfrm>
          <a:prstGeom prst="ellipse">
            <a:avLst/>
          </a:prstGeom>
          <a:solidFill>
            <a:srgbClr val="9E1B60"/>
          </a:solidFill>
          <a:ln/>
        </p:spPr>
      </p:sp>
      <p:sp>
        <p:nvSpPr>
          <p:cNvPr id="16" name="Text 14"/>
          <p:cNvSpPr/>
          <p:nvPr/>
        </p:nvSpPr>
        <p:spPr>
          <a:xfrm>
            <a:off x="914400" y="449884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1691640" y="420624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we physicians must admit we have made little impression upon the problem as a whole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8" name="Text 16"/>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Classification of Alcoholics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…seems most difficult, and in much detail is outside the scope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p. xxvi</a:t>
            </a:r>
            <a:endParaRPr lang="en-US" sz="1700" dirty="0"/>
          </a:p>
        </p:txBody>
      </p:sp>
      <p:sp>
        <p:nvSpPr>
          <p:cNvPr id="6" name="Shape 4"/>
          <p:cNvSpPr/>
          <p:nvPr/>
        </p:nvSpPr>
        <p:spPr>
          <a:xfrm>
            <a:off x="548640" y="1325880"/>
            <a:ext cx="11091672" cy="914400"/>
          </a:xfrm>
          <a:prstGeom prst="roundRect">
            <a:avLst>
              <a:gd name="adj" fmla="val 8000"/>
            </a:avLst>
          </a:prstGeom>
          <a:solidFill>
            <a:srgbClr val="EAF1E6"/>
          </a:solidFill>
          <a:ln/>
        </p:spPr>
      </p:sp>
      <p:sp>
        <p:nvSpPr>
          <p:cNvPr id="7" name="Shape 5"/>
          <p:cNvSpPr/>
          <p:nvPr/>
        </p:nvSpPr>
        <p:spPr>
          <a:xfrm>
            <a:off x="548640" y="1325880"/>
            <a:ext cx="1691640" cy="914400"/>
          </a:xfrm>
          <a:prstGeom prst="roundRect">
            <a:avLst>
              <a:gd name="adj" fmla="val 8000"/>
            </a:avLst>
          </a:prstGeom>
          <a:solidFill>
            <a:srgbClr val="2C5F2D"/>
          </a:solidFill>
          <a:ln/>
        </p:spPr>
      </p:sp>
      <p:sp>
        <p:nvSpPr>
          <p:cNvPr id="8" name="Text 6"/>
          <p:cNvSpPr/>
          <p:nvPr/>
        </p:nvSpPr>
        <p:spPr>
          <a:xfrm>
            <a:off x="548640" y="1325880"/>
            <a:ext cx="169164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a:t>
            </a:r>
            <a:endParaRPr lang="en-US" sz="1600" dirty="0"/>
          </a:p>
        </p:txBody>
      </p:sp>
      <p:sp>
        <p:nvSpPr>
          <p:cNvPr id="9" name="Text 7"/>
          <p:cNvSpPr/>
          <p:nvPr/>
        </p:nvSpPr>
        <p:spPr>
          <a:xfrm>
            <a:off x="2450592" y="1325880"/>
            <a:ext cx="9189720" cy="914400"/>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are, of course, the psychopaths who are emotionally unstable. We are all familiar with this type. They are always “going on the wagon for keeps.” They are over-remorseful and make many resolutions, but never a decision.</a:t>
            </a:r>
            <a:endParaRPr lang="en-US" sz="1600" dirty="0"/>
          </a:p>
        </p:txBody>
      </p:sp>
      <p:sp>
        <p:nvSpPr>
          <p:cNvPr id="10" name="Shape 8"/>
          <p:cNvSpPr/>
          <p:nvPr/>
        </p:nvSpPr>
        <p:spPr>
          <a:xfrm>
            <a:off x="548640" y="2304288"/>
            <a:ext cx="11091672" cy="786384"/>
          </a:xfrm>
          <a:prstGeom prst="roundRect">
            <a:avLst>
              <a:gd name="adj" fmla="val 9302"/>
            </a:avLst>
          </a:prstGeom>
          <a:solidFill>
            <a:srgbClr val="E2EDF4"/>
          </a:solidFill>
          <a:ln/>
        </p:spPr>
      </p:sp>
      <p:sp>
        <p:nvSpPr>
          <p:cNvPr id="11" name="Shape 9"/>
          <p:cNvSpPr/>
          <p:nvPr/>
        </p:nvSpPr>
        <p:spPr>
          <a:xfrm>
            <a:off x="548640" y="2304288"/>
            <a:ext cx="1691640" cy="786384"/>
          </a:xfrm>
          <a:prstGeom prst="roundRect">
            <a:avLst>
              <a:gd name="adj" fmla="val 9302"/>
            </a:avLst>
          </a:prstGeom>
          <a:solidFill>
            <a:srgbClr val="065A82"/>
          </a:solidFill>
          <a:ln/>
        </p:spPr>
      </p:sp>
      <p:sp>
        <p:nvSpPr>
          <p:cNvPr id="12" name="Text 10"/>
          <p:cNvSpPr/>
          <p:nvPr/>
        </p:nvSpPr>
        <p:spPr>
          <a:xfrm>
            <a:off x="548640" y="2304288"/>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II</a:t>
            </a:r>
            <a:endParaRPr lang="en-US" sz="1600" dirty="0"/>
          </a:p>
        </p:txBody>
      </p:sp>
      <p:sp>
        <p:nvSpPr>
          <p:cNvPr id="13" name="Text 11"/>
          <p:cNvSpPr/>
          <p:nvPr/>
        </p:nvSpPr>
        <p:spPr>
          <a:xfrm>
            <a:off x="2450592" y="2304288"/>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type of man who is unwilling to admit that he cannot take a drink. He plans various ways of drinking. He changes his brand or his environment.</a:t>
            </a:r>
            <a:endParaRPr lang="en-US" sz="1600" dirty="0"/>
          </a:p>
        </p:txBody>
      </p:sp>
      <p:sp>
        <p:nvSpPr>
          <p:cNvPr id="14" name="Shape 12"/>
          <p:cNvSpPr/>
          <p:nvPr/>
        </p:nvSpPr>
        <p:spPr>
          <a:xfrm>
            <a:off x="548640" y="3154680"/>
            <a:ext cx="11091672" cy="786384"/>
          </a:xfrm>
          <a:prstGeom prst="roundRect">
            <a:avLst>
              <a:gd name="adj" fmla="val 9302"/>
            </a:avLst>
          </a:prstGeom>
          <a:solidFill>
            <a:srgbClr val="EAF1E6"/>
          </a:solidFill>
          <a:ln/>
        </p:spPr>
      </p:sp>
      <p:sp>
        <p:nvSpPr>
          <p:cNvPr id="15" name="Shape 13"/>
          <p:cNvSpPr/>
          <p:nvPr/>
        </p:nvSpPr>
        <p:spPr>
          <a:xfrm>
            <a:off x="548640" y="3154680"/>
            <a:ext cx="1691640" cy="786384"/>
          </a:xfrm>
          <a:prstGeom prst="roundRect">
            <a:avLst>
              <a:gd name="adj" fmla="val 9302"/>
            </a:avLst>
          </a:prstGeom>
          <a:solidFill>
            <a:srgbClr val="2C5F2D"/>
          </a:solidFill>
          <a:ln/>
        </p:spPr>
      </p:sp>
      <p:sp>
        <p:nvSpPr>
          <p:cNvPr id="16" name="Text 14"/>
          <p:cNvSpPr/>
          <p:nvPr/>
        </p:nvSpPr>
        <p:spPr>
          <a:xfrm>
            <a:off x="548640" y="3154680"/>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III</a:t>
            </a:r>
            <a:endParaRPr lang="en-US" sz="1600" dirty="0"/>
          </a:p>
        </p:txBody>
      </p:sp>
      <p:sp>
        <p:nvSpPr>
          <p:cNvPr id="17" name="Text 15"/>
          <p:cNvSpPr/>
          <p:nvPr/>
        </p:nvSpPr>
        <p:spPr>
          <a:xfrm>
            <a:off x="2450592" y="3154680"/>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type who always believes that after being entirely free from alcohol for a period of time he can take a drink without danger.</a:t>
            </a:r>
            <a:endParaRPr lang="en-US" sz="1600" dirty="0"/>
          </a:p>
        </p:txBody>
      </p:sp>
      <p:sp>
        <p:nvSpPr>
          <p:cNvPr id="18" name="Shape 16"/>
          <p:cNvSpPr/>
          <p:nvPr/>
        </p:nvSpPr>
        <p:spPr>
          <a:xfrm>
            <a:off x="548640" y="4005072"/>
            <a:ext cx="11091672" cy="786384"/>
          </a:xfrm>
          <a:prstGeom prst="roundRect">
            <a:avLst>
              <a:gd name="adj" fmla="val 9302"/>
            </a:avLst>
          </a:prstGeom>
          <a:solidFill>
            <a:srgbClr val="E2EDF4"/>
          </a:solidFill>
          <a:ln/>
        </p:spPr>
      </p:sp>
      <p:sp>
        <p:nvSpPr>
          <p:cNvPr id="19" name="Shape 17"/>
          <p:cNvSpPr/>
          <p:nvPr/>
        </p:nvSpPr>
        <p:spPr>
          <a:xfrm>
            <a:off x="548640" y="4005072"/>
            <a:ext cx="1691640" cy="786384"/>
          </a:xfrm>
          <a:prstGeom prst="roundRect">
            <a:avLst>
              <a:gd name="adj" fmla="val 9302"/>
            </a:avLst>
          </a:prstGeom>
          <a:solidFill>
            <a:srgbClr val="065A82"/>
          </a:solidFill>
          <a:ln/>
        </p:spPr>
      </p:sp>
      <p:sp>
        <p:nvSpPr>
          <p:cNvPr id="20" name="Text 18"/>
          <p:cNvSpPr/>
          <p:nvPr/>
        </p:nvSpPr>
        <p:spPr>
          <a:xfrm>
            <a:off x="548640" y="4005072"/>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IV</a:t>
            </a:r>
            <a:endParaRPr lang="en-US" sz="1600" dirty="0"/>
          </a:p>
        </p:txBody>
      </p:sp>
      <p:sp>
        <p:nvSpPr>
          <p:cNvPr id="21" name="Text 19"/>
          <p:cNvSpPr/>
          <p:nvPr/>
        </p:nvSpPr>
        <p:spPr>
          <a:xfrm>
            <a:off x="2450592" y="4005072"/>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manic-depressive type, who is, perhaps, the least understood by his friends, and about whom a whole chapter could be written.</a:t>
            </a:r>
            <a:endParaRPr lang="en-US" sz="1600" dirty="0"/>
          </a:p>
        </p:txBody>
      </p:sp>
      <p:sp>
        <p:nvSpPr>
          <p:cNvPr id="22" name="Shape 20"/>
          <p:cNvSpPr/>
          <p:nvPr/>
        </p:nvSpPr>
        <p:spPr>
          <a:xfrm>
            <a:off x="548640" y="4855464"/>
            <a:ext cx="11091672" cy="786384"/>
          </a:xfrm>
          <a:prstGeom prst="roundRect">
            <a:avLst>
              <a:gd name="adj" fmla="val 9302"/>
            </a:avLst>
          </a:prstGeom>
          <a:solidFill>
            <a:srgbClr val="EAF1E6"/>
          </a:solidFill>
          <a:ln/>
        </p:spPr>
      </p:sp>
      <p:sp>
        <p:nvSpPr>
          <p:cNvPr id="23" name="Shape 21"/>
          <p:cNvSpPr/>
          <p:nvPr/>
        </p:nvSpPr>
        <p:spPr>
          <a:xfrm>
            <a:off x="548640" y="4855464"/>
            <a:ext cx="1691640" cy="786384"/>
          </a:xfrm>
          <a:prstGeom prst="roundRect">
            <a:avLst>
              <a:gd name="adj" fmla="val 9302"/>
            </a:avLst>
          </a:prstGeom>
          <a:solidFill>
            <a:srgbClr val="2C5F2D"/>
          </a:solidFill>
          <a:ln/>
        </p:spPr>
      </p:sp>
      <p:sp>
        <p:nvSpPr>
          <p:cNvPr id="24" name="Text 22"/>
          <p:cNvSpPr/>
          <p:nvPr/>
        </p:nvSpPr>
        <p:spPr>
          <a:xfrm>
            <a:off x="548640" y="4855464"/>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V</a:t>
            </a:r>
            <a:endParaRPr lang="en-US" sz="1600" dirty="0"/>
          </a:p>
        </p:txBody>
      </p:sp>
      <p:sp>
        <p:nvSpPr>
          <p:cNvPr id="25" name="Text 23"/>
          <p:cNvSpPr/>
          <p:nvPr/>
        </p:nvSpPr>
        <p:spPr>
          <a:xfrm>
            <a:off x="2450592" y="4855464"/>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Then there are types entirely normal in every respect except in the effect alcohol has upon them. They are often able, intelligent, friendly people.</a:t>
            </a:r>
            <a:endParaRPr lang="en-US" sz="1600" dirty="0"/>
          </a:p>
        </p:txBody>
      </p:sp>
      <p:sp>
        <p:nvSpPr>
          <p:cNvPr id="26" name="Text 24"/>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xxvi.</a:t>
            </a:r>
            <a:endParaRPr lang="en-US" sz="1200" dirty="0"/>
          </a:p>
        </p:txBody>
      </p:sp>
      <p:sp>
        <p:nvSpPr>
          <p:cNvPr id="27" name="Text 2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Symptom in Common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every type shares.</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xxvi</a:t>
            </a:r>
            <a:endParaRPr lang="en-US" sz="1700" dirty="0"/>
          </a:p>
        </p:txBody>
      </p:sp>
      <p:sp>
        <p:nvSpPr>
          <p:cNvPr id="6" name="Shape 4"/>
          <p:cNvSpPr/>
          <p:nvPr/>
        </p:nvSpPr>
        <p:spPr>
          <a:xfrm>
            <a:off x="548640" y="1554480"/>
            <a:ext cx="11091672" cy="2011680"/>
          </a:xfrm>
          <a:prstGeom prst="roundRect">
            <a:avLst>
              <a:gd name="adj" fmla="val 3636"/>
            </a:avLst>
          </a:prstGeom>
          <a:solidFill>
            <a:srgbClr val="E2EDF4"/>
          </a:solidFill>
          <a:ln/>
        </p:spPr>
      </p:sp>
      <p:sp>
        <p:nvSpPr>
          <p:cNvPr id="7" name="Text 5"/>
          <p:cNvSpPr/>
          <p:nvPr/>
        </p:nvSpPr>
        <p:spPr>
          <a:xfrm>
            <a:off x="914400" y="1554480"/>
            <a:ext cx="10360152" cy="20116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All these, and many others, have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one symptom in common</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they cannot start drinking without developing the phenomenon of craving. This phenomenon, as we have suggested, may be the manifestation of an allergy which differentiates these people, and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sets them apart as a distinct entity</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It has never been, by any treatment with which we are familiar,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permanently eradicated</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548640" y="3840480"/>
            <a:ext cx="11091672" cy="1280160"/>
          </a:xfrm>
          <a:prstGeom prst="roundRect">
            <a:avLst>
              <a:gd name="adj" fmla="val 5714"/>
            </a:avLst>
          </a:prstGeom>
          <a:solidFill>
            <a:srgbClr val="065A82"/>
          </a:solidFill>
          <a:ln/>
        </p:spPr>
      </p:sp>
      <p:sp>
        <p:nvSpPr>
          <p:cNvPr id="9" name="Text 7"/>
          <p:cNvSpPr/>
          <p:nvPr/>
        </p:nvSpPr>
        <p:spPr>
          <a:xfrm>
            <a:off x="914400" y="3977640"/>
            <a:ext cx="10360152" cy="256032"/>
          </a:xfrm>
          <a:prstGeom prst="rect">
            <a:avLst/>
          </a:prstGeom>
          <a:noFill/>
          <a:ln/>
        </p:spPr>
        <p:txBody>
          <a:bodyPr wrap="square" lIns="0" tIns="0" rIns="0" bIns="0" rtlCol="0" anchor="ctr"/>
          <a:lstStyle/>
          <a:p>
            <a:pPr indent="0" marL="0">
              <a:buNone/>
            </a:pPr>
            <a:r>
              <a:rPr lang="en-US" sz="1100" b="1" spc="200" kern="0" dirty="0">
                <a:solidFill>
                  <a:srgbClr val="C7DEEC"/>
                </a:solidFill>
                <a:latin typeface="Calibri" pitchFamily="34" charset="0"/>
                <a:ea typeface="Calibri" pitchFamily="34" charset="-122"/>
                <a:cs typeface="Calibri" pitchFamily="34" charset="-120"/>
              </a:rPr>
              <a:t>IMPORTANT</a:t>
            </a:r>
            <a:endParaRPr lang="en-US" sz="1100" dirty="0"/>
          </a:p>
        </p:txBody>
      </p:sp>
      <p:sp>
        <p:nvSpPr>
          <p:cNvPr id="10" name="Text 8"/>
          <p:cNvSpPr/>
          <p:nvPr/>
        </p:nvSpPr>
        <p:spPr>
          <a:xfrm>
            <a:off x="914400" y="4270248"/>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only relief we have to suggest is </a:t>
            </a:r>
            <a:pPr indent="0" marL="0">
              <a:buNone/>
            </a:pPr>
            <a:r>
              <a:rPr lang="en-US" sz="2400" b="1" u="dbl" dirty="0">
                <a:solidFill>
                  <a:srgbClr val="FFFFFF"/>
                </a:solidFill>
                <a:latin typeface="Cambria" pitchFamily="34" charset="0"/>
                <a:ea typeface="Cambria" pitchFamily="34" charset="-122"/>
                <a:cs typeface="Cambria" pitchFamily="34" charset="-120"/>
              </a:rPr>
              <a:t>entire abstinence</a:t>
            </a:r>
            <a:pP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1" name="Text 9"/>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May Remain to Pray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How the doctor closes his letter.</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The Doctor’s Opinion</a:t>
            </a:r>
            <a:endParaRPr lang="en-US" sz="1700" dirty="0"/>
          </a:p>
        </p:txBody>
      </p:sp>
      <p:sp>
        <p:nvSpPr>
          <p:cNvPr id="6" name="Shape 4"/>
          <p:cNvSpPr/>
          <p:nvPr/>
        </p:nvSpPr>
        <p:spPr>
          <a:xfrm>
            <a:off x="548640" y="1645920"/>
            <a:ext cx="11091672" cy="1920240"/>
          </a:xfrm>
          <a:prstGeom prst="roundRect">
            <a:avLst>
              <a:gd name="adj" fmla="val 3810"/>
            </a:avLst>
          </a:prstGeom>
          <a:solidFill>
            <a:srgbClr val="E2EDF4"/>
          </a:solidFill>
          <a:ln/>
        </p:spPr>
      </p:sp>
      <p:sp>
        <p:nvSpPr>
          <p:cNvPr id="7" name="Text 5"/>
          <p:cNvSpPr/>
          <p:nvPr/>
        </p:nvSpPr>
        <p:spPr>
          <a:xfrm>
            <a:off x="914400" y="1645920"/>
            <a:ext cx="10360152" cy="1920240"/>
          </a:xfrm>
          <a:prstGeom prst="rect">
            <a:avLst/>
          </a:prstGeom>
          <a:noFill/>
          <a:ln/>
        </p:spPr>
        <p:txBody>
          <a:bodyPr wrap="square" lIns="0" tIns="0" rIns="0" bIns="0" rtlCol="0" anchor="ctr"/>
          <a:lstStyle/>
          <a:p>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I earnestly advise every alcoholic to read this book through, and though perhaps he came to scoff, he may remain to pray.</a:t>
            </a:r>
            <a:endParaRPr lang="en-US" sz="2600" dirty="0"/>
          </a:p>
        </p:txBody>
      </p:sp>
      <p:sp>
        <p:nvSpPr>
          <p:cNvPr id="8" name="Text 6"/>
          <p:cNvSpPr/>
          <p:nvPr/>
        </p:nvSpPr>
        <p:spPr>
          <a:xfrm>
            <a:off x="914400" y="3703320"/>
            <a:ext cx="10360152" cy="411480"/>
          </a:xfrm>
          <a:prstGeom prst="rect">
            <a:avLst/>
          </a:prstGeom>
          <a:noFill/>
          <a:ln/>
        </p:spPr>
        <p:txBody>
          <a:bodyPr wrap="square" lIns="0" tIns="0" rIns="0" bIns="0" rtlCol="0" anchor="ctr"/>
          <a:lstStyle/>
          <a:p>
            <a:pPr algn="r" indent="0" marL="0">
              <a:buNone/>
            </a:pPr>
            <a:r>
              <a:rPr lang="en-US" sz="2000" b="1" dirty="0">
                <a:solidFill>
                  <a:srgbClr val="065A82"/>
                </a:solidFill>
                <a:latin typeface="Cambria" pitchFamily="34" charset="0"/>
                <a:ea typeface="Cambria" pitchFamily="34" charset="-122"/>
                <a:cs typeface="Cambria" pitchFamily="34" charset="-120"/>
              </a:rPr>
              <a:t>William D. Silkworth, M.D.</a:t>
            </a:r>
            <a:endParaRPr lang="en-US" sz="2000" dirty="0"/>
          </a:p>
        </p:txBody>
      </p:sp>
      <p:sp>
        <p:nvSpPr>
          <p:cNvPr id="9" name="Shape 7"/>
          <p:cNvSpPr/>
          <p:nvPr/>
        </p:nvSpPr>
        <p:spPr>
          <a:xfrm>
            <a:off x="548640" y="4343400"/>
            <a:ext cx="11091672" cy="1005840"/>
          </a:xfrm>
          <a:prstGeom prst="roundRect">
            <a:avLst>
              <a:gd name="adj" fmla="val 7273"/>
            </a:avLst>
          </a:prstGeom>
          <a:solidFill>
            <a:srgbClr val="1B2A41"/>
          </a:solidFill>
          <a:ln/>
        </p:spPr>
      </p:sp>
      <p:sp>
        <p:nvSpPr>
          <p:cNvPr id="10" name="Text 8"/>
          <p:cNvSpPr/>
          <p:nvPr/>
        </p:nvSpPr>
        <p:spPr>
          <a:xfrm>
            <a:off x="914400" y="44622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73659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Some people are alcoholics on their first drink. Others crossed the line.</a:t>
            </a:r>
            <a:endParaRPr lang="en-US" sz="2200" dirty="0"/>
          </a:p>
        </p:txBody>
      </p:sp>
      <p:sp>
        <p:nvSpPr>
          <p:cNvPr id="12" name="Text 10"/>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close of “The Doctor’s Opinion.”</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868680"/>
            <a:ext cx="10543032"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Bill’s Story</a:t>
            </a:r>
            <a:endParaRPr lang="en-US" sz="4600" dirty="0"/>
          </a:p>
        </p:txBody>
      </p:sp>
      <p:sp>
        <p:nvSpPr>
          <p:cNvPr id="3" name="Text 1"/>
          <p:cNvSpPr/>
          <p:nvPr/>
        </p:nvSpPr>
        <p:spPr>
          <a:xfrm>
            <a:off x="822960" y="169164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Chapter 1   ·   Page 1</a:t>
            </a:r>
            <a:endParaRPr lang="en-US" sz="1800" dirty="0"/>
          </a:p>
        </p:txBody>
      </p:sp>
      <p:sp>
        <p:nvSpPr>
          <p:cNvPr id="4" name="Shape 2"/>
          <p:cNvSpPr/>
          <p:nvPr/>
        </p:nvSpPr>
        <p:spPr>
          <a:xfrm>
            <a:off x="822960" y="2514600"/>
            <a:ext cx="10543032" cy="1051560"/>
          </a:xfrm>
          <a:prstGeom prst="roundRect">
            <a:avLst>
              <a:gd name="adj" fmla="val 8696"/>
            </a:avLst>
          </a:prstGeom>
          <a:solidFill>
            <a:srgbClr val="FFFFFF"/>
          </a:solidFill>
          <a:ln/>
        </p:spPr>
      </p:sp>
      <p:sp>
        <p:nvSpPr>
          <p:cNvPr id="5" name="Text 3"/>
          <p:cNvSpPr/>
          <p:nvPr/>
        </p:nvSpPr>
        <p:spPr>
          <a:xfrm>
            <a:off x="1188720" y="2514600"/>
            <a:ext cx="9811512" cy="105156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Identify — </a:t>
            </a:r>
            <a:pPr indent="0" marL="0">
              <a:buNone/>
            </a:pPr>
            <a:r>
              <a:rPr lang="en-US" sz="3000" b="1" u="sng" dirty="0">
                <a:solidFill>
                  <a:srgbClr val="1B2A41"/>
                </a:solidFill>
                <a:latin typeface="Cambria" pitchFamily="34" charset="0"/>
                <a:ea typeface="Cambria" pitchFamily="34" charset="-122"/>
                <a:cs typeface="Cambria" pitchFamily="34" charset="-120"/>
              </a:rPr>
              <a:t>don’t</a:t>
            </a:r>
            <a:pPr indent="0" marL="0">
              <a:buNone/>
            </a:pPr>
            <a:r>
              <a:rPr lang="en-US" sz="3000" b="1" dirty="0">
                <a:solidFill>
                  <a:srgbClr val="1B2A41"/>
                </a:solidFill>
                <a:latin typeface="Cambria" pitchFamily="34" charset="0"/>
                <a:ea typeface="Cambria" pitchFamily="34" charset="-122"/>
                <a:cs typeface="Cambria" pitchFamily="34" charset="-120"/>
              </a:rPr>
              <a:t> compare.</a:t>
            </a:r>
            <a:endParaRPr lang="en-US" sz="3000" dirty="0"/>
          </a:p>
        </p:txBody>
      </p:sp>
      <p:sp>
        <p:nvSpPr>
          <p:cNvPr id="6" name="Shape 4"/>
          <p:cNvSpPr/>
          <p:nvPr/>
        </p:nvSpPr>
        <p:spPr>
          <a:xfrm>
            <a:off x="822960" y="3840480"/>
            <a:ext cx="10543032" cy="1554480"/>
          </a:xfrm>
          <a:prstGeom prst="roundRect">
            <a:avLst>
              <a:gd name="adj" fmla="val 5882"/>
            </a:avLst>
          </a:prstGeom>
          <a:solidFill>
            <a:srgbClr val="2A3B54"/>
          </a:solidFill>
          <a:ln/>
        </p:spPr>
      </p:sp>
      <p:sp>
        <p:nvSpPr>
          <p:cNvPr id="7" name="Text 5"/>
          <p:cNvSpPr/>
          <p:nvPr/>
        </p:nvSpPr>
        <p:spPr>
          <a:xfrm>
            <a:off x="1188720" y="4005072"/>
            <a:ext cx="981151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8" name="Text 6"/>
          <p:cNvSpPr/>
          <p:nvPr/>
        </p:nvSpPr>
        <p:spPr>
          <a:xfrm>
            <a:off x="1188720" y="4297680"/>
            <a:ext cx="9811512" cy="960120"/>
          </a:xfrm>
          <a:prstGeom prst="rect">
            <a:avLst/>
          </a:prstGeom>
          <a:noFill/>
          <a:ln/>
        </p:spPr>
        <p:txBody>
          <a:bodyPr wrap="square" lIns="0" tIns="0" rIns="0" bIns="0" rtlCol="0" anchor="ctr"/>
          <a:lstStyle/>
          <a:p>
            <a:pPr indent="0" marL="0">
              <a:lnSpc>
                <a:spcPct val="115000"/>
              </a:lnSpc>
              <a:buNone/>
            </a:pPr>
            <a:r>
              <a:rPr lang="en-US" sz="1900" dirty="0">
                <a:solidFill>
                  <a:srgbClr val="FFFFFF"/>
                </a:solidFill>
                <a:latin typeface="Calibri" pitchFamily="34" charset="0"/>
                <a:ea typeface="Calibri" pitchFamily="34" charset="-122"/>
                <a:cs typeface="Calibri" pitchFamily="34" charset="-120"/>
              </a:rPr>
              <a:t>In A.A. the word “bottom” is used a lot, but the only true bottom is death. What there is, is different levels of alcoholism that we can get out at.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Ominous Warning</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Which I failed to heed.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1</a:t>
            </a:r>
            <a:endParaRPr lang="en-US" sz="1700" dirty="0"/>
          </a:p>
        </p:txBody>
      </p:sp>
      <p:sp>
        <p:nvSpPr>
          <p:cNvPr id="6" name="Shape 4"/>
          <p:cNvSpPr/>
          <p:nvPr/>
        </p:nvSpPr>
        <p:spPr>
          <a:xfrm>
            <a:off x="548640" y="1417320"/>
            <a:ext cx="11091672" cy="1965960"/>
          </a:xfrm>
          <a:prstGeom prst="roundRect">
            <a:avLst>
              <a:gd name="adj" fmla="val 3721"/>
            </a:avLst>
          </a:prstGeom>
          <a:solidFill>
            <a:srgbClr val="F1F4F7"/>
          </a:solidFill>
          <a:ln/>
        </p:spPr>
      </p:sp>
      <p:sp>
        <p:nvSpPr>
          <p:cNvPr id="7" name="Text 5"/>
          <p:cNvSpPr/>
          <p:nvPr/>
        </p:nvSpPr>
        <p:spPr>
          <a:xfrm>
            <a:off x="914400" y="1417320"/>
            <a:ext cx="7315200" cy="1965960"/>
          </a:xfrm>
          <a:prstGeom prst="rect">
            <a:avLst/>
          </a:prstGeom>
          <a:noFill/>
          <a:ln/>
        </p:spPr>
        <p:txBody>
          <a:bodyPr wrap="square" lIns="0" tIns="0" rIns="0" bIns="0" rtlCol="0" anchor="ctr"/>
          <a:lstStyle/>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“Here lies a Hampshire Grenadier</a:t>
            </a:r>
            <a:endParaRPr lang="en-US" sz="1700" dirty="0"/>
          </a:p>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Who caught his death</a:t>
            </a:r>
            <a:endParaRPr lang="en-US" sz="1700" dirty="0"/>
          </a:p>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Drinking cold small beer.</a:t>
            </a:r>
            <a:endParaRPr lang="en-US" sz="1700" dirty="0"/>
          </a:p>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A good soldier is ne’er forgot</a:t>
            </a:r>
            <a:endParaRPr lang="en-US" sz="1700" dirty="0"/>
          </a:p>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Whether he dieth by musket</a:t>
            </a:r>
            <a:endParaRPr lang="en-US" sz="1700" dirty="0"/>
          </a:p>
          <a:p>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Or by </a:t>
            </a:r>
            <a:pPr indent="0" marL="0">
              <a:lnSpc>
                <a:spcPct val="110000"/>
              </a:lnSpc>
              <a:buNone/>
            </a:pPr>
            <a:r>
              <a:rPr lang="en-US" sz="1700" b="1" i="1" dirty="0">
                <a:solidFill>
                  <a:srgbClr val="065A82"/>
                </a:solidFill>
                <a:latin typeface="Cambria" pitchFamily="34" charset="0"/>
                <a:ea typeface="Cambria" pitchFamily="34" charset="-122"/>
                <a:cs typeface="Cambria" pitchFamily="34" charset="-120"/>
              </a:rPr>
              <a:t>pot</a:t>
            </a:r>
            <a:pPr indent="0" marL="0">
              <a:lnSpc>
                <a:spcPct val="110000"/>
              </a:lnSpc>
              <a:buNone/>
            </a:pPr>
            <a:r>
              <a:rPr lang="en-US" sz="1700" i="1" dirty="0">
                <a:solidFill>
                  <a:srgbClr val="1B2A41"/>
                </a:solidFill>
                <a:latin typeface="Cambria" pitchFamily="34" charset="0"/>
                <a:ea typeface="Cambria" pitchFamily="34" charset="-122"/>
                <a:cs typeface="Cambria" pitchFamily="34" charset="-120"/>
              </a:rPr>
              <a:t>.”</a:t>
            </a:r>
            <a:endParaRPr lang="en-US" sz="1700" dirty="0"/>
          </a:p>
        </p:txBody>
      </p:sp>
      <p:sp>
        <p:nvSpPr>
          <p:cNvPr id="8" name="Text 6"/>
          <p:cNvSpPr/>
          <p:nvPr/>
        </p:nvSpPr>
        <p:spPr>
          <a:xfrm>
            <a:off x="8503920" y="1417320"/>
            <a:ext cx="2788920" cy="1965960"/>
          </a:xfrm>
          <a:prstGeom prst="rect">
            <a:avLst/>
          </a:prstGeom>
          <a:noFill/>
          <a:ln/>
        </p:spPr>
        <p:txBody>
          <a:bodyPr wrap="square" lIns="0" tIns="0" rIns="0" bIns="0" rtlCol="0" anchor="ctr"/>
          <a:lstStyle/>
          <a:p>
            <a:pPr algn="r" indent="0" marL="0">
              <a:buNone/>
            </a:pPr>
            <a:r>
              <a:rPr lang="en-US" sz="1100" b="1" spc="200" kern="0" dirty="0">
                <a:solidFill>
                  <a:srgbClr val="6B7A8C"/>
                </a:solidFill>
                <a:latin typeface="Calibri" pitchFamily="34" charset="0"/>
                <a:ea typeface="Calibri" pitchFamily="34" charset="-122"/>
                <a:cs typeface="Calibri" pitchFamily="34" charset="-120"/>
              </a:rPr>
              <a:t>“POT”</a:t>
            </a:r>
            <a:endParaRPr lang="en-US" sz="1100" dirty="0"/>
          </a:p>
          <a:p>
            <a:pPr algn="r" indent="0" marL="0">
              <a:buNone/>
            </a:pPr>
            <a:r>
              <a:rPr lang="en-US" sz="1500" dirty="0">
                <a:solidFill>
                  <a:srgbClr val="1B2A41"/>
                </a:solidFill>
                <a:latin typeface="Calibri" pitchFamily="34" charset="0"/>
                <a:ea typeface="Calibri" pitchFamily="34" charset="-122"/>
                <a:cs typeface="Calibri" pitchFamily="34" charset="-120"/>
              </a:rPr>
              <a:t>A pail — a vessel of drink.</a:t>
            </a:r>
            <a:endParaRPr lang="en-US" sz="1100" dirty="0"/>
          </a:p>
        </p:txBody>
      </p:sp>
      <p:sp>
        <p:nvSpPr>
          <p:cNvPr id="9" name="Shape 7"/>
          <p:cNvSpPr/>
          <p:nvPr/>
        </p:nvSpPr>
        <p:spPr>
          <a:xfrm>
            <a:off x="548640" y="3611880"/>
            <a:ext cx="11091672" cy="1828800"/>
          </a:xfrm>
          <a:prstGeom prst="roundRect">
            <a:avLst>
              <a:gd name="adj" fmla="val 4000"/>
            </a:avLst>
          </a:prstGeom>
          <a:solidFill>
            <a:srgbClr val="E2EDF4"/>
          </a:solidFill>
          <a:ln/>
        </p:spPr>
      </p:sp>
      <p:sp>
        <p:nvSpPr>
          <p:cNvPr id="10" name="Text 8"/>
          <p:cNvSpPr/>
          <p:nvPr/>
        </p:nvSpPr>
        <p:spPr>
          <a:xfrm>
            <a:off x="914400" y="3611880"/>
            <a:ext cx="10360152" cy="1828800"/>
          </a:xfrm>
          <a:prstGeom prst="rect">
            <a:avLst/>
          </a:prstGeom>
          <a:noFill/>
          <a:ln/>
        </p:spPr>
        <p:txBody>
          <a:bodyPr wrap="square" lIns="0" tIns="0" rIns="0" bIns="0" rtlCol="0" anchor="ctr"/>
          <a:lstStyle/>
          <a:p>
            <a:pPr indent="0" marL="0">
              <a:lnSpc>
                <a:spcPct val="115000"/>
              </a:lnSpc>
              <a:buNone/>
            </a:pPr>
            <a:r>
              <a:rPr lang="en-US" sz="1800" b="1" dirty="0">
                <a:solidFill>
                  <a:srgbClr val="065A82"/>
                </a:solidFill>
                <a:latin typeface="Calibri" pitchFamily="34" charset="0"/>
                <a:ea typeface="Calibri" pitchFamily="34" charset="-122"/>
                <a:cs typeface="Calibri" pitchFamily="34" charset="-120"/>
              </a:rPr>
              <a:t>Ominous warning—which I failed to heed.</a:t>
            </a:r>
            <a:pPr indent="0" marL="0">
              <a:lnSpc>
                <a:spcPct val="115000"/>
              </a:lnSpc>
              <a:buNone/>
            </a:pPr>
            <a:r>
              <a:rPr lang="en-US" sz="1800" dirty="0">
                <a:solidFill>
                  <a:srgbClr val="1B2A41"/>
                </a:solidFill>
                <a:latin typeface="Calibri" pitchFamily="34" charset="0"/>
                <a:ea typeface="Calibri" pitchFamily="34" charset="-122"/>
                <a:cs typeface="Calibri" pitchFamily="34" charset="-120"/>
              </a:rPr>
              <a:t> Twenty-two, and a veteran of foreign wars, I went home at last. I fancied myself a leader, for had not the men of my battery given me a special token of appreciation? My talent for leadership, I imagined, would place me at the head of vast enterprises which I would manage with the utmost assurance.</a:t>
            </a:r>
            <a:endParaRPr lang="en-US" sz="1800" dirty="0"/>
          </a:p>
        </p:txBody>
      </p:sp>
      <p:sp>
        <p:nvSpPr>
          <p:cNvPr id="11" name="Text 9"/>
          <p:cNvSpPr/>
          <p:nvPr/>
        </p:nvSpPr>
        <p:spPr>
          <a:xfrm>
            <a:off x="548640" y="56235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1.</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Drive for Success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Wall Street, and a law course.</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2</a:t>
            </a:r>
            <a:endParaRPr lang="en-US" sz="1700" dirty="0"/>
          </a:p>
        </p:txBody>
      </p:sp>
      <p:sp>
        <p:nvSpPr>
          <p:cNvPr id="6" name="Shape 4"/>
          <p:cNvSpPr/>
          <p:nvPr/>
        </p:nvSpPr>
        <p:spPr>
          <a:xfrm>
            <a:off x="548640" y="1463040"/>
            <a:ext cx="11091672" cy="1051560"/>
          </a:xfrm>
          <a:prstGeom prst="roundRect">
            <a:avLst>
              <a:gd name="adj" fmla="val 6957"/>
            </a:avLst>
          </a:prstGeom>
          <a:solidFill>
            <a:srgbClr val="E2EDF4"/>
          </a:solidFill>
          <a:ln/>
        </p:spPr>
      </p:sp>
      <p:sp>
        <p:nvSpPr>
          <p:cNvPr id="7" name="Text 5"/>
          <p:cNvSpPr/>
          <p:nvPr/>
        </p:nvSpPr>
        <p:spPr>
          <a:xfrm>
            <a:off x="914400" y="1463040"/>
            <a:ext cx="10360152" cy="10515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drive for success was on. My work took me about Wall Street and little by little I became interested in the market.</a:t>
            </a:r>
            <a:endParaRPr lang="en-US" sz="1900" dirty="0"/>
          </a:p>
        </p:txBody>
      </p:sp>
      <p:sp>
        <p:nvSpPr>
          <p:cNvPr id="8" name="Shape 6"/>
          <p:cNvSpPr/>
          <p:nvPr/>
        </p:nvSpPr>
        <p:spPr>
          <a:xfrm>
            <a:off x="548640" y="2697480"/>
            <a:ext cx="11091672" cy="1051560"/>
          </a:xfrm>
          <a:prstGeom prst="roundRect">
            <a:avLst>
              <a:gd name="adj" fmla="val 6957"/>
            </a:avLst>
          </a:prstGeom>
          <a:solidFill>
            <a:srgbClr val="EAF1E6"/>
          </a:solidFill>
          <a:ln/>
        </p:spPr>
      </p:sp>
      <p:sp>
        <p:nvSpPr>
          <p:cNvPr id="9" name="Text 7"/>
          <p:cNvSpPr/>
          <p:nvPr/>
        </p:nvSpPr>
        <p:spPr>
          <a:xfrm>
            <a:off x="914400" y="2697480"/>
            <a:ext cx="10360152" cy="10515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nearly failed my law course. At one of the finals I was too drunk to think or write.</a:t>
            </a:r>
            <a:endParaRPr lang="en-US" sz="1900" dirty="0"/>
          </a:p>
        </p:txBody>
      </p:sp>
      <p:sp>
        <p:nvSpPr>
          <p:cNvPr id="10" name="Shape 8"/>
          <p:cNvSpPr/>
          <p:nvPr/>
        </p:nvSpPr>
        <p:spPr>
          <a:xfrm>
            <a:off x="548640" y="3931920"/>
            <a:ext cx="11091672" cy="1417320"/>
          </a:xfrm>
          <a:prstGeom prst="roundRect">
            <a:avLst>
              <a:gd name="adj" fmla="val 5161"/>
            </a:avLst>
          </a:prstGeom>
          <a:solidFill>
            <a:srgbClr val="EAF1E6"/>
          </a:solidFill>
          <a:ln/>
        </p:spPr>
      </p:sp>
      <p:sp>
        <p:nvSpPr>
          <p:cNvPr id="11" name="Text 9"/>
          <p:cNvSpPr/>
          <p:nvPr/>
        </p:nvSpPr>
        <p:spPr>
          <a:xfrm>
            <a:off x="914400" y="3931920"/>
            <a:ext cx="10360152" cy="14173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my drinking was not yet continuous, it disturbed my wife. We had long talks when I would still her forebodings by telling her that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men of genius conceived their best projects when drunk</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2" name="Text 10"/>
          <p:cNvSpPr/>
          <p:nvPr/>
        </p:nvSpPr>
        <p:spPr>
          <a:xfrm>
            <a:off x="548640" y="56235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2.</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Forging the Weapon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Drink and speculation.</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2</a:t>
            </a:r>
            <a:endParaRPr lang="en-US" sz="1700" dirty="0"/>
          </a:p>
        </p:txBody>
      </p:sp>
      <p:sp>
        <p:nvSpPr>
          <p:cNvPr id="6" name="Shape 4"/>
          <p:cNvSpPr/>
          <p:nvPr/>
        </p:nvSpPr>
        <p:spPr>
          <a:xfrm>
            <a:off x="548640" y="1417320"/>
            <a:ext cx="11091672" cy="1005840"/>
          </a:xfrm>
          <a:prstGeom prst="roundRect">
            <a:avLst>
              <a:gd name="adj" fmla="val 7273"/>
            </a:avLst>
          </a:prstGeom>
          <a:solidFill>
            <a:srgbClr val="E2EDF4"/>
          </a:solidFill>
          <a:ln/>
        </p:spPr>
      </p:sp>
      <p:sp>
        <p:nvSpPr>
          <p:cNvPr id="7" name="Text 5"/>
          <p:cNvSpPr/>
          <p:nvPr/>
        </p:nvSpPr>
        <p:spPr>
          <a:xfrm>
            <a:off x="914400" y="1417320"/>
            <a:ext cx="7818120" cy="100584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By the time I had completed the course, I knew the law was not for me. The inviting maelstrom of Wall Street had me in its grip.</a:t>
            </a:r>
            <a:endParaRPr lang="en-US" sz="1700" dirty="0"/>
          </a:p>
        </p:txBody>
      </p:sp>
      <p:sp>
        <p:nvSpPr>
          <p:cNvPr id="8" name="Text 6"/>
          <p:cNvSpPr/>
          <p:nvPr/>
        </p:nvSpPr>
        <p:spPr>
          <a:xfrm>
            <a:off x="8915400" y="1417320"/>
            <a:ext cx="2377440" cy="100584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Level —</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quitting projects</a:t>
            </a:r>
            <a:endParaRPr lang="en-US" sz="1250" dirty="0"/>
          </a:p>
        </p:txBody>
      </p:sp>
      <p:sp>
        <p:nvSpPr>
          <p:cNvPr id="9" name="Shape 7"/>
          <p:cNvSpPr/>
          <p:nvPr/>
        </p:nvSpPr>
        <p:spPr>
          <a:xfrm>
            <a:off x="548640" y="2514600"/>
            <a:ext cx="11091672" cy="1234440"/>
          </a:xfrm>
          <a:prstGeom prst="roundRect">
            <a:avLst>
              <a:gd name="adj" fmla="val 5926"/>
            </a:avLst>
          </a:prstGeom>
          <a:solidFill>
            <a:srgbClr val="EAF1E6"/>
          </a:solidFill>
          <a:ln/>
        </p:spPr>
      </p:sp>
      <p:sp>
        <p:nvSpPr>
          <p:cNvPr id="10" name="Text 8"/>
          <p:cNvSpPr/>
          <p:nvPr/>
        </p:nvSpPr>
        <p:spPr>
          <a:xfrm>
            <a:off x="914400" y="2514600"/>
            <a:ext cx="10360152" cy="123444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Out of this alloy of drink and speculation, I commenced to </a:t>
            </a:r>
            <a:pPr indent="0" marL="0">
              <a:lnSpc>
                <a:spcPct val="115000"/>
              </a:lnSpc>
              <a:buNone/>
            </a:pPr>
            <a:r>
              <a:rPr lang="en-US" sz="1700" b="1" dirty="0">
                <a:solidFill>
                  <a:srgbClr val="2C5F2D"/>
                </a:solidFill>
                <a:latin typeface="Calibri" pitchFamily="34" charset="0"/>
                <a:ea typeface="Calibri" pitchFamily="34" charset="-122"/>
                <a:cs typeface="Calibri" pitchFamily="34" charset="-120"/>
              </a:rPr>
              <a:t>forge the weapon that one day would turn in its flight like a boomerang and all but cut me to ribbons</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a:t>
            </a:r>
            <a:endParaRPr lang="en-US" sz="1700" dirty="0"/>
          </a:p>
        </p:txBody>
      </p:sp>
      <p:sp>
        <p:nvSpPr>
          <p:cNvPr id="11" name="Shape 9"/>
          <p:cNvSpPr/>
          <p:nvPr/>
        </p:nvSpPr>
        <p:spPr>
          <a:xfrm>
            <a:off x="548640" y="3840480"/>
            <a:ext cx="11091672" cy="822960"/>
          </a:xfrm>
          <a:prstGeom prst="roundRect">
            <a:avLst>
              <a:gd name="adj" fmla="val 8889"/>
            </a:avLst>
          </a:prstGeom>
          <a:solidFill>
            <a:srgbClr val="E2EDF4"/>
          </a:solidFill>
          <a:ln/>
        </p:spPr>
      </p:sp>
      <p:sp>
        <p:nvSpPr>
          <p:cNvPr id="12" name="Text 10"/>
          <p:cNvSpPr/>
          <p:nvPr/>
        </p:nvSpPr>
        <p:spPr>
          <a:xfrm>
            <a:off x="914400" y="3840480"/>
            <a:ext cx="7818120" cy="822960"/>
          </a:xfrm>
          <a:prstGeom prst="rect">
            <a:avLst/>
          </a:prstGeom>
          <a:noFill/>
          <a:ln/>
        </p:spPr>
        <p:txBody>
          <a:bodyPr wrap="square" lIns="0" tIns="0" rIns="0" bIns="0" rtlCol="0" anchor="ctr"/>
          <a:lstStyle/>
          <a:p>
            <a:pPr indent="0" marL="0">
              <a:lnSpc>
                <a:spcPct val="115000"/>
              </a:lnSpc>
              <a:buNone/>
            </a:pPr>
            <a:r>
              <a:rPr lang="en-US" sz="1700" b="1" dirty="0">
                <a:solidFill>
                  <a:srgbClr val="1B2A41"/>
                </a:solidFill>
                <a:latin typeface="Calibri" pitchFamily="34" charset="0"/>
                <a:ea typeface="Calibri" pitchFamily="34" charset="-122"/>
                <a:cs typeface="Calibri" pitchFamily="34" charset="-120"/>
              </a:rPr>
              <a:t>I saved $1,000.</a:t>
            </a:r>
            <a:endParaRPr lang="en-US" sz="1700" dirty="0"/>
          </a:p>
        </p:txBody>
      </p:sp>
      <p:sp>
        <p:nvSpPr>
          <p:cNvPr id="13" name="Text 11"/>
          <p:cNvSpPr/>
          <p:nvPr/>
        </p:nvSpPr>
        <p:spPr>
          <a:xfrm>
            <a:off x="8915400" y="3840480"/>
            <a:ext cx="2377440" cy="82296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Some people’s</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yearly income</a:t>
            </a:r>
            <a:endParaRPr lang="en-US" sz="1250" dirty="0"/>
          </a:p>
        </p:txBody>
      </p:sp>
      <p:sp>
        <p:nvSpPr>
          <p:cNvPr id="14" name="Shape 12"/>
          <p:cNvSpPr/>
          <p:nvPr/>
        </p:nvSpPr>
        <p:spPr>
          <a:xfrm>
            <a:off x="548640" y="4754880"/>
            <a:ext cx="11091672" cy="960120"/>
          </a:xfrm>
          <a:prstGeom prst="roundRect">
            <a:avLst>
              <a:gd name="adj" fmla="val 7619"/>
            </a:avLst>
          </a:prstGeom>
          <a:solidFill>
            <a:srgbClr val="E2EDF4"/>
          </a:solidFill>
          <a:ln/>
        </p:spPr>
      </p:sp>
      <p:sp>
        <p:nvSpPr>
          <p:cNvPr id="15" name="Text 13"/>
          <p:cNvSpPr/>
          <p:nvPr/>
        </p:nvSpPr>
        <p:spPr>
          <a:xfrm>
            <a:off x="914400" y="4754880"/>
            <a:ext cx="7818120" cy="96012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 failed to persuade my broker friends to send me out looking over factories and managements.</a:t>
            </a:r>
            <a:endParaRPr lang="en-US" sz="1700" dirty="0"/>
          </a:p>
        </p:txBody>
      </p:sp>
      <p:sp>
        <p:nvSpPr>
          <p:cNvPr id="16" name="Text 14"/>
          <p:cNvSpPr/>
          <p:nvPr/>
        </p:nvSpPr>
        <p:spPr>
          <a:xfrm>
            <a:off x="8915400" y="4754880"/>
            <a:ext cx="2377440" cy="96012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First to write</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a prospectus</a:t>
            </a:r>
            <a:endParaRPr lang="en-US" sz="1250" dirty="0"/>
          </a:p>
        </p:txBody>
      </p:sp>
      <p:sp>
        <p:nvSpPr>
          <p:cNvPr id="17" name="Text 15"/>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2.</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I Had Arrived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levels, one after another.</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3</a:t>
            </a:r>
            <a:endParaRPr lang="en-US" sz="1700" dirty="0"/>
          </a:p>
        </p:txBody>
      </p:sp>
      <p:sp>
        <p:nvSpPr>
          <p:cNvPr id="6" name="Shape 4"/>
          <p:cNvSpPr/>
          <p:nvPr/>
        </p:nvSpPr>
        <p:spPr>
          <a:xfrm>
            <a:off x="548640" y="1371600"/>
            <a:ext cx="11091672" cy="822960"/>
          </a:xfrm>
          <a:prstGeom prst="roundRect">
            <a:avLst>
              <a:gd name="adj" fmla="val 8889"/>
            </a:avLst>
          </a:prstGeom>
          <a:solidFill>
            <a:srgbClr val="E2EDF4"/>
          </a:solidFill>
          <a:ln/>
        </p:spPr>
      </p:sp>
      <p:sp>
        <p:nvSpPr>
          <p:cNvPr id="7" name="Text 5"/>
          <p:cNvSpPr/>
          <p:nvPr/>
        </p:nvSpPr>
        <p:spPr>
          <a:xfrm>
            <a:off x="914400" y="1371600"/>
            <a:ext cx="7818120" cy="82296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The exercise of an option brought in more money, leaving us with a profit of several thousand dollars for that year.</a:t>
            </a:r>
            <a:endParaRPr lang="en-US" sz="1700" dirty="0"/>
          </a:p>
        </p:txBody>
      </p:sp>
      <p:sp>
        <p:nvSpPr>
          <p:cNvPr id="8" name="Text 6"/>
          <p:cNvSpPr/>
          <p:nvPr/>
        </p:nvSpPr>
        <p:spPr>
          <a:xfrm>
            <a:off x="8915400" y="1371600"/>
            <a:ext cx="2377440" cy="82296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9 people’s</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yearly income</a:t>
            </a:r>
            <a:endParaRPr lang="en-US" sz="1250" dirty="0"/>
          </a:p>
        </p:txBody>
      </p:sp>
      <p:sp>
        <p:nvSpPr>
          <p:cNvPr id="9" name="Shape 7"/>
          <p:cNvSpPr/>
          <p:nvPr/>
        </p:nvSpPr>
        <p:spPr>
          <a:xfrm>
            <a:off x="548640" y="2286000"/>
            <a:ext cx="11091672" cy="731520"/>
          </a:xfrm>
          <a:prstGeom prst="roundRect">
            <a:avLst>
              <a:gd name="adj" fmla="val 10000"/>
            </a:avLst>
          </a:prstGeom>
          <a:solidFill>
            <a:srgbClr val="E2EDF4"/>
          </a:solidFill>
          <a:ln/>
        </p:spPr>
      </p:sp>
      <p:sp>
        <p:nvSpPr>
          <p:cNvPr id="10" name="Text 8"/>
          <p:cNvSpPr/>
          <p:nvPr/>
        </p:nvSpPr>
        <p:spPr>
          <a:xfrm>
            <a:off x="914400" y="2286000"/>
            <a:ext cx="7818120" cy="731520"/>
          </a:xfrm>
          <a:prstGeom prst="rect">
            <a:avLst/>
          </a:prstGeom>
          <a:noFill/>
          <a:ln/>
        </p:spPr>
        <p:txBody>
          <a:bodyPr wrap="square" lIns="0" tIns="0" rIns="0" bIns="0" rtlCol="0" anchor="ctr"/>
          <a:lstStyle/>
          <a:p>
            <a:pPr indent="0" marL="0">
              <a:lnSpc>
                <a:spcPct val="115000"/>
              </a:lnSpc>
              <a:buNone/>
            </a:pPr>
            <a:r>
              <a:rPr lang="en-US" sz="2400" b="1" dirty="0">
                <a:solidFill>
                  <a:srgbClr val="1B2A41"/>
                </a:solidFill>
                <a:latin typeface="Calibri" pitchFamily="34" charset="0"/>
                <a:ea typeface="Calibri" pitchFamily="34" charset="-122"/>
                <a:cs typeface="Calibri" pitchFamily="34" charset="-120"/>
              </a:rPr>
              <a:t>I had arrived.</a:t>
            </a:r>
            <a:endParaRPr lang="en-US" sz="2400" dirty="0"/>
          </a:p>
        </p:txBody>
      </p:sp>
      <p:sp>
        <p:nvSpPr>
          <p:cNvPr id="11" name="Text 9"/>
          <p:cNvSpPr/>
          <p:nvPr/>
        </p:nvSpPr>
        <p:spPr>
          <a:xfrm>
            <a:off x="8915400" y="2286000"/>
            <a:ext cx="2377440" cy="73152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Egotistic</a:t>
            </a:r>
            <a:endParaRPr lang="en-US" sz="1250" dirty="0"/>
          </a:p>
        </p:txBody>
      </p:sp>
      <p:sp>
        <p:nvSpPr>
          <p:cNvPr id="12" name="Shape 10"/>
          <p:cNvSpPr/>
          <p:nvPr/>
        </p:nvSpPr>
        <p:spPr>
          <a:xfrm>
            <a:off x="548640" y="3108960"/>
            <a:ext cx="11091672" cy="777240"/>
          </a:xfrm>
          <a:prstGeom prst="roundRect">
            <a:avLst>
              <a:gd name="adj" fmla="val 9412"/>
            </a:avLst>
          </a:prstGeom>
          <a:solidFill>
            <a:srgbClr val="E2EDF4"/>
          </a:solidFill>
          <a:ln/>
        </p:spPr>
      </p:sp>
      <p:sp>
        <p:nvSpPr>
          <p:cNvPr id="13" name="Text 11"/>
          <p:cNvSpPr/>
          <p:nvPr/>
        </p:nvSpPr>
        <p:spPr>
          <a:xfrm>
            <a:off x="914400" y="3108960"/>
            <a:ext cx="7818120" cy="77724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My drinking assumed more serious proportions, continuing all day and almost every night.</a:t>
            </a:r>
            <a:endParaRPr lang="en-US" sz="1700" dirty="0"/>
          </a:p>
        </p:txBody>
      </p:sp>
      <p:sp>
        <p:nvSpPr>
          <p:cNvPr id="14" name="Text 12"/>
          <p:cNvSpPr/>
          <p:nvPr/>
        </p:nvSpPr>
        <p:spPr>
          <a:xfrm>
            <a:off x="8915400" y="3108960"/>
            <a:ext cx="2377440" cy="77724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Another level</a:t>
            </a:r>
            <a:endParaRPr lang="en-US" sz="1250" dirty="0"/>
          </a:p>
        </p:txBody>
      </p:sp>
      <p:sp>
        <p:nvSpPr>
          <p:cNvPr id="15" name="Shape 13"/>
          <p:cNvSpPr/>
          <p:nvPr/>
        </p:nvSpPr>
        <p:spPr>
          <a:xfrm>
            <a:off x="548640" y="3977640"/>
            <a:ext cx="11091672" cy="868680"/>
          </a:xfrm>
          <a:prstGeom prst="roundRect">
            <a:avLst>
              <a:gd name="adj" fmla="val 8421"/>
            </a:avLst>
          </a:prstGeom>
          <a:solidFill>
            <a:srgbClr val="E2EDF4"/>
          </a:solidFill>
          <a:ln/>
        </p:spPr>
      </p:sp>
      <p:sp>
        <p:nvSpPr>
          <p:cNvPr id="16" name="Text 14"/>
          <p:cNvSpPr/>
          <p:nvPr/>
        </p:nvSpPr>
        <p:spPr>
          <a:xfrm>
            <a:off x="914400" y="3977640"/>
            <a:ext cx="7818120" cy="86868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There had been no real infidelity, for loyalty to my wife, helped at times by extreme drunkenness, kept me out of those scrapes.</a:t>
            </a:r>
            <a:endParaRPr lang="en-US" sz="1700" dirty="0"/>
          </a:p>
        </p:txBody>
      </p:sp>
      <p:sp>
        <p:nvSpPr>
          <p:cNvPr id="17" name="Text 15"/>
          <p:cNvSpPr/>
          <p:nvPr/>
        </p:nvSpPr>
        <p:spPr>
          <a:xfrm>
            <a:off x="8915400" y="3977640"/>
            <a:ext cx="2377440" cy="86868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Another level —</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carousing</a:t>
            </a:r>
            <a:endParaRPr lang="en-US" sz="1250" dirty="0"/>
          </a:p>
        </p:txBody>
      </p:sp>
      <p:sp>
        <p:nvSpPr>
          <p:cNvPr id="18" name="Shape 16"/>
          <p:cNvSpPr/>
          <p:nvPr/>
        </p:nvSpPr>
        <p:spPr>
          <a:xfrm>
            <a:off x="548640" y="4937760"/>
            <a:ext cx="11091672" cy="822960"/>
          </a:xfrm>
          <a:prstGeom prst="roundRect">
            <a:avLst>
              <a:gd name="adj" fmla="val 8889"/>
            </a:avLst>
          </a:prstGeom>
          <a:solidFill>
            <a:srgbClr val="E2EDF4"/>
          </a:solidFill>
          <a:ln/>
        </p:spPr>
      </p:sp>
      <p:sp>
        <p:nvSpPr>
          <p:cNvPr id="19" name="Text 17"/>
          <p:cNvSpPr/>
          <p:nvPr/>
        </p:nvSpPr>
        <p:spPr>
          <a:xfrm>
            <a:off x="914400" y="4937760"/>
            <a:ext cx="7818120" cy="822960"/>
          </a:xfrm>
          <a:prstGeom prst="rect">
            <a:avLst/>
          </a:prstGeom>
          <a:noFill/>
          <a:ln/>
        </p:spPr>
        <p:txBody>
          <a:bodyPr wrap="square" lIns="0" tIns="0" rIns="0" bIns="0" rtlCol="0" anchor="ctr"/>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Liquor caught up with me much faster than I came up behind Walter. I began to be jittery in the morning.</a:t>
            </a:r>
            <a:endParaRPr lang="en-US" sz="1700" dirty="0"/>
          </a:p>
        </p:txBody>
      </p:sp>
      <p:sp>
        <p:nvSpPr>
          <p:cNvPr id="20" name="Text 18"/>
          <p:cNvSpPr/>
          <p:nvPr/>
        </p:nvSpPr>
        <p:spPr>
          <a:xfrm>
            <a:off x="8915400" y="4937760"/>
            <a:ext cx="2377440" cy="82296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Another level</a:t>
            </a:r>
            <a:endParaRPr lang="en-US" sz="1250" dirty="0"/>
          </a:p>
        </p:txBody>
      </p:sp>
      <p:sp>
        <p:nvSpPr>
          <p:cNvPr id="21" name="Text 19"/>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3.</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I Would Not Jump</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October 1929.</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4</a:t>
            </a:r>
            <a:endParaRPr lang="en-US" sz="1700" dirty="0"/>
          </a:p>
        </p:txBody>
      </p:sp>
      <p:sp>
        <p:nvSpPr>
          <p:cNvPr id="6" name="Shape 4"/>
          <p:cNvSpPr/>
          <p:nvPr/>
        </p:nvSpPr>
        <p:spPr>
          <a:xfrm>
            <a:off x="548640" y="1554480"/>
            <a:ext cx="11091672" cy="1280160"/>
          </a:xfrm>
          <a:prstGeom prst="roundRect">
            <a:avLst>
              <a:gd name="adj" fmla="val 5714"/>
            </a:avLst>
          </a:prstGeom>
          <a:solidFill>
            <a:srgbClr val="EAF1E6"/>
          </a:solidFill>
          <a:ln/>
        </p:spPr>
      </p:sp>
      <p:sp>
        <p:nvSpPr>
          <p:cNvPr id="7" name="Text 5"/>
          <p:cNvSpPr/>
          <p:nvPr/>
        </p:nvSpPr>
        <p:spPr>
          <a:xfrm>
            <a:off x="914400" y="1554480"/>
            <a:ext cx="7818120" cy="12801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papers reported men jumping to death from the towers of High Finance. That disgusted me.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I would not jump. I went back to the bar.</a:t>
            </a:r>
            <a:endParaRPr lang="en-US" sz="1900" dirty="0"/>
          </a:p>
        </p:txBody>
      </p:sp>
      <p:sp>
        <p:nvSpPr>
          <p:cNvPr id="8" name="Text 6"/>
          <p:cNvSpPr/>
          <p:nvPr/>
        </p:nvSpPr>
        <p:spPr>
          <a:xfrm>
            <a:off x="8915400" y="1554480"/>
            <a:ext cx="2377440" cy="128016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Insanity</a:t>
            </a:r>
            <a:endParaRPr lang="en-US" sz="1250" dirty="0"/>
          </a:p>
        </p:txBody>
      </p:sp>
      <p:sp>
        <p:nvSpPr>
          <p:cNvPr id="9" name="Shape 7"/>
          <p:cNvSpPr/>
          <p:nvPr/>
        </p:nvSpPr>
        <p:spPr>
          <a:xfrm>
            <a:off x="548640" y="2971800"/>
            <a:ext cx="11091672" cy="1188720"/>
          </a:xfrm>
          <a:prstGeom prst="roundRect">
            <a:avLst>
              <a:gd name="adj" fmla="val 6154"/>
            </a:avLst>
          </a:prstGeom>
          <a:solidFill>
            <a:srgbClr val="E2EDF4"/>
          </a:solidFill>
          <a:ln/>
        </p:spPr>
      </p:sp>
      <p:sp>
        <p:nvSpPr>
          <p:cNvPr id="10" name="Text 8"/>
          <p:cNvSpPr/>
          <p:nvPr/>
        </p:nvSpPr>
        <p:spPr>
          <a:xfrm>
            <a:off x="914400" y="2971800"/>
            <a:ext cx="7818120" cy="11887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Next morning I telephoned a friend in Montreal. He had plenty of money left and thought I had better go to Canada.</a:t>
            </a:r>
            <a:endParaRPr lang="en-US" sz="1900" dirty="0"/>
          </a:p>
        </p:txBody>
      </p:sp>
      <p:sp>
        <p:nvSpPr>
          <p:cNvPr id="11" name="Text 9"/>
          <p:cNvSpPr/>
          <p:nvPr/>
        </p:nvSpPr>
        <p:spPr>
          <a:xfrm>
            <a:off x="8915400" y="2971800"/>
            <a:ext cx="2377440" cy="118872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Another level</a:t>
            </a:r>
            <a:endParaRPr lang="en-US" sz="1250" dirty="0"/>
          </a:p>
        </p:txBody>
      </p:sp>
      <p:sp>
        <p:nvSpPr>
          <p:cNvPr id="12" name="Shape 10"/>
          <p:cNvSpPr/>
          <p:nvPr/>
        </p:nvSpPr>
        <p:spPr>
          <a:xfrm>
            <a:off x="548640" y="4434840"/>
            <a:ext cx="11091672" cy="960120"/>
          </a:xfrm>
          <a:prstGeom prst="roundRect">
            <a:avLst>
              <a:gd name="adj" fmla="val 7619"/>
            </a:avLst>
          </a:prstGeom>
          <a:solidFill>
            <a:srgbClr val="1B2A41"/>
          </a:solidFill>
          <a:ln/>
        </p:spPr>
      </p:sp>
      <p:sp>
        <p:nvSpPr>
          <p:cNvPr id="13" name="Text 11"/>
          <p:cNvSpPr/>
          <p:nvPr/>
        </p:nvSpPr>
        <p:spPr>
          <a:xfrm>
            <a:off x="914400" y="455371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4" name="Text 12"/>
          <p:cNvSpPr/>
          <p:nvPr/>
        </p:nvSpPr>
        <p:spPr>
          <a:xfrm>
            <a:off x="914400" y="482803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Level — sponging off of family.</a:t>
            </a:r>
            <a:endParaRPr lang="en-US" sz="2200" dirty="0"/>
          </a:p>
        </p:txBody>
      </p:sp>
      <p:sp>
        <p:nvSpPr>
          <p:cNvPr id="15" name="Text 13"/>
          <p:cNvSpPr/>
          <p:nvPr/>
        </p:nvSpPr>
        <p:spPr>
          <a:xfrm>
            <a:off x="548640" y="55778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4.</a:t>
            </a:r>
            <a:endParaRPr lang="en-US" sz="1200" dirty="0"/>
          </a:p>
        </p:txBody>
      </p:sp>
      <p:sp>
        <p:nvSpPr>
          <p:cNvPr id="16" name="Text 14"/>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I Still Thought I Could Control It</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Liquor ceased to be a luxury.</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5</a:t>
            </a:r>
            <a:endParaRPr lang="en-US" sz="1700" dirty="0"/>
          </a:p>
        </p:txBody>
      </p:sp>
      <p:sp>
        <p:nvSpPr>
          <p:cNvPr id="6" name="Shape 4"/>
          <p:cNvSpPr/>
          <p:nvPr/>
        </p:nvSpPr>
        <p:spPr>
          <a:xfrm>
            <a:off x="548640" y="1554480"/>
            <a:ext cx="11091672" cy="914400"/>
          </a:xfrm>
          <a:prstGeom prst="roundRect">
            <a:avLst>
              <a:gd name="adj" fmla="val 8000"/>
            </a:avLst>
          </a:prstGeom>
          <a:solidFill>
            <a:srgbClr val="EAF1E6"/>
          </a:solidFill>
          <a:ln/>
        </p:spPr>
      </p:sp>
      <p:sp>
        <p:nvSpPr>
          <p:cNvPr id="7" name="Text 5"/>
          <p:cNvSpPr/>
          <p:nvPr/>
        </p:nvSpPr>
        <p:spPr>
          <a:xfrm>
            <a:off x="914400" y="1554480"/>
            <a:ext cx="7818120" cy="914400"/>
          </a:xfrm>
          <a:prstGeom prst="rect">
            <a:avLst/>
          </a:prstGeom>
          <a:noFill/>
          <a:ln/>
        </p:spPr>
        <p:txBody>
          <a:bodyPr wrap="square" lIns="0" tIns="0" rIns="0" bIns="0" rtlCol="0" anchor="ctr"/>
          <a:lstStyle/>
          <a:p>
            <a:pPr indent="0" marL="0">
              <a:lnSpc>
                <a:spcPct val="115000"/>
              </a:lnSpc>
              <a:buNone/>
            </a:pPr>
            <a:r>
              <a:rPr lang="en-US" sz="2000" b="1" dirty="0">
                <a:solidFill>
                  <a:srgbClr val="1B2A41"/>
                </a:solidFill>
                <a:latin typeface="Calibri" pitchFamily="34" charset="0"/>
                <a:ea typeface="Calibri" pitchFamily="34" charset="-122"/>
                <a:cs typeface="Calibri" pitchFamily="34" charset="-120"/>
              </a:rPr>
              <a:t>Liquor ceased to be a luxury; it became a necessity.</a:t>
            </a:r>
            <a:endParaRPr lang="en-US" sz="2000" dirty="0"/>
          </a:p>
        </p:txBody>
      </p:sp>
      <p:sp>
        <p:nvSpPr>
          <p:cNvPr id="8" name="Text 6"/>
          <p:cNvSpPr/>
          <p:nvPr/>
        </p:nvSpPr>
        <p:spPr>
          <a:xfrm>
            <a:off x="8915400" y="1554480"/>
            <a:ext cx="2377440" cy="91440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Another level</a:t>
            </a:r>
            <a:endParaRPr lang="en-US" sz="1250" dirty="0"/>
          </a:p>
        </p:txBody>
      </p:sp>
      <p:sp>
        <p:nvSpPr>
          <p:cNvPr id="9" name="Shape 7"/>
          <p:cNvSpPr/>
          <p:nvPr/>
        </p:nvSpPr>
        <p:spPr>
          <a:xfrm>
            <a:off x="548640" y="2606040"/>
            <a:ext cx="11091672" cy="1188720"/>
          </a:xfrm>
          <a:prstGeom prst="roundRect">
            <a:avLst>
              <a:gd name="adj" fmla="val 6154"/>
            </a:avLst>
          </a:prstGeom>
          <a:solidFill>
            <a:srgbClr val="EAF1E6"/>
          </a:solidFill>
          <a:ln/>
        </p:spPr>
      </p:sp>
      <p:sp>
        <p:nvSpPr>
          <p:cNvPr id="10" name="Text 8"/>
          <p:cNvSpPr/>
          <p:nvPr/>
        </p:nvSpPr>
        <p:spPr>
          <a:xfrm>
            <a:off x="914400" y="2606040"/>
            <a:ext cx="7818120" cy="11887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Nevertheless, I still thought I could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the situation, and there were periods of sobriety which renewed my wife’s hope.</a:t>
            </a:r>
            <a:endParaRPr lang="en-US" sz="1900" dirty="0"/>
          </a:p>
        </p:txBody>
      </p:sp>
      <p:sp>
        <p:nvSpPr>
          <p:cNvPr id="11" name="Text 9"/>
          <p:cNvSpPr/>
          <p:nvPr/>
        </p:nvSpPr>
        <p:spPr>
          <a:xfrm>
            <a:off x="8915400" y="2606040"/>
            <a:ext cx="2377440" cy="118872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Another level</a:t>
            </a:r>
            <a:endParaRPr lang="en-US" sz="1250" dirty="0"/>
          </a:p>
        </p:txBody>
      </p:sp>
      <p:sp>
        <p:nvSpPr>
          <p:cNvPr id="12" name="Shape 10"/>
          <p:cNvSpPr/>
          <p:nvPr/>
        </p:nvSpPr>
        <p:spPr>
          <a:xfrm>
            <a:off x="548640" y="3931920"/>
            <a:ext cx="11091672" cy="914400"/>
          </a:xfrm>
          <a:prstGeom prst="roundRect">
            <a:avLst>
              <a:gd name="adj" fmla="val 8000"/>
            </a:avLst>
          </a:prstGeom>
          <a:solidFill>
            <a:srgbClr val="E2EDF4"/>
          </a:solidFill>
          <a:ln/>
        </p:spPr>
      </p:sp>
      <p:sp>
        <p:nvSpPr>
          <p:cNvPr id="13" name="Text 11"/>
          <p:cNvSpPr/>
          <p:nvPr/>
        </p:nvSpPr>
        <p:spPr>
          <a:xfrm>
            <a:off x="914400" y="3931920"/>
            <a:ext cx="7818120" cy="914400"/>
          </a:xfrm>
          <a:prstGeom prst="rect">
            <a:avLst/>
          </a:prstGeom>
          <a:noFill/>
          <a:ln/>
        </p:spPr>
        <p:txBody>
          <a:bodyPr wrap="square" lIns="0" tIns="0" rIns="0" bIns="0" rtlCol="0" anchor="ctr"/>
          <a:lstStyle/>
          <a:p>
            <a:pPr indent="0" marL="0">
              <a:lnSpc>
                <a:spcPct val="115000"/>
              </a:lnSpc>
              <a:buNone/>
            </a:pPr>
            <a:r>
              <a:rPr lang="en-US" sz="2000" b="1" dirty="0">
                <a:solidFill>
                  <a:srgbClr val="1B2A41"/>
                </a:solidFill>
                <a:latin typeface="Calibri" pitchFamily="34" charset="0"/>
                <a:ea typeface="Calibri" pitchFamily="34" charset="-122"/>
                <a:cs typeface="Calibri" pitchFamily="34" charset="-120"/>
              </a:rPr>
              <a:t>Gradually things got worse.</a:t>
            </a:r>
            <a:endParaRPr lang="en-US" sz="2000" dirty="0"/>
          </a:p>
        </p:txBody>
      </p:sp>
      <p:sp>
        <p:nvSpPr>
          <p:cNvPr id="14" name="Text 12"/>
          <p:cNvSpPr/>
          <p:nvPr/>
        </p:nvSpPr>
        <p:spPr>
          <a:xfrm>
            <a:off x="8915400" y="3931920"/>
            <a:ext cx="2377440" cy="91440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Blinded to life</a:t>
            </a:r>
            <a:endParaRPr lang="en-US" sz="1250" dirty="0"/>
          </a:p>
        </p:txBody>
      </p:sp>
      <p:sp>
        <p:nvSpPr>
          <p:cNvPr id="15" name="Text 13"/>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5.</a:t>
            </a:r>
            <a:endParaRPr lang="en-US" sz="1200" dirty="0"/>
          </a:p>
        </p:txBody>
      </p:sp>
      <p:sp>
        <p:nvSpPr>
          <p:cNvPr id="16" name="Text 14"/>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Was I Crazy?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Will power, and what it was worth.</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5</a:t>
            </a:r>
            <a:endParaRPr lang="en-US" sz="1700" dirty="0"/>
          </a:p>
        </p:txBody>
      </p:sp>
      <p:sp>
        <p:nvSpPr>
          <p:cNvPr id="6" name="Shape 4"/>
          <p:cNvSpPr/>
          <p:nvPr/>
        </p:nvSpPr>
        <p:spPr>
          <a:xfrm>
            <a:off x="548640" y="1463040"/>
            <a:ext cx="11091672" cy="1600200"/>
          </a:xfrm>
          <a:prstGeom prst="roundRect">
            <a:avLst>
              <a:gd name="adj" fmla="val 4571"/>
            </a:avLst>
          </a:prstGeom>
          <a:solidFill>
            <a:srgbClr val="EAF1E6"/>
          </a:solidFill>
          <a:ln/>
        </p:spPr>
      </p:sp>
      <p:sp>
        <p:nvSpPr>
          <p:cNvPr id="7" name="Text 5"/>
          <p:cNvSpPr/>
          <p:nvPr/>
        </p:nvSpPr>
        <p:spPr>
          <a:xfrm>
            <a:off x="914400" y="1463040"/>
            <a:ext cx="7818120" cy="16002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woke up. This had to be stopped. I saw I could not take so much as one drink.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I was through forever.</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Before then, I had written lots of sweet promises, but my wife happily observed that this time I meant business. And so I did.</a:t>
            </a:r>
            <a:endParaRPr lang="en-US" sz="1900" dirty="0"/>
          </a:p>
        </p:txBody>
      </p:sp>
      <p:sp>
        <p:nvSpPr>
          <p:cNvPr id="8" name="Text 6"/>
          <p:cNvSpPr/>
          <p:nvPr/>
        </p:nvSpPr>
        <p:spPr>
          <a:xfrm>
            <a:off x="8915400" y="1463040"/>
            <a:ext cx="2377440" cy="160020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Will</a:t>
            </a:r>
            <a:endParaRPr lang="en-US" sz="1250" dirty="0"/>
          </a:p>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Power</a:t>
            </a:r>
            <a:endParaRPr lang="en-US" sz="1250" dirty="0"/>
          </a:p>
        </p:txBody>
      </p:sp>
      <p:sp>
        <p:nvSpPr>
          <p:cNvPr id="9" name="Shape 7"/>
          <p:cNvSpPr/>
          <p:nvPr/>
        </p:nvSpPr>
        <p:spPr>
          <a:xfrm>
            <a:off x="548640" y="3246120"/>
            <a:ext cx="11091672" cy="960120"/>
          </a:xfrm>
          <a:prstGeom prst="roundRect">
            <a:avLst>
              <a:gd name="adj" fmla="val 7619"/>
            </a:avLst>
          </a:prstGeom>
          <a:solidFill>
            <a:srgbClr val="E2EDF4"/>
          </a:solidFill>
          <a:ln/>
        </p:spPr>
      </p:sp>
      <p:sp>
        <p:nvSpPr>
          <p:cNvPr id="10" name="Text 8"/>
          <p:cNvSpPr/>
          <p:nvPr/>
        </p:nvSpPr>
        <p:spPr>
          <a:xfrm>
            <a:off x="914400" y="3246120"/>
            <a:ext cx="10360152" cy="960120"/>
          </a:xfrm>
          <a:prstGeom prst="rect">
            <a:avLst/>
          </a:prstGeom>
          <a:noFill/>
          <a:ln/>
        </p:spPr>
        <p:txBody>
          <a:bodyPr wrap="square" lIns="0" tIns="0" rIns="0" bIns="0" rtlCol="0" anchor="ctr"/>
          <a:lstStyle/>
          <a:p>
            <a:pPr indent="0" marL="0">
              <a:lnSpc>
                <a:spcPct val="115000"/>
              </a:lnSpc>
              <a:buNone/>
            </a:pPr>
            <a:r>
              <a:rPr lang="en-US" sz="2000" b="1" dirty="0">
                <a:solidFill>
                  <a:srgbClr val="1B2A41"/>
                </a:solidFill>
                <a:latin typeface="Calibri" pitchFamily="34" charset="0"/>
                <a:ea typeface="Calibri" pitchFamily="34" charset="-122"/>
                <a:cs typeface="Calibri" pitchFamily="34" charset="-120"/>
              </a:rPr>
              <a:t>Shortly afterward I came home drunk. There had been no fight.</a:t>
            </a:r>
            <a:endParaRPr lang="en-US" sz="2000" dirty="0"/>
          </a:p>
        </p:txBody>
      </p:sp>
      <p:sp>
        <p:nvSpPr>
          <p:cNvPr id="11" name="Shape 9"/>
          <p:cNvSpPr/>
          <p:nvPr/>
        </p:nvSpPr>
        <p:spPr>
          <a:xfrm>
            <a:off x="548640" y="4389120"/>
            <a:ext cx="11091672" cy="960120"/>
          </a:xfrm>
          <a:prstGeom prst="roundRect">
            <a:avLst>
              <a:gd name="adj" fmla="val 7619"/>
            </a:avLst>
          </a:prstGeom>
          <a:solidFill>
            <a:srgbClr val="EAF1E6"/>
          </a:solidFill>
          <a:ln/>
        </p:spPr>
      </p:sp>
      <p:sp>
        <p:nvSpPr>
          <p:cNvPr id="12" name="Text 10"/>
          <p:cNvSpPr/>
          <p:nvPr/>
        </p:nvSpPr>
        <p:spPr>
          <a:xfrm>
            <a:off x="914400" y="4389120"/>
            <a:ext cx="7818120" cy="960120"/>
          </a:xfrm>
          <a:prstGeom prst="rect">
            <a:avLst/>
          </a:prstGeom>
          <a:noFill/>
          <a:ln/>
        </p:spPr>
        <p:txBody>
          <a:bodyPr wrap="square" lIns="0" tIns="0" rIns="0" bIns="0" rtlCol="0" anchor="ctr"/>
          <a:lstStyle/>
          <a:p>
            <a:pPr indent="0" marL="0">
              <a:lnSpc>
                <a:spcPct val="115000"/>
              </a:lnSpc>
              <a:buNone/>
            </a:pPr>
            <a:r>
              <a:rPr lang="en-US" sz="2600" b="1" u="sng" dirty="0">
                <a:solidFill>
                  <a:srgbClr val="1B2A41"/>
                </a:solidFill>
                <a:latin typeface="Calibri" pitchFamily="34" charset="0"/>
                <a:ea typeface="Calibri" pitchFamily="34" charset="-122"/>
                <a:cs typeface="Calibri" pitchFamily="34" charset="-120"/>
              </a:rPr>
              <a:t>Was I crazy?</a:t>
            </a:r>
            <a:endParaRPr lang="en-US" sz="2600" dirty="0"/>
          </a:p>
        </p:txBody>
      </p:sp>
      <p:sp>
        <p:nvSpPr>
          <p:cNvPr id="13" name="Text 11"/>
          <p:cNvSpPr/>
          <p:nvPr/>
        </p:nvSpPr>
        <p:spPr>
          <a:xfrm>
            <a:off x="8915400" y="4389120"/>
            <a:ext cx="2377440" cy="96012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Level</a:t>
            </a:r>
            <a:endParaRPr lang="en-US" sz="1250" dirty="0"/>
          </a:p>
        </p:txBody>
      </p:sp>
      <p:sp>
        <p:nvSpPr>
          <p:cNvPr id="14" name="Text 12"/>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5.</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Gin Would Fix That</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Remorse, horror and hopelessness.</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6</a:t>
            </a:r>
            <a:endParaRPr lang="en-US" sz="1700" dirty="0"/>
          </a:p>
        </p:txBody>
      </p:sp>
      <p:sp>
        <p:nvSpPr>
          <p:cNvPr id="6" name="Shape 4"/>
          <p:cNvSpPr/>
          <p:nvPr/>
        </p:nvSpPr>
        <p:spPr>
          <a:xfrm>
            <a:off x="548640" y="1737360"/>
            <a:ext cx="11091672" cy="1188720"/>
          </a:xfrm>
          <a:prstGeom prst="roundRect">
            <a:avLst>
              <a:gd name="adj" fmla="val 6154"/>
            </a:avLst>
          </a:prstGeom>
          <a:solidFill>
            <a:srgbClr val="E2EDF4"/>
          </a:solidFill>
          <a:ln/>
        </p:spPr>
      </p:sp>
      <p:sp>
        <p:nvSpPr>
          <p:cNvPr id="7" name="Text 5"/>
          <p:cNvSpPr/>
          <p:nvPr/>
        </p:nvSpPr>
        <p:spPr>
          <a:xfrm>
            <a:off x="914400" y="1737360"/>
            <a:ext cx="7818120" cy="1188720"/>
          </a:xfrm>
          <a:prstGeom prst="rect">
            <a:avLst/>
          </a:prstGeom>
          <a:noFill/>
          <a:ln/>
        </p:spPr>
        <p:txBody>
          <a:bodyPr wrap="square" lIns="0" tIns="0" rIns="0" bIns="0" rtlCol="0" anchor="ctr"/>
          <a:lstStyle/>
          <a:p>
            <a:pPr indent="0" marL="0">
              <a:lnSpc>
                <a:spcPct val="115000"/>
              </a:lnSpc>
              <a:buNone/>
            </a:pPr>
            <a:r>
              <a:rPr lang="en-US" sz="2400" b="1" dirty="0">
                <a:solidFill>
                  <a:srgbClr val="1B2A41"/>
                </a:solidFill>
                <a:latin typeface="Calibri" pitchFamily="34" charset="0"/>
                <a:ea typeface="Calibri" pitchFamily="34" charset="-122"/>
                <a:cs typeface="Calibri" pitchFamily="34" charset="-120"/>
              </a:rPr>
              <a:t>Gin would fix that. So two bottles, and—oblivion.</a:t>
            </a:r>
            <a:endParaRPr lang="en-US" sz="2400" dirty="0"/>
          </a:p>
        </p:txBody>
      </p:sp>
      <p:sp>
        <p:nvSpPr>
          <p:cNvPr id="8" name="Text 6"/>
          <p:cNvSpPr/>
          <p:nvPr/>
        </p:nvSpPr>
        <p:spPr>
          <a:xfrm>
            <a:off x="8915400" y="1737360"/>
            <a:ext cx="2377440" cy="118872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Sickest reason</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to drink</a:t>
            </a:r>
            <a:endParaRPr lang="en-US" sz="1250" dirty="0"/>
          </a:p>
        </p:txBody>
      </p:sp>
      <p:sp>
        <p:nvSpPr>
          <p:cNvPr id="9" name="Shape 7"/>
          <p:cNvSpPr/>
          <p:nvPr/>
        </p:nvSpPr>
        <p:spPr>
          <a:xfrm>
            <a:off x="548640" y="3200400"/>
            <a:ext cx="11091672" cy="1280160"/>
          </a:xfrm>
          <a:prstGeom prst="roundRect">
            <a:avLst>
              <a:gd name="adj" fmla="val 5714"/>
            </a:avLst>
          </a:prstGeom>
          <a:solidFill>
            <a:srgbClr val="E2EDF4"/>
          </a:solidFill>
          <a:ln/>
        </p:spPr>
      </p:sp>
      <p:sp>
        <p:nvSpPr>
          <p:cNvPr id="10" name="Text 8"/>
          <p:cNvSpPr/>
          <p:nvPr/>
        </p:nvSpPr>
        <p:spPr>
          <a:xfrm>
            <a:off x="914400" y="3200400"/>
            <a:ext cx="10360152" cy="128016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Sometimes I stole from my wife’s slender purse when the morning terror and madness were on me.</a:t>
            </a:r>
            <a:endParaRPr lang="en-US" sz="2000" dirty="0"/>
          </a:p>
        </p:txBody>
      </p:sp>
      <p:sp>
        <p:nvSpPr>
          <p:cNvPr id="11" name="Text 9"/>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6.</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Forty Pounds Under Weight</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Who is who on this page.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7</a:t>
            </a:r>
            <a:endParaRPr lang="en-US" sz="1700" dirty="0"/>
          </a:p>
        </p:txBody>
      </p:sp>
      <p:sp>
        <p:nvSpPr>
          <p:cNvPr id="6" name="Shape 4"/>
          <p:cNvSpPr/>
          <p:nvPr/>
        </p:nvSpPr>
        <p:spPr>
          <a:xfrm>
            <a:off x="548640" y="1417320"/>
            <a:ext cx="11091672" cy="914400"/>
          </a:xfrm>
          <a:prstGeom prst="roundRect">
            <a:avLst>
              <a:gd name="adj" fmla="val 8000"/>
            </a:avLst>
          </a:prstGeom>
          <a:solidFill>
            <a:srgbClr val="EAF1E6"/>
          </a:solidFill>
          <a:ln/>
        </p:spPr>
      </p:sp>
      <p:sp>
        <p:nvSpPr>
          <p:cNvPr id="7" name="Text 5"/>
          <p:cNvSpPr/>
          <p:nvPr/>
        </p:nvSpPr>
        <p:spPr>
          <a:xfrm>
            <a:off x="914400" y="1417320"/>
            <a:ext cx="7818120" cy="914400"/>
          </a:xfrm>
          <a:prstGeom prst="rect">
            <a:avLst/>
          </a:prstGeom>
          <a:noFill/>
          <a:ln/>
        </p:spPr>
        <p:txBody>
          <a:bodyPr wrap="square" lIns="0" tIns="0" rIns="0" bIns="0" rtlCol="0" anchor="ctr"/>
          <a:lstStyle/>
          <a:p>
            <a:pPr indent="0" marL="0">
              <a:lnSpc>
                <a:spcPct val="115000"/>
              </a:lnSpc>
              <a:buNone/>
            </a:pPr>
            <a:r>
              <a:rPr lang="en-US" sz="2000" b="1" dirty="0">
                <a:solidFill>
                  <a:srgbClr val="1B2A41"/>
                </a:solidFill>
                <a:latin typeface="Calibri" pitchFamily="34" charset="0"/>
                <a:ea typeface="Calibri" pitchFamily="34" charset="-122"/>
                <a:cs typeface="Calibri" pitchFamily="34" charset="-120"/>
              </a:rPr>
              <a:t>I could eat little or nothing when drinking, and I was forty pounds under weight.</a:t>
            </a:r>
            <a:endParaRPr lang="en-US" sz="2000" dirty="0"/>
          </a:p>
        </p:txBody>
      </p:sp>
      <p:sp>
        <p:nvSpPr>
          <p:cNvPr id="8" name="Text 6"/>
          <p:cNvSpPr/>
          <p:nvPr/>
        </p:nvSpPr>
        <p:spPr>
          <a:xfrm>
            <a:off x="8915400" y="1417320"/>
            <a:ext cx="2377440" cy="91440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Level</a:t>
            </a:r>
            <a:endParaRPr lang="en-US" sz="1250" dirty="0"/>
          </a:p>
        </p:txBody>
      </p:sp>
      <p:sp>
        <p:nvSpPr>
          <p:cNvPr id="9" name="Shape 7"/>
          <p:cNvSpPr/>
          <p:nvPr/>
        </p:nvSpPr>
        <p:spPr>
          <a:xfrm>
            <a:off x="548640" y="2606040"/>
            <a:ext cx="3557016" cy="1463040"/>
          </a:xfrm>
          <a:prstGeom prst="roundRect">
            <a:avLst>
              <a:gd name="adj" fmla="val 5000"/>
            </a:avLst>
          </a:prstGeom>
          <a:solidFill>
            <a:srgbClr val="1B2A41"/>
          </a:solidFill>
          <a:ln/>
        </p:spPr>
      </p:sp>
      <p:sp>
        <p:nvSpPr>
          <p:cNvPr id="10" name="Text 8"/>
          <p:cNvSpPr/>
          <p:nvPr/>
        </p:nvSpPr>
        <p:spPr>
          <a:xfrm>
            <a:off x="841248" y="2770632"/>
            <a:ext cx="2971800" cy="237744"/>
          </a:xfrm>
          <a:prstGeom prst="rect">
            <a:avLst/>
          </a:prstGeom>
          <a:noFill/>
          <a:ln/>
        </p:spPr>
        <p:txBody>
          <a:bodyPr wrap="square" lIns="0" tIns="0" rIns="0" bIns="0" rtlCol="0" anchor="ctr"/>
          <a:lstStyle/>
          <a:p>
            <a:pPr indent="0" marL="0">
              <a:buNone/>
            </a:pPr>
            <a:r>
              <a:rPr lang="en-US" sz="1050" b="1" spc="200" kern="0" dirty="0">
                <a:solidFill>
                  <a:srgbClr val="A9B8CC"/>
                </a:solidFill>
                <a:latin typeface="Calibri" pitchFamily="34" charset="0"/>
                <a:ea typeface="Calibri" pitchFamily="34" charset="-122"/>
                <a:cs typeface="Calibri" pitchFamily="34" charset="-120"/>
              </a:rPr>
              <a:t>MY BROTHER-IN-LAW</a:t>
            </a:r>
            <a:endParaRPr lang="en-US" sz="1050" dirty="0"/>
          </a:p>
        </p:txBody>
      </p:sp>
      <p:sp>
        <p:nvSpPr>
          <p:cNvPr id="11" name="Text 9"/>
          <p:cNvSpPr/>
          <p:nvPr/>
        </p:nvSpPr>
        <p:spPr>
          <a:xfrm>
            <a:off x="841248" y="3044952"/>
            <a:ext cx="297180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 Leonard Strong</a:t>
            </a:r>
            <a:endParaRPr lang="en-US" sz="2000" dirty="0"/>
          </a:p>
        </p:txBody>
      </p:sp>
      <p:sp>
        <p:nvSpPr>
          <p:cNvPr id="12" name="Text 10"/>
          <p:cNvSpPr/>
          <p:nvPr/>
        </p:nvSpPr>
        <p:spPr>
          <a:xfrm>
            <a:off x="841248" y="3520440"/>
            <a:ext cx="2971800" cy="365760"/>
          </a:xfrm>
          <a:prstGeom prst="rect">
            <a:avLst/>
          </a:prstGeom>
          <a:noFill/>
          <a:ln/>
        </p:spPr>
        <p:txBody>
          <a:bodyPr wrap="square" lIns="0" tIns="0" rIns="0" bIns="0" rtlCol="0" anchor="t"/>
          <a:lstStyle/>
          <a:p>
            <a:pPr indent="0" marL="0">
              <a:lnSpc>
                <a:spcPct val="110000"/>
              </a:lnSpc>
              <a:buNone/>
            </a:pPr>
            <a:r>
              <a:rPr lang="en-US" sz="1300" dirty="0">
                <a:solidFill>
                  <a:srgbClr val="A9B8CC"/>
                </a:solidFill>
                <a:latin typeface="Calibri" pitchFamily="34" charset="0"/>
                <a:ea typeface="Calibri" pitchFamily="34" charset="-122"/>
                <a:cs typeface="Calibri" pitchFamily="34" charset="-120"/>
              </a:rPr>
              <a:t>The physician who got him in.</a:t>
            </a:r>
            <a:endParaRPr lang="en-US" sz="1300" dirty="0"/>
          </a:p>
        </p:txBody>
      </p:sp>
      <p:sp>
        <p:nvSpPr>
          <p:cNvPr id="13" name="Shape 11"/>
          <p:cNvSpPr/>
          <p:nvPr/>
        </p:nvSpPr>
        <p:spPr>
          <a:xfrm>
            <a:off x="4315968" y="2606040"/>
            <a:ext cx="3557016" cy="1463040"/>
          </a:xfrm>
          <a:prstGeom prst="roundRect">
            <a:avLst>
              <a:gd name="adj" fmla="val 5000"/>
            </a:avLst>
          </a:prstGeom>
          <a:solidFill>
            <a:srgbClr val="1B2A41"/>
          </a:solidFill>
          <a:ln/>
        </p:spPr>
      </p:sp>
      <p:sp>
        <p:nvSpPr>
          <p:cNvPr id="14" name="Text 12"/>
          <p:cNvSpPr/>
          <p:nvPr/>
        </p:nvSpPr>
        <p:spPr>
          <a:xfrm>
            <a:off x="4608576" y="2770632"/>
            <a:ext cx="2971800" cy="237744"/>
          </a:xfrm>
          <a:prstGeom prst="rect">
            <a:avLst/>
          </a:prstGeom>
          <a:noFill/>
          <a:ln/>
        </p:spPr>
        <p:txBody>
          <a:bodyPr wrap="square" lIns="0" tIns="0" rIns="0" bIns="0" rtlCol="0" anchor="ctr"/>
          <a:lstStyle/>
          <a:p>
            <a:pPr indent="0" marL="0">
              <a:buNone/>
            </a:pPr>
            <a:r>
              <a:rPr lang="en-US" sz="1050" b="1" spc="200" kern="0" dirty="0">
                <a:solidFill>
                  <a:srgbClr val="A9B8CC"/>
                </a:solidFill>
                <a:latin typeface="Calibri" pitchFamily="34" charset="0"/>
                <a:ea typeface="Calibri" pitchFamily="34" charset="-122"/>
                <a:cs typeface="Calibri" pitchFamily="34" charset="-120"/>
              </a:rPr>
              <a:t>A NATIONALLY-KNOWN HOSPITAL</a:t>
            </a:r>
            <a:endParaRPr lang="en-US" sz="1050" dirty="0"/>
          </a:p>
        </p:txBody>
      </p:sp>
      <p:sp>
        <p:nvSpPr>
          <p:cNvPr id="15" name="Text 13"/>
          <p:cNvSpPr/>
          <p:nvPr/>
        </p:nvSpPr>
        <p:spPr>
          <a:xfrm>
            <a:off x="4608576" y="3044952"/>
            <a:ext cx="297180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Towns</a:t>
            </a:r>
            <a:endParaRPr lang="en-US" sz="2000" dirty="0"/>
          </a:p>
        </p:txBody>
      </p:sp>
      <p:sp>
        <p:nvSpPr>
          <p:cNvPr id="16" name="Text 14"/>
          <p:cNvSpPr/>
          <p:nvPr/>
        </p:nvSpPr>
        <p:spPr>
          <a:xfrm>
            <a:off x="4608576" y="3520440"/>
            <a:ext cx="2971800" cy="365760"/>
          </a:xfrm>
          <a:prstGeom prst="rect">
            <a:avLst/>
          </a:prstGeom>
          <a:noFill/>
          <a:ln/>
        </p:spPr>
        <p:txBody>
          <a:bodyPr wrap="square" lIns="0" tIns="0" rIns="0" bIns="0" rtlCol="0" anchor="t"/>
          <a:lstStyle/>
          <a:p>
            <a:pPr indent="0" marL="0">
              <a:lnSpc>
                <a:spcPct val="110000"/>
              </a:lnSpc>
              <a:buNone/>
            </a:pPr>
            <a:r>
              <a:rPr lang="en-US" sz="1300" dirty="0">
                <a:solidFill>
                  <a:srgbClr val="A9B8CC"/>
                </a:solidFill>
                <a:latin typeface="Calibri" pitchFamily="34" charset="0"/>
                <a:ea typeface="Calibri" pitchFamily="34" charset="-122"/>
                <a:cs typeface="Calibri" pitchFamily="34" charset="-120"/>
              </a:rPr>
              <a:t>First visit.</a:t>
            </a:r>
            <a:endParaRPr lang="en-US" sz="1300" dirty="0"/>
          </a:p>
        </p:txBody>
      </p:sp>
      <p:sp>
        <p:nvSpPr>
          <p:cNvPr id="17" name="Shape 15"/>
          <p:cNvSpPr/>
          <p:nvPr/>
        </p:nvSpPr>
        <p:spPr>
          <a:xfrm>
            <a:off x="8083296" y="2606040"/>
            <a:ext cx="3557016" cy="1463040"/>
          </a:xfrm>
          <a:prstGeom prst="roundRect">
            <a:avLst>
              <a:gd name="adj" fmla="val 5000"/>
            </a:avLst>
          </a:prstGeom>
          <a:solidFill>
            <a:srgbClr val="1B2A41"/>
          </a:solidFill>
          <a:ln/>
        </p:spPr>
      </p:sp>
      <p:sp>
        <p:nvSpPr>
          <p:cNvPr id="18" name="Text 16"/>
          <p:cNvSpPr/>
          <p:nvPr/>
        </p:nvSpPr>
        <p:spPr>
          <a:xfrm>
            <a:off x="8375904" y="2770632"/>
            <a:ext cx="2971800" cy="237744"/>
          </a:xfrm>
          <a:prstGeom prst="rect">
            <a:avLst/>
          </a:prstGeom>
          <a:noFill/>
          <a:ln/>
        </p:spPr>
        <p:txBody>
          <a:bodyPr wrap="square" lIns="0" tIns="0" rIns="0" bIns="0" rtlCol="0" anchor="ctr"/>
          <a:lstStyle/>
          <a:p>
            <a:pPr indent="0" marL="0">
              <a:buNone/>
            </a:pPr>
            <a:r>
              <a:rPr lang="en-US" sz="1050" b="1" spc="200" kern="0" dirty="0">
                <a:solidFill>
                  <a:srgbClr val="A9B8CC"/>
                </a:solidFill>
                <a:latin typeface="Calibri" pitchFamily="34" charset="0"/>
                <a:ea typeface="Calibri" pitchFamily="34" charset="-122"/>
                <a:cs typeface="Calibri" pitchFamily="34" charset="-120"/>
              </a:rPr>
              <a:t>A DOCTOR</a:t>
            </a:r>
            <a:endParaRPr lang="en-US" sz="1050" dirty="0"/>
          </a:p>
        </p:txBody>
      </p:sp>
      <p:sp>
        <p:nvSpPr>
          <p:cNvPr id="19" name="Text 17"/>
          <p:cNvSpPr/>
          <p:nvPr/>
        </p:nvSpPr>
        <p:spPr>
          <a:xfrm>
            <a:off x="8375904" y="3044952"/>
            <a:ext cx="297180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 Silkworth</a:t>
            </a:r>
            <a:endParaRPr lang="en-US" sz="2000" dirty="0"/>
          </a:p>
        </p:txBody>
      </p:sp>
      <p:sp>
        <p:nvSpPr>
          <p:cNvPr id="20" name="Text 18"/>
          <p:cNvSpPr/>
          <p:nvPr/>
        </p:nvSpPr>
        <p:spPr>
          <a:xfrm>
            <a:off x="8375904" y="3520440"/>
            <a:ext cx="2971800" cy="365760"/>
          </a:xfrm>
          <a:prstGeom prst="rect">
            <a:avLst/>
          </a:prstGeom>
          <a:noFill/>
          <a:ln/>
        </p:spPr>
        <p:txBody>
          <a:bodyPr wrap="square" lIns="0" tIns="0" rIns="0" bIns="0" rtlCol="0" anchor="t"/>
          <a:lstStyle/>
          <a:p>
            <a:pPr indent="0" marL="0">
              <a:lnSpc>
                <a:spcPct val="110000"/>
              </a:lnSpc>
              <a:buNone/>
            </a:pPr>
            <a:r>
              <a:rPr lang="en-US" sz="1300" dirty="0">
                <a:solidFill>
                  <a:srgbClr val="A9B8CC"/>
                </a:solidFill>
                <a:latin typeface="Calibri" pitchFamily="34" charset="0"/>
                <a:ea typeface="Calibri" pitchFamily="34" charset="-122"/>
                <a:cs typeface="Calibri" pitchFamily="34" charset="-120"/>
              </a:rPr>
              <a:t>Who explained I had been seriously ill, bodily and mentally.</a:t>
            </a:r>
            <a:endParaRPr lang="en-US" sz="1300" dirty="0"/>
          </a:p>
        </p:txBody>
      </p:sp>
      <p:sp>
        <p:nvSpPr>
          <p:cNvPr id="21" name="Shape 19"/>
          <p:cNvSpPr/>
          <p:nvPr/>
        </p:nvSpPr>
        <p:spPr>
          <a:xfrm>
            <a:off x="548640" y="4297680"/>
            <a:ext cx="11091672" cy="868680"/>
          </a:xfrm>
          <a:prstGeom prst="roundRect">
            <a:avLst>
              <a:gd name="adj" fmla="val 8421"/>
            </a:avLst>
          </a:prstGeom>
          <a:solidFill>
            <a:srgbClr val="F1F4F7"/>
          </a:solidFill>
          <a:ln/>
        </p:spPr>
      </p:sp>
      <p:sp>
        <p:nvSpPr>
          <p:cNvPr id="22" name="Text 20"/>
          <p:cNvSpPr/>
          <p:nvPr/>
        </p:nvSpPr>
        <p:spPr>
          <a:xfrm>
            <a:off x="914400" y="4297680"/>
            <a:ext cx="10360152" cy="868680"/>
          </a:xfrm>
          <a:prstGeom prst="rect">
            <a:avLst/>
          </a:prstGeom>
          <a:noFill/>
          <a:ln/>
        </p:spPr>
        <p:txBody>
          <a:bodyPr wrap="square" lIns="0" tIns="0" rIns="0" bIns="0" rtlCol="0" anchor="ctr"/>
          <a:lstStyle/>
          <a:p>
            <a:pPr indent="0" marL="0">
              <a:buNone/>
            </a:pPr>
            <a:r>
              <a:rPr lang="en-US" sz="1100" b="1" spc="200" kern="0" dirty="0">
                <a:solidFill>
                  <a:srgbClr val="6B7A8C"/>
                </a:solidFill>
                <a:latin typeface="Calibri" pitchFamily="34" charset="0"/>
                <a:ea typeface="Calibri" pitchFamily="34" charset="-122"/>
                <a:cs typeface="Calibri" pitchFamily="34" charset="-120"/>
              </a:rPr>
              <a:t>BELLADONNA TREATMENT   </a:t>
            </a:r>
            <a:pPr indent="0" marL="0">
              <a:buNone/>
            </a:pPr>
            <a:r>
              <a:rPr lang="en-US" sz="1700" dirty="0">
                <a:solidFill>
                  <a:srgbClr val="1B2A41"/>
                </a:solidFill>
                <a:latin typeface="Calibri" pitchFamily="34" charset="0"/>
                <a:ea typeface="Calibri" pitchFamily="34" charset="-122"/>
                <a:cs typeface="Calibri" pitchFamily="34" charset="-120"/>
              </a:rPr>
              <a:t>The nightshade family — a hallucinogenic.</a:t>
            </a:r>
            <a:endParaRPr lang="en-US" sz="1100" dirty="0"/>
          </a:p>
        </p:txBody>
      </p:sp>
      <p:sp>
        <p:nvSpPr>
          <p:cNvPr id="23" name="Text 21"/>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7.</a:t>
            </a:r>
            <a:endParaRPr lang="en-US" sz="1200" dirty="0"/>
          </a:p>
        </p:txBody>
      </p:sp>
      <p:sp>
        <p:nvSpPr>
          <p:cNvPr id="24" name="Text 2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Surely This Was the Answer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Self-knowledge.</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7</a:t>
            </a:r>
            <a:endParaRPr lang="en-US" sz="1700" dirty="0"/>
          </a:p>
        </p:txBody>
      </p:sp>
      <p:sp>
        <p:nvSpPr>
          <p:cNvPr id="6" name="Shape 4"/>
          <p:cNvSpPr/>
          <p:nvPr/>
        </p:nvSpPr>
        <p:spPr>
          <a:xfrm>
            <a:off x="548640" y="1463040"/>
            <a:ext cx="11091672" cy="2286000"/>
          </a:xfrm>
          <a:prstGeom prst="roundRect">
            <a:avLst>
              <a:gd name="adj" fmla="val 3200"/>
            </a:avLst>
          </a:prstGeom>
          <a:solidFill>
            <a:srgbClr val="E2EDF4"/>
          </a:solidFill>
          <a:ln/>
        </p:spPr>
      </p:sp>
      <p:sp>
        <p:nvSpPr>
          <p:cNvPr id="7" name="Text 5"/>
          <p:cNvSpPr/>
          <p:nvPr/>
        </p:nvSpPr>
        <p:spPr>
          <a:xfrm>
            <a:off x="914400" y="1463040"/>
            <a:ext cx="10360152" cy="2286000"/>
          </a:xfrm>
          <a:prstGeom prst="rect">
            <a:avLst/>
          </a:prstGeom>
          <a:noFill/>
          <a:ln/>
        </p:spPr>
        <p:txBody>
          <a:bodyPr wrap="square" lIns="0" tIns="0" rIns="0" bIns="0" rtlCol="0" anchor="ctr"/>
          <a:lstStyle/>
          <a:p>
            <a:pPr indent="0" marL="0">
              <a:lnSpc>
                <a:spcPct val="115000"/>
              </a:lnSpc>
              <a:buNone/>
            </a:pPr>
            <a:r>
              <a:rPr lang="en-US" sz="1800" dirty="0">
                <a:solidFill>
                  <a:srgbClr val="1B2A41"/>
                </a:solidFill>
                <a:latin typeface="Calibri" pitchFamily="34" charset="0"/>
                <a:ea typeface="Calibri" pitchFamily="34" charset="-122"/>
                <a:cs typeface="Calibri" pitchFamily="34" charset="-120"/>
              </a:rPr>
              <a:t>It relieved me somewhat to learn that in alcoholics the will is amazingly weakened when it comes to combating liquor, though it often remains strong in other respects. My incredible behavior in the face of a desperate desire to stop was explained. Understanding myself now, I fared forth in high hope. For three or four months the goose hung high. I went to town regularly and even made a little money. Surely this was the answer—</a:t>
            </a:r>
            <a:pPr indent="0" marL="0">
              <a:lnSpc>
                <a:spcPct val="115000"/>
              </a:lnSpc>
              <a:buNone/>
            </a:pPr>
            <a:r>
              <a:rPr lang="en-US" sz="1800" b="1" u="sng" dirty="0">
                <a:solidFill>
                  <a:srgbClr val="065A82"/>
                </a:solidFill>
                <a:latin typeface="Calibri" pitchFamily="34" charset="0"/>
                <a:ea typeface="Calibri" pitchFamily="34" charset="-122"/>
                <a:cs typeface="Calibri" pitchFamily="34" charset="-120"/>
              </a:rPr>
              <a:t>self-knowledge</a:t>
            </a:r>
            <a:pPr indent="0" marL="0">
              <a:lnSpc>
                <a:spcPct val="115000"/>
              </a:lnSpc>
              <a:buNone/>
            </a:pPr>
            <a:r>
              <a:rPr lang="en-US" sz="1800" dirty="0">
                <a:solidFill>
                  <a:srgbClr val="1B2A41"/>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548640" y="3931920"/>
            <a:ext cx="11091672" cy="1051560"/>
          </a:xfrm>
          <a:prstGeom prst="roundRect">
            <a:avLst>
              <a:gd name="adj" fmla="val 6957"/>
            </a:avLst>
          </a:prstGeom>
          <a:solidFill>
            <a:srgbClr val="E2EDF4"/>
          </a:solidFill>
          <a:ln/>
        </p:spPr>
      </p:sp>
      <p:sp>
        <p:nvSpPr>
          <p:cNvPr id="9" name="Text 7"/>
          <p:cNvSpPr/>
          <p:nvPr/>
        </p:nvSpPr>
        <p:spPr>
          <a:xfrm>
            <a:off x="914400" y="3931920"/>
            <a:ext cx="7818120" cy="1051560"/>
          </a:xfrm>
          <a:prstGeom prst="rect">
            <a:avLst/>
          </a:prstGeom>
          <a:noFill/>
          <a:ln/>
        </p:spPr>
        <p:txBody>
          <a:bodyPr wrap="square" lIns="0" tIns="0" rIns="0" bIns="0" rtlCol="0" anchor="ctr"/>
          <a:lstStyle/>
          <a:p>
            <a:pPr indent="0" marL="0">
              <a:lnSpc>
                <a:spcPct val="115000"/>
              </a:lnSpc>
              <a:buNone/>
            </a:pPr>
            <a:r>
              <a:rPr lang="en-US" sz="2800" b="1" u="sng" dirty="0">
                <a:solidFill>
                  <a:srgbClr val="1B2A41"/>
                </a:solidFill>
                <a:latin typeface="Calibri" pitchFamily="34" charset="0"/>
                <a:ea typeface="Calibri" pitchFamily="34" charset="-122"/>
                <a:cs typeface="Calibri" pitchFamily="34" charset="-120"/>
              </a:rPr>
              <a:t>But it was not.</a:t>
            </a:r>
            <a:endParaRPr lang="en-US" sz="2800" dirty="0"/>
          </a:p>
        </p:txBody>
      </p:sp>
      <p:sp>
        <p:nvSpPr>
          <p:cNvPr id="10" name="Text 8"/>
          <p:cNvSpPr/>
          <p:nvPr/>
        </p:nvSpPr>
        <p:spPr>
          <a:xfrm>
            <a:off x="8915400" y="3931920"/>
            <a:ext cx="2377440" cy="105156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Second visit —</a:t>
            </a:r>
            <a:endParaRPr lang="en-US" sz="1250" dirty="0"/>
          </a:p>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Towns</a:t>
            </a:r>
            <a:endParaRPr lang="en-US" sz="1250" dirty="0"/>
          </a:p>
        </p:txBody>
      </p:sp>
      <p:sp>
        <p:nvSpPr>
          <p:cNvPr id="11" name="Text 9"/>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7.</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Alcohol Was My Master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No words can tell.</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8</a:t>
            </a:r>
            <a:endParaRPr lang="en-US" sz="1700" dirty="0"/>
          </a:p>
        </p:txBody>
      </p:sp>
      <p:sp>
        <p:nvSpPr>
          <p:cNvPr id="6" name="Shape 4"/>
          <p:cNvSpPr/>
          <p:nvPr/>
        </p:nvSpPr>
        <p:spPr>
          <a:xfrm>
            <a:off x="548640" y="1645920"/>
            <a:ext cx="11091672" cy="2194560"/>
          </a:xfrm>
          <a:prstGeom prst="roundRect">
            <a:avLst>
              <a:gd name="adj" fmla="val 3333"/>
            </a:avLst>
          </a:prstGeom>
          <a:solidFill>
            <a:srgbClr val="EAF1E6"/>
          </a:solidFill>
          <a:ln/>
        </p:spPr>
      </p:sp>
      <p:sp>
        <p:nvSpPr>
          <p:cNvPr id="7" name="Text 5"/>
          <p:cNvSpPr/>
          <p:nvPr/>
        </p:nvSpPr>
        <p:spPr>
          <a:xfrm>
            <a:off x="914400" y="1645920"/>
            <a:ext cx="10360152" cy="219456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No words can tell of the loneliness and despair I found in that bitter morass of self-pity. Quicksand stretched around me in all directions. I had met my match. I had been overwhelmed.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Alcohol was my master.</a:t>
            </a:r>
            <a:endParaRPr lang="en-US" sz="2200" dirty="0"/>
          </a:p>
        </p:txBody>
      </p:sp>
      <p:sp>
        <p:nvSpPr>
          <p:cNvPr id="8" name="Shape 6"/>
          <p:cNvSpPr/>
          <p:nvPr/>
        </p:nvSpPr>
        <p:spPr>
          <a:xfrm>
            <a:off x="548640" y="4114800"/>
            <a:ext cx="11091672" cy="1005840"/>
          </a:xfrm>
          <a:prstGeom prst="roundRect">
            <a:avLst>
              <a:gd name="adj" fmla="val 7273"/>
            </a:avLst>
          </a:prstGeom>
          <a:solidFill>
            <a:srgbClr val="1B2A41"/>
          </a:solidFill>
          <a:ln/>
        </p:spPr>
      </p:sp>
      <p:sp>
        <p:nvSpPr>
          <p:cNvPr id="9" name="Text 7"/>
          <p:cNvSpPr/>
          <p:nvPr/>
        </p:nvSpPr>
        <p:spPr>
          <a:xfrm>
            <a:off x="914400" y="42336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50799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beginning of Step One — Bill’s.</a:t>
            </a:r>
            <a:endParaRPr lang="en-US" sz="2200" dirty="0"/>
          </a:p>
        </p:txBody>
      </p:sp>
      <p:sp>
        <p:nvSpPr>
          <p:cNvPr id="11" name="Text 9"/>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8.</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Was Sober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An old school friend comes to the door.</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9</a:t>
            </a:r>
            <a:endParaRPr lang="en-US" sz="1700" dirty="0"/>
          </a:p>
        </p:txBody>
      </p:sp>
      <p:sp>
        <p:nvSpPr>
          <p:cNvPr id="6" name="Shape 4"/>
          <p:cNvSpPr/>
          <p:nvPr/>
        </p:nvSpPr>
        <p:spPr>
          <a:xfrm>
            <a:off x="548640" y="1463040"/>
            <a:ext cx="11091672" cy="1234440"/>
          </a:xfrm>
          <a:prstGeom prst="roundRect">
            <a:avLst>
              <a:gd name="adj" fmla="val 5926"/>
            </a:avLst>
          </a:prstGeom>
          <a:solidFill>
            <a:srgbClr val="F1F4F7"/>
          </a:solidFill>
          <a:ln/>
        </p:spPr>
      </p:sp>
      <p:sp>
        <p:nvSpPr>
          <p:cNvPr id="7" name="Text 5"/>
          <p:cNvSpPr/>
          <p:nvPr/>
        </p:nvSpPr>
        <p:spPr>
          <a:xfrm>
            <a:off x="914400" y="1463040"/>
            <a:ext cx="10360152" cy="1234440"/>
          </a:xfrm>
          <a:prstGeom prst="rect">
            <a:avLst/>
          </a:prstGeom>
          <a:noFill/>
          <a:ln/>
        </p:spPr>
        <p:txBody>
          <a:bodyPr wrap="square" lIns="0" tIns="0" rIns="0" bIns="0" rtlCol="0" anchor="ctr"/>
          <a:lstStyle/>
          <a:p>
            <a:pPr indent="0" marL="0">
              <a:lnSpc>
                <a:spcPct val="115000"/>
              </a:lnSpc>
              <a:buNone/>
            </a:pPr>
            <a:r>
              <a:rPr lang="en-US" sz="2000" u="sng" dirty="0">
                <a:solidFill>
                  <a:srgbClr val="1B2A41"/>
                </a:solidFill>
                <a:latin typeface="Calibri" pitchFamily="34" charset="0"/>
                <a:ea typeface="Calibri" pitchFamily="34" charset="-122"/>
                <a:cs typeface="Calibri" pitchFamily="34" charset="-120"/>
              </a:rPr>
              <a:t>Rumor had it that he had been committed for alcoholic insanity. I wondered how he had escaped.</a:t>
            </a:r>
            <a:endParaRPr lang="en-US" sz="2000" dirty="0"/>
          </a:p>
        </p:txBody>
      </p:sp>
      <p:sp>
        <p:nvSpPr>
          <p:cNvPr id="8" name="Shape 6"/>
          <p:cNvSpPr/>
          <p:nvPr/>
        </p:nvSpPr>
        <p:spPr>
          <a:xfrm>
            <a:off x="548640" y="2880360"/>
            <a:ext cx="11091672" cy="1234440"/>
          </a:xfrm>
          <a:prstGeom prst="roundRect">
            <a:avLst>
              <a:gd name="adj" fmla="val 5926"/>
            </a:avLst>
          </a:prstGeom>
          <a:solidFill>
            <a:srgbClr val="E2EDF4"/>
          </a:solidFill>
          <a:ln/>
        </p:spPr>
      </p:sp>
      <p:sp>
        <p:nvSpPr>
          <p:cNvPr id="9" name="Text 7"/>
          <p:cNvSpPr/>
          <p:nvPr/>
        </p:nvSpPr>
        <p:spPr>
          <a:xfrm>
            <a:off x="914400" y="2880360"/>
            <a:ext cx="10360152" cy="12344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“I’ve got religion.”</a:t>
            </a:r>
            <a:endParaRPr lang="en-US" sz="3000" dirty="0"/>
          </a:p>
        </p:txBody>
      </p:sp>
      <p:sp>
        <p:nvSpPr>
          <p:cNvPr id="10" name="Shape 8"/>
          <p:cNvSpPr/>
          <p:nvPr/>
        </p:nvSpPr>
        <p:spPr>
          <a:xfrm>
            <a:off x="548640" y="4389120"/>
            <a:ext cx="11091672" cy="1005840"/>
          </a:xfrm>
          <a:prstGeom prst="roundRect">
            <a:avLst>
              <a:gd name="adj" fmla="val 7273"/>
            </a:avLst>
          </a:prstGeom>
          <a:solidFill>
            <a:srgbClr val="1B2A41"/>
          </a:solidFill>
          <a:ln/>
        </p:spPr>
      </p:sp>
      <p:sp>
        <p:nvSpPr>
          <p:cNvPr id="11" name="Text 9"/>
          <p:cNvSpPr/>
          <p:nvPr/>
        </p:nvSpPr>
        <p:spPr>
          <a:xfrm>
            <a:off x="914400" y="45079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478231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Ebby Thatcher — Bill’s sponsor.</a:t>
            </a:r>
            <a:endParaRPr lang="en-US" sz="2200" dirty="0"/>
          </a:p>
        </p:txBody>
      </p:sp>
      <p:sp>
        <p:nvSpPr>
          <p:cNvPr id="13" name="Text 11"/>
          <p:cNvSpPr/>
          <p:nvPr/>
        </p:nvSpPr>
        <p:spPr>
          <a:xfrm>
            <a:off x="548640" y="56235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9.</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Idea and a Program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they had told him.</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9</a:t>
            </a:r>
            <a:endParaRPr lang="en-US" sz="1700" dirty="0"/>
          </a:p>
        </p:txBody>
      </p:sp>
      <p:sp>
        <p:nvSpPr>
          <p:cNvPr id="6" name="Shape 4"/>
          <p:cNvSpPr/>
          <p:nvPr/>
        </p:nvSpPr>
        <p:spPr>
          <a:xfrm>
            <a:off x="548640" y="1737360"/>
            <a:ext cx="11091672" cy="1371600"/>
          </a:xfrm>
          <a:prstGeom prst="roundRect">
            <a:avLst>
              <a:gd name="adj" fmla="val 5333"/>
            </a:avLst>
          </a:prstGeom>
          <a:solidFill>
            <a:srgbClr val="EAF1E6"/>
          </a:solidFill>
          <a:ln/>
        </p:spPr>
      </p:sp>
      <p:sp>
        <p:nvSpPr>
          <p:cNvPr id="7" name="Text 5"/>
          <p:cNvSpPr/>
          <p:nvPr/>
        </p:nvSpPr>
        <p:spPr>
          <a:xfrm>
            <a:off x="914400" y="1737360"/>
            <a:ext cx="7818120" cy="1371600"/>
          </a:xfrm>
          <a:prstGeom prst="rect">
            <a:avLst/>
          </a:prstGeom>
          <a:noFill/>
          <a:ln/>
        </p:spPr>
        <p:txBody>
          <a:bodyPr wrap="square" lIns="0" tIns="0" rIns="0" bIns="0" rtlCol="0" anchor="ctr"/>
          <a:lstStyle/>
          <a:p>
            <a:pPr indent="0" marL="0">
              <a:lnSpc>
                <a:spcPct val="115000"/>
              </a:lnSpc>
              <a:buNone/>
            </a:pPr>
            <a:r>
              <a:rPr lang="en-US" sz="2400" b="1" dirty="0">
                <a:solidFill>
                  <a:srgbClr val="1B2A41"/>
                </a:solidFill>
                <a:latin typeface="Calibri" pitchFamily="34" charset="0"/>
                <a:ea typeface="Calibri" pitchFamily="34" charset="-122"/>
                <a:cs typeface="Calibri" pitchFamily="34" charset="-120"/>
              </a:rPr>
              <a:t>They had told of a simple religious idea…</a:t>
            </a:r>
            <a:endParaRPr lang="en-US" sz="2400" dirty="0"/>
          </a:p>
        </p:txBody>
      </p:sp>
      <p:sp>
        <p:nvSpPr>
          <p:cNvPr id="8" name="Text 6"/>
          <p:cNvSpPr/>
          <p:nvPr/>
        </p:nvSpPr>
        <p:spPr>
          <a:xfrm>
            <a:off x="8915400" y="1737360"/>
            <a:ext cx="2377440" cy="1371600"/>
          </a:xfrm>
          <a:prstGeom prst="rect">
            <a:avLst/>
          </a:prstGeom>
          <a:noFill/>
          <a:ln/>
        </p:spPr>
        <p:txBody>
          <a:bodyPr wrap="square" lIns="0" tIns="0" rIns="0" bIns="0" rtlCol="0" anchor="ctr"/>
          <a:lstStyle/>
          <a:p>
            <a:pPr algn="r" indent="0" marL="0">
              <a:lnSpc>
                <a:spcPct val="110000"/>
              </a:lnSpc>
              <a:buNone/>
            </a:pPr>
            <a:r>
              <a:rPr lang="en-US" sz="1250" b="1" dirty="0">
                <a:solidFill>
                  <a:srgbClr val="2C5F2D"/>
                </a:solidFill>
                <a:latin typeface="Calibri" pitchFamily="34" charset="0"/>
                <a:ea typeface="Calibri" pitchFamily="34" charset="-122"/>
                <a:cs typeface="Calibri" pitchFamily="34" charset="-120"/>
              </a:rPr>
              <a:t>STEP 2</a:t>
            </a:r>
            <a:endParaRPr lang="en-US" sz="1250" dirty="0"/>
          </a:p>
        </p:txBody>
      </p:sp>
      <p:sp>
        <p:nvSpPr>
          <p:cNvPr id="9" name="Shape 7"/>
          <p:cNvSpPr/>
          <p:nvPr/>
        </p:nvSpPr>
        <p:spPr>
          <a:xfrm>
            <a:off x="548640" y="3291840"/>
            <a:ext cx="11091672" cy="1371600"/>
          </a:xfrm>
          <a:prstGeom prst="roundRect">
            <a:avLst>
              <a:gd name="adj" fmla="val 5333"/>
            </a:avLst>
          </a:prstGeom>
          <a:solidFill>
            <a:srgbClr val="E2EDF4"/>
          </a:solidFill>
          <a:ln/>
        </p:spPr>
      </p:sp>
      <p:sp>
        <p:nvSpPr>
          <p:cNvPr id="10" name="Text 8"/>
          <p:cNvSpPr/>
          <p:nvPr/>
        </p:nvSpPr>
        <p:spPr>
          <a:xfrm>
            <a:off x="914400" y="3291840"/>
            <a:ext cx="7818120" cy="1371600"/>
          </a:xfrm>
          <a:prstGeom prst="rect">
            <a:avLst/>
          </a:prstGeom>
          <a:noFill/>
          <a:ln/>
        </p:spPr>
        <p:txBody>
          <a:bodyPr wrap="square" lIns="0" tIns="0" rIns="0" bIns="0" rtlCol="0" anchor="ctr"/>
          <a:lstStyle/>
          <a:p>
            <a:pPr indent="0" marL="0">
              <a:lnSpc>
                <a:spcPct val="115000"/>
              </a:lnSpc>
              <a:buNone/>
            </a:pPr>
            <a:r>
              <a:rPr lang="en-US" sz="2400" b="1" dirty="0">
                <a:solidFill>
                  <a:srgbClr val="1B2A41"/>
                </a:solidFill>
                <a:latin typeface="Calibri" pitchFamily="34" charset="0"/>
                <a:ea typeface="Calibri" pitchFamily="34" charset="-122"/>
                <a:cs typeface="Calibri" pitchFamily="34" charset="-120"/>
              </a:rPr>
              <a:t>…and a practical program of action.</a:t>
            </a:r>
            <a:endParaRPr lang="en-US" sz="2400" dirty="0"/>
          </a:p>
        </p:txBody>
      </p:sp>
      <p:sp>
        <p:nvSpPr>
          <p:cNvPr id="11" name="Text 9"/>
          <p:cNvSpPr/>
          <p:nvPr/>
        </p:nvSpPr>
        <p:spPr>
          <a:xfrm>
            <a:off x="8915400" y="3291840"/>
            <a:ext cx="2377440" cy="1371600"/>
          </a:xfrm>
          <a:prstGeom prst="rect">
            <a:avLst/>
          </a:prstGeom>
          <a:noFill/>
          <a:ln/>
        </p:spPr>
        <p:txBody>
          <a:bodyPr wrap="square" lIns="0" tIns="0" rIns="0" bIns="0" rtlCol="0" anchor="ctr"/>
          <a:lstStyle/>
          <a:p>
            <a:pPr algn="r" indent="0" marL="0">
              <a:lnSpc>
                <a:spcPct val="110000"/>
              </a:lnSpc>
              <a:buNone/>
            </a:pPr>
            <a:r>
              <a:rPr lang="en-US" sz="1250" b="1" dirty="0">
                <a:solidFill>
                  <a:srgbClr val="065A82"/>
                </a:solidFill>
                <a:latin typeface="Calibri" pitchFamily="34" charset="0"/>
                <a:ea typeface="Calibri" pitchFamily="34" charset="-122"/>
                <a:cs typeface="Calibri" pitchFamily="34" charset="-120"/>
              </a:rPr>
              <a:t>STEPS 3 THRU 12</a:t>
            </a:r>
            <a:endParaRPr lang="en-US" sz="1250" dirty="0"/>
          </a:p>
        </p:txBody>
      </p:sp>
      <p:sp>
        <p:nvSpPr>
          <p:cNvPr id="12" name="Text 10"/>
          <p:cNvSpPr/>
          <p:nvPr/>
        </p:nvSpPr>
        <p:spPr>
          <a:xfrm>
            <a:off x="548640" y="49377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9.</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I Had to Be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Certainly I was interested.</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p. 10</a:t>
            </a:r>
            <a:endParaRPr lang="en-US" sz="1700" dirty="0"/>
          </a:p>
        </p:txBody>
      </p:sp>
      <p:sp>
        <p:nvSpPr>
          <p:cNvPr id="6" name="Shape 4"/>
          <p:cNvSpPr/>
          <p:nvPr/>
        </p:nvSpPr>
        <p:spPr>
          <a:xfrm>
            <a:off x="548640" y="2011680"/>
            <a:ext cx="11091672" cy="1645920"/>
          </a:xfrm>
          <a:prstGeom prst="roundRect">
            <a:avLst>
              <a:gd name="adj" fmla="val 4444"/>
            </a:avLst>
          </a:prstGeom>
          <a:solidFill>
            <a:srgbClr val="F1F4F7"/>
          </a:solidFill>
          <a:ln/>
        </p:spPr>
      </p:sp>
      <p:sp>
        <p:nvSpPr>
          <p:cNvPr id="7" name="Text 5"/>
          <p:cNvSpPr/>
          <p:nvPr/>
        </p:nvSpPr>
        <p:spPr>
          <a:xfrm>
            <a:off x="914400" y="2011680"/>
            <a:ext cx="10360152" cy="1645920"/>
          </a:xfrm>
          <a:prstGeom prst="rect">
            <a:avLst/>
          </a:prstGeom>
          <a:noFill/>
          <a:ln/>
        </p:spPr>
        <p:txBody>
          <a:bodyPr wrap="square" lIns="0" tIns="0" rIns="0" bIns="0" rtlCol="0" anchor="ctr"/>
          <a:lstStyle/>
          <a:p>
            <a:pPr indent="0" marL="0">
              <a:lnSpc>
                <a:spcPct val="115000"/>
              </a:lnSpc>
              <a:buNone/>
            </a:pPr>
            <a:r>
              <a:rPr lang="en-US" sz="2800" dirty="0">
                <a:solidFill>
                  <a:srgbClr val="6B7A8C"/>
                </a:solidFill>
                <a:latin typeface="Calibri" pitchFamily="34" charset="0"/>
                <a:ea typeface="Calibri" pitchFamily="34" charset="-122"/>
                <a:cs typeface="Calibri" pitchFamily="34" charset="-120"/>
              </a:rPr>
              <a:t>Certainly I was interested. </a:t>
            </a:r>
            <a:pPr indent="0" marL="0">
              <a:lnSpc>
                <a:spcPct val="115000"/>
              </a:lnSpc>
              <a:buNone/>
            </a:pPr>
            <a:r>
              <a:rPr lang="en-US" sz="2800" b="1" dirty="0">
                <a:solidFill>
                  <a:srgbClr val="1B2A41"/>
                </a:solidFill>
                <a:latin typeface="Calibri" pitchFamily="34" charset="0"/>
                <a:ea typeface="Calibri" pitchFamily="34" charset="-122"/>
                <a:cs typeface="Calibri" pitchFamily="34" charset="-120"/>
              </a:rPr>
              <a:t>I had to be, for I was hopeless.</a:t>
            </a:r>
            <a:endParaRPr lang="en-US" sz="2800" dirty="0"/>
          </a:p>
        </p:txBody>
      </p:sp>
      <p:sp>
        <p:nvSpPr>
          <p:cNvPr id="8" name="Shape 6"/>
          <p:cNvSpPr/>
          <p:nvPr/>
        </p:nvSpPr>
        <p:spPr>
          <a:xfrm>
            <a:off x="548640" y="3931920"/>
            <a:ext cx="11091672" cy="1005840"/>
          </a:xfrm>
          <a:prstGeom prst="roundRect">
            <a:avLst>
              <a:gd name="adj" fmla="val 7273"/>
            </a:avLst>
          </a:prstGeom>
          <a:solidFill>
            <a:srgbClr val="1B2A41"/>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32511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completes Step One.</a:t>
            </a:r>
            <a:endParaRPr lang="en-US" sz="2200" dirty="0"/>
          </a:p>
        </p:txBody>
      </p:sp>
      <p:sp>
        <p:nvSpPr>
          <p:cNvPr id="11" name="Text 9"/>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10.</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Solution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My friend sat before me.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11</a:t>
            </a:r>
            <a:endParaRPr lang="en-US" sz="1700" dirty="0"/>
          </a:p>
        </p:txBody>
      </p:sp>
      <p:sp>
        <p:nvSpPr>
          <p:cNvPr id="6" name="Shape 4"/>
          <p:cNvSpPr/>
          <p:nvPr/>
        </p:nvSpPr>
        <p:spPr>
          <a:xfrm>
            <a:off x="548640" y="1554480"/>
            <a:ext cx="11091672" cy="2926080"/>
          </a:xfrm>
          <a:prstGeom prst="roundRect">
            <a:avLst>
              <a:gd name="adj" fmla="val 2500"/>
            </a:avLst>
          </a:prstGeom>
          <a:solidFill>
            <a:srgbClr val="EAF1E6"/>
          </a:solidFill>
          <a:ln/>
        </p:spPr>
      </p:sp>
      <p:sp>
        <p:nvSpPr>
          <p:cNvPr id="7" name="Text 5"/>
          <p:cNvSpPr/>
          <p:nvPr/>
        </p:nvSpPr>
        <p:spPr>
          <a:xfrm>
            <a:off x="914400" y="1554480"/>
            <a:ext cx="10360152" cy="29260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But my friend sat before me, and he made the point-blank declaration that </a:t>
            </a:r>
            <a:pPr indent="0" marL="0">
              <a:lnSpc>
                <a:spcPct val="115000"/>
              </a:lnSpc>
              <a:buNone/>
            </a:pPr>
            <a:r>
              <a:rPr lang="en-US" sz="2000" b="1" dirty="0">
                <a:solidFill>
                  <a:srgbClr val="2C5F2D"/>
                </a:solidFill>
                <a:latin typeface="Calibri" pitchFamily="34" charset="0"/>
                <a:ea typeface="Calibri" pitchFamily="34" charset="-122"/>
                <a:cs typeface="Calibri" pitchFamily="34" charset="-120"/>
              </a:rPr>
              <a:t>God had done for him what he could not do for himself</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His human will had failed. Doctors had pronounced him incurable. Society was about to lock him up. Like myself, he had admitted complete defeat. Then he had, in effect, been raised from the dead, suddenly taken from the scrap heap to a level of life better than the best he had ever known!</a:t>
            </a:r>
            <a:endParaRPr lang="en-US" sz="20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11.</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This Was None at All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Had this power originated in him?</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11</a:t>
            </a:r>
            <a:endParaRPr lang="en-US" sz="1700" dirty="0"/>
          </a:p>
        </p:txBody>
      </p:sp>
      <p:sp>
        <p:nvSpPr>
          <p:cNvPr id="6" name="Shape 4"/>
          <p:cNvSpPr/>
          <p:nvPr/>
        </p:nvSpPr>
        <p:spPr>
          <a:xfrm>
            <a:off x="548640" y="1828800"/>
            <a:ext cx="11091672" cy="2286000"/>
          </a:xfrm>
          <a:prstGeom prst="roundRect">
            <a:avLst>
              <a:gd name="adj" fmla="val 3200"/>
            </a:avLst>
          </a:prstGeom>
          <a:solidFill>
            <a:srgbClr val="E2EDF4"/>
          </a:solidFill>
          <a:ln/>
        </p:spPr>
      </p:sp>
      <p:sp>
        <p:nvSpPr>
          <p:cNvPr id="7" name="Text 5"/>
          <p:cNvSpPr/>
          <p:nvPr/>
        </p:nvSpPr>
        <p:spPr>
          <a:xfrm>
            <a:off x="914400" y="1828800"/>
            <a:ext cx="10360152" cy="2286000"/>
          </a:xfrm>
          <a:prstGeom prst="rect">
            <a:avLst/>
          </a:prstGeom>
          <a:noFill/>
          <a:ln/>
        </p:spPr>
        <p:txBody>
          <a:bodyPr wrap="square" lIns="0" tIns="0" rIns="0" bIns="0" rtlCol="0" anchor="ctr"/>
          <a:lstStyle/>
          <a:p>
            <a:pPr indent="0" marL="0">
              <a:lnSpc>
                <a:spcPct val="115000"/>
              </a:lnSpc>
              <a:buNone/>
            </a:pPr>
            <a:r>
              <a:rPr lang="en-US" sz="2400" dirty="0">
                <a:solidFill>
                  <a:srgbClr val="1B2A41"/>
                </a:solidFill>
                <a:latin typeface="Calibri" pitchFamily="34" charset="0"/>
                <a:ea typeface="Calibri" pitchFamily="34" charset="-122"/>
                <a:cs typeface="Calibri" pitchFamily="34" charset="-120"/>
              </a:rPr>
              <a:t>Had this power originated in him? Obviously it had not. There had been no more power in him than there was in me at that minute; and </a:t>
            </a:r>
            <a:pPr indent="0" marL="0">
              <a:lnSpc>
                <a:spcPct val="115000"/>
              </a:lnSpc>
              <a:buNone/>
            </a:pPr>
            <a:r>
              <a:rPr lang="en-US" sz="2400" b="1" dirty="0">
                <a:solidFill>
                  <a:srgbClr val="065A82"/>
                </a:solidFill>
                <a:latin typeface="Calibri" pitchFamily="34" charset="0"/>
                <a:ea typeface="Calibri" pitchFamily="34" charset="-122"/>
                <a:cs typeface="Calibri" pitchFamily="34" charset="-120"/>
              </a:rPr>
              <a:t>this was none at all</a:t>
            </a:r>
            <a:pPr indent="0" marL="0">
              <a:lnSpc>
                <a:spcPct val="115000"/>
              </a:lnSpc>
              <a:buNone/>
            </a:pPr>
            <a:r>
              <a:rPr lang="en-US" sz="2400" dirty="0">
                <a:solidFill>
                  <a:srgbClr val="1B2A41"/>
                </a:solidFill>
                <a:latin typeface="Calibri" pitchFamily="34" charset="0"/>
                <a:ea typeface="Calibri" pitchFamily="34" charset="-122"/>
                <a:cs typeface="Calibri" pitchFamily="34" charset="-120"/>
              </a:rPr>
              <a:t>.</a:t>
            </a:r>
            <a:endParaRPr lang="en-US" sz="2400" dirty="0"/>
          </a:p>
        </p:txBody>
      </p:sp>
      <p:sp>
        <p:nvSpPr>
          <p:cNvPr id="8" name="Text 6"/>
          <p:cNvSpPr/>
          <p:nvPr/>
        </p:nvSpPr>
        <p:spPr>
          <a:xfrm>
            <a:off x="548640" y="4389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11.</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Across the Kitchen Table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That floored me.</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BILL’S STORY</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p. 11</a:t>
            </a:r>
            <a:endParaRPr lang="en-US" sz="1700" dirty="0"/>
          </a:p>
        </p:txBody>
      </p:sp>
      <p:sp>
        <p:nvSpPr>
          <p:cNvPr id="6" name="Shape 4"/>
          <p:cNvSpPr/>
          <p:nvPr/>
        </p:nvSpPr>
        <p:spPr>
          <a:xfrm>
            <a:off x="548640" y="1554480"/>
            <a:ext cx="11091672" cy="2377440"/>
          </a:xfrm>
          <a:prstGeom prst="roundRect">
            <a:avLst>
              <a:gd name="adj" fmla="val 3077"/>
            </a:avLst>
          </a:prstGeom>
          <a:solidFill>
            <a:srgbClr val="F1F4F7"/>
          </a:solidFill>
          <a:ln/>
        </p:spPr>
      </p:sp>
      <p:sp>
        <p:nvSpPr>
          <p:cNvPr id="7" name="Text 5"/>
          <p:cNvSpPr/>
          <p:nvPr/>
        </p:nvSpPr>
        <p:spPr>
          <a:xfrm>
            <a:off x="914400" y="1554480"/>
            <a:ext cx="10360152" cy="237744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That floored me. It began to look as though religious people were right after all. Here was something at work in a human heart which had done the impossible. My ideas about miracles were drastically revised right then. Never mind the musty past; </a:t>
            </a:r>
            <a:pPr indent="0" marL="0">
              <a:lnSpc>
                <a:spcPct val="115000"/>
              </a:lnSpc>
              <a:buNone/>
            </a:pPr>
            <a:r>
              <a:rPr lang="en-US" sz="2000" b="1" dirty="0">
                <a:solidFill>
                  <a:srgbClr val="1B2A41"/>
                </a:solidFill>
                <a:latin typeface="Calibri" pitchFamily="34" charset="0"/>
                <a:ea typeface="Calibri" pitchFamily="34" charset="-122"/>
                <a:cs typeface="Calibri" pitchFamily="34" charset="-120"/>
              </a:rPr>
              <a:t>here sat a miracle directly across the kitchen table</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He shouted great tidings.</a:t>
            </a:r>
            <a:endParaRPr lang="en-US" sz="2000" dirty="0"/>
          </a:p>
        </p:txBody>
      </p:sp>
      <p:sp>
        <p:nvSpPr>
          <p:cNvPr id="8" name="Shape 6"/>
          <p:cNvSpPr/>
          <p:nvPr/>
        </p:nvSpPr>
        <p:spPr>
          <a:xfrm>
            <a:off x="548640" y="4206240"/>
            <a:ext cx="11091672" cy="1005840"/>
          </a:xfrm>
          <a:prstGeom prst="roundRect">
            <a:avLst>
              <a:gd name="adj" fmla="val 7273"/>
            </a:avLst>
          </a:prstGeom>
          <a:solidFill>
            <a:srgbClr val="1B2A41"/>
          </a:solidFill>
          <a:ln/>
        </p:spPr>
      </p:sp>
      <p:sp>
        <p:nvSpPr>
          <p:cNvPr id="9" name="Text 7"/>
          <p:cNvSpPr/>
          <p:nvPr/>
        </p:nvSpPr>
        <p:spPr>
          <a:xfrm>
            <a:off x="914400" y="432511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59943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sees a miracle in front of him.</a:t>
            </a:r>
            <a:endParaRPr lang="en-US" sz="2200" dirty="0"/>
          </a:p>
        </p:txBody>
      </p:sp>
      <p:sp>
        <p:nvSpPr>
          <p:cNvPr id="11" name="Text 9"/>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“Bill’s Story,” p. 11.</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2026-08-05T12:35:54Z</dcterms:created>
  <dcterms:modified xsi:type="dcterms:W3CDTF">2026-08-05T12:35:54Z</dcterms:modified>
</cp:coreProperties>
</file>
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who wrote this letter is the same Silkworth from the Foreword - the one the
book calls a medical saint, the one who told the broker the grave nature of alcoholism.
His name is on it now. It was not always. In the first editions the letter was signed
Anonymous, and the name was added later.
A doctor put his professional reputation behind a book written by drunks, in 1939, when
there was nothing to gain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and mind. Both. That is the whole claim, and it is a must - what we who have
suffered alcoholic torture must believe.
Not a weak mind housed in a healthy body. Not a moral failure a person could think his
way out of. The body is as abnormal as the mind.
This is Step One territory. If only the mind were the problem, willpower would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double-underlined in the study copy. Sit on that word.
They are not arguing that the psychological picture is wrong. Read it again - these things
were true to some extent, in fact to a considerable extent with some of us. Maladjusted,
in flight from reality, all of it. They grant it.
What they will not grant is that it is the whole story. Our bodies were sickened as well.
Any picture that leaves out the physical factor is incomplete. Incomplete, not wrong -
and an incomplete picture is what keeps a man trying to solve a physical problem with
resolutions.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Interests us. Not proves, not settles - interests. They are careful here.
As laymen our opinion means little. They say so themselves. But as ex-problem drinkers -
and that is the standing that counts in this room - the explanation makes good sense.
It explains many things for which we cannot otherwise account. That is the test they are
applying. Not is it proven, but does it account for what happened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green arrow in the study copy starts here. This is the doctor speaking in his own
voice, and the first thing he does is establish standing.
The hospital is the Charles B. Towns Hospital, 293 Central Park West in Manhattan.
Silkworth was its medical director. That is where he saw thousands of alcoholics come
through, and it is where he met Bill.
Note his word for the book - masterly. A physician calling a book written by drunks
masterly, in 1939.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doctor admitting the limits of medicine. Read that second paragraph slowly.
They knew some form of moral psychology was urgently needed. They could not deliver it.
Its application presented difficulties beyond our conception.
And then he says why - our ultra-modern standards, our scientific approach to everything.
The training that makes a good physician is the same training that leaves him not well
equipped to apply powers of good outside his synthetic knowledge.
He is describing the gap that the Twelve Steps walked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Silkworth is being discreet. He does not name him. But everyone reading this in 1939 who
knew anything knew who it was.
One of the leading contributors to this book is Bill W. This hospital is Towns. Bill was
admitted four times between 1933 and 1934 - his last drink was 11 December 1934, and
three days later, still in that hospital, he had the experience he describes in his story.
The ideas he acquired came from Silkworth: the allergy, and the obsession. And he put them
into practical application at once - meaning he went out and started talking to other
alcoholics.
The doctor who explained the illness to him is the same doctor writing this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William D. Silkworth, M.D.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letter is signed.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45920"/>
            <a:ext cx="11091672" cy="2103120"/>
          </a:xfrm>
          <a:prstGeom prst="roundRect">
            <a:avLst>
              <a:gd name="adj" fmla="val 3478"/>
            </a:avLst>
          </a:prstGeom>
          <a:solidFill>
            <a:srgbClr val="E2EDF4"/>
          </a:solidFill>
          <a:ln/>
        </p:spPr>
      </p:sp>
      <p:sp>
        <p:nvSpPr>
          <p:cNvPr id="7" name="Text 5"/>
          <p:cNvSpPr/>
          <p:nvPr/>
        </p:nvSpPr>
        <p:spPr>
          <a:xfrm>
            <a:off x="914400" y="2011680"/>
            <a:ext cx="10360152" cy="457200"/>
          </a:xfrm>
          <a:prstGeom prst="rect">
            <a:avLst/>
          </a:prstGeom>
          <a:noFill/>
          <a:ln/>
        </p:spPr>
        <p:txBody>
          <a:bodyPr wrap="square" lIns="0" tIns="0" rIns="0" bIns="0" rtlCol="0" anchor="ctr"/>
          <a:lstStyle/>
          <a:p>
            <a:pPr algn="r" indent="0" marL="0">
              <a:buNone/>
            </a:pPr>
            <a:r>
              <a:rPr lang="en-US" sz="2200" i="1" dirty="0">
                <a:solidFill>
                  <a:srgbClr val="1B2A41"/>
                </a:solidFill>
                <a:latin typeface="Calibri" pitchFamily="34" charset="0"/>
                <a:ea typeface="Calibri" pitchFamily="34" charset="-122"/>
                <a:cs typeface="Calibri" pitchFamily="34" charset="-120"/>
              </a:rPr>
              <a:t>Very truly yours,</a:t>
            </a:r>
            <a:endParaRPr lang="en-US" sz="2200" dirty="0"/>
          </a:p>
        </p:txBody>
      </p:sp>
      <p:sp>
        <p:nvSpPr>
          <p:cNvPr id="8" name="Text 6"/>
          <p:cNvSpPr/>
          <p:nvPr/>
        </p:nvSpPr>
        <p:spPr>
          <a:xfrm>
            <a:off x="914400" y="2560320"/>
            <a:ext cx="10360152" cy="685800"/>
          </a:xfrm>
          <a:prstGeom prst="rect">
            <a:avLst/>
          </a:prstGeom>
          <a:noFill/>
          <a:ln/>
        </p:spPr>
        <p:txBody>
          <a:bodyPr wrap="square" lIns="0" tIns="0" rIns="0" bIns="0" rtlCol="0" anchor="ctr"/>
          <a:lstStyle/>
          <a:p>
            <a:pPr algn="r" indent="0" marL="0">
              <a:buNone/>
            </a:pPr>
            <a:r>
              <a:rPr lang="en-US" sz="3400" b="1" dirty="0">
                <a:solidFill>
                  <a:srgbClr val="065A82"/>
                </a:solidFill>
                <a:latin typeface="Cambria" pitchFamily="34" charset="0"/>
                <a:ea typeface="Cambria" pitchFamily="34" charset="-122"/>
                <a:cs typeface="Cambria" pitchFamily="34" charset="-120"/>
              </a:rPr>
              <a:t>William D. Silkworth, M.D.</a:t>
            </a:r>
            <a:endParaRPr lang="en-US" sz="3400" dirty="0"/>
          </a:p>
        </p:txBody>
      </p:sp>
      <p:sp>
        <p:nvSpPr>
          <p:cNvPr id="9" name="Shape 7"/>
          <p:cNvSpPr/>
          <p:nvPr/>
        </p:nvSpPr>
        <p:spPr>
          <a:xfrm>
            <a:off x="548640" y="4023360"/>
            <a:ext cx="11091672" cy="1005840"/>
          </a:xfrm>
          <a:prstGeom prst="roundRect">
            <a:avLst>
              <a:gd name="adj" fmla="val 7273"/>
            </a:avLst>
          </a:prstGeom>
          <a:solidFill>
            <a:srgbClr val="1B2A41"/>
          </a:solidFill>
          <a:ln/>
        </p:spPr>
      </p:sp>
      <p:sp>
        <p:nvSpPr>
          <p:cNvPr id="10" name="Text 8"/>
          <p:cNvSpPr/>
          <p:nvPr/>
        </p:nvSpPr>
        <p:spPr>
          <a:xfrm>
            <a:off x="914400" y="41422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4165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Signed “Anonymous” in the first editions.</a:t>
            </a:r>
            <a:endParaRPr lang="en-US" sz="2200" dirty="0"/>
          </a:p>
        </p:txBody>
      </p:sp>
      <p:sp>
        <p:nvSpPr>
          <p:cNvPr id="12" name="Text 10"/>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As Abnormal as His Mind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who have suffered must believe.</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463040"/>
            <a:ext cx="11091672" cy="2103120"/>
          </a:xfrm>
          <a:prstGeom prst="roundRect">
            <a:avLst>
              <a:gd name="adj" fmla="val 3478"/>
            </a:avLst>
          </a:prstGeom>
          <a:solidFill>
            <a:srgbClr val="EAF1E6"/>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physician who, at our request, gave us this letter, has been kind enough to enlarge upon his views in another statement which follows. In this statement he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confirms what we who have suffered alcoholic torture must believe—</a:t>
            </a:r>
            <a:pPr indent="0" marL="0">
              <a:lnSpc>
                <a:spcPct val="115000"/>
              </a:lnSpc>
              <a:buNone/>
            </a:pPr>
            <a:r>
              <a:rPr lang="en-US" sz="1900" b="1" u="sng" dirty="0">
                <a:solidFill>
                  <a:srgbClr val="9E1B60"/>
                </a:solidFill>
                <a:latin typeface="Calibri" pitchFamily="34" charset="0"/>
                <a:ea typeface="Calibri" pitchFamily="34" charset="-122"/>
                <a:cs typeface="Calibri" pitchFamily="34" charset="-120"/>
              </a:rPr>
              <a:t>that the body of the alcoholic is quite as abnormal as his mind.</a:t>
            </a:r>
            <a:endParaRPr lang="en-US" sz="1900" dirty="0"/>
          </a:p>
        </p:txBody>
      </p:sp>
      <p:sp>
        <p:nvSpPr>
          <p:cNvPr id="8" name="Shape 6"/>
          <p:cNvSpPr/>
          <p:nvPr/>
        </p:nvSpPr>
        <p:spPr>
          <a:xfrm>
            <a:off x="548640" y="3840480"/>
            <a:ext cx="11091672" cy="1234440"/>
          </a:xfrm>
          <a:prstGeom prst="roundRect">
            <a:avLst>
              <a:gd name="adj" fmla="val 5926"/>
            </a:avLst>
          </a:prstGeom>
          <a:solidFill>
            <a:srgbClr val="9E1B60"/>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23367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body of the alcoholic is quite as abnormal as his mind.</a:t>
            </a:r>
            <a:endParaRPr lang="en-US" sz="2400" dirty="0"/>
          </a:p>
        </p:txBody>
      </p:sp>
      <p:sp>
        <p:nvSpPr>
          <p:cNvPr id="11" name="Text 9"/>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Physical Factor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It did not satisfy us to be told…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91640"/>
            <a:ext cx="11091672" cy="2788920"/>
          </a:xfrm>
          <a:prstGeom prst="roundRect">
            <a:avLst>
              <a:gd name="adj" fmla="val 2623"/>
            </a:avLst>
          </a:prstGeom>
          <a:solidFill>
            <a:srgbClr val="EAF1E6"/>
          </a:solidFill>
          <a:ln/>
        </p:spPr>
      </p:sp>
      <p:sp>
        <p:nvSpPr>
          <p:cNvPr id="7" name="Text 5"/>
          <p:cNvSpPr/>
          <p:nvPr/>
        </p:nvSpPr>
        <p:spPr>
          <a:xfrm>
            <a:off x="914400" y="1691640"/>
            <a:ext cx="10360152" cy="2788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It did not satisfy us to be told that we could not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our drinking just because we were maladjusted to life, that we were in full flight from reality, or were outright mental defectives. These things were true to some extent, in fact, to a considerable extent with some of us. But we are sure that our bodies were sickened as well. </a:t>
            </a:r>
            <a:pPr indent="0" marL="0">
              <a:lnSpc>
                <a:spcPct val="115000"/>
              </a:lnSpc>
              <a:buNone/>
            </a:pPr>
            <a:r>
              <a:rPr lang="en-US" sz="1900" b="1" u="sng" dirty="0">
                <a:solidFill>
                  <a:srgbClr val="2C5F2D"/>
                </a:solidFill>
                <a:latin typeface="Calibri" pitchFamily="34" charset="0"/>
                <a:ea typeface="Calibri" pitchFamily="34" charset="-122"/>
                <a:cs typeface="Calibri" pitchFamily="34" charset="-120"/>
              </a:rPr>
              <a:t>In our belief, any picture of the alcoholic which leaves out this physical factor is incomplete.</a:t>
            </a:r>
            <a:endParaRPr lang="en-US" sz="19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Allergy to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theory.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00200"/>
            <a:ext cx="11091672" cy="2377440"/>
          </a:xfrm>
          <a:prstGeom prst="roundRect">
            <a:avLst>
              <a:gd name="adj" fmla="val 3077"/>
            </a:avLst>
          </a:prstGeom>
          <a:solidFill>
            <a:srgbClr val="E2EDF4"/>
          </a:solidFill>
          <a:ln/>
        </p:spPr>
      </p:sp>
      <p:sp>
        <p:nvSpPr>
          <p:cNvPr id="7" name="Text 5"/>
          <p:cNvSpPr/>
          <p:nvPr/>
        </p:nvSpPr>
        <p:spPr>
          <a:xfrm>
            <a:off x="914400" y="1600200"/>
            <a:ext cx="10360152" cy="2377440"/>
          </a:xfrm>
          <a:prstGeom prst="rect">
            <a:avLst/>
          </a:prstGeom>
          <a:noFill/>
          <a:ln/>
        </p:spPr>
        <p:txBody>
          <a:bodyPr wrap="square" lIns="0" tIns="0" rIns="0" bIns="0" rtlCol="0" anchor="ctr"/>
          <a:lstStyle/>
          <a:p>
            <a:pPr indent="0" marL="0">
              <a:lnSpc>
                <a:spcPct val="115000"/>
              </a:lnSpc>
              <a:buNone/>
            </a:pPr>
            <a:r>
              <a:rPr lang="en-US" sz="2100" b="1" u="sng" dirty="0">
                <a:solidFill>
                  <a:srgbClr val="065A82"/>
                </a:solidFill>
                <a:latin typeface="Calibri" pitchFamily="34" charset="0"/>
                <a:ea typeface="Calibri" pitchFamily="34" charset="-122"/>
                <a:cs typeface="Calibri" pitchFamily="34" charset="-120"/>
              </a:rPr>
              <a:t>The doctor’s theory that we have an allergy to alcohol interests us.</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As laymen, our opinion as to its soundness may, of course, mean little. But as ex-problem drinkers, we can say that his explanation makes good sense. It explains many things for which we cannot otherwise account.</a:t>
            </a:r>
            <a:endParaRPr lang="en-US" sz="2100" dirty="0"/>
          </a:p>
        </p:txBody>
      </p:sp>
      <p:sp>
        <p:nvSpPr>
          <p:cNvPr id="8" name="Shape 6"/>
          <p:cNvSpPr/>
          <p:nvPr/>
        </p:nvSpPr>
        <p:spPr>
          <a:xfrm>
            <a:off x="548640" y="4251960"/>
            <a:ext cx="11091672" cy="960120"/>
          </a:xfrm>
          <a:prstGeom prst="roundRect">
            <a:avLst>
              <a:gd name="adj" fmla="val 7619"/>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Allergy = abnormal reaction.</a:t>
            </a:r>
            <a:endParaRPr lang="en-US" sz="22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Of Paramount Importance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 writes:</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463040"/>
            <a:ext cx="11091672" cy="2651760"/>
          </a:xfrm>
          <a:prstGeom prst="roundRect">
            <a:avLst>
              <a:gd name="adj" fmla="val 2759"/>
            </a:avLst>
          </a:prstGeom>
          <a:solidFill>
            <a:srgbClr val="EAF1E6"/>
          </a:solidFill>
          <a:ln/>
        </p:spPr>
      </p:sp>
      <p:sp>
        <p:nvSpPr>
          <p:cNvPr id="7" name="Text 5"/>
          <p:cNvSpPr/>
          <p:nvPr/>
        </p:nvSpPr>
        <p:spPr>
          <a:xfrm>
            <a:off x="914400" y="1463040"/>
            <a:ext cx="10360152" cy="2651760"/>
          </a:xfrm>
          <a:prstGeom prst="rect">
            <a:avLst/>
          </a:prstGeom>
          <a:noFill/>
          <a:ln/>
        </p:spPr>
        <p:txBody>
          <a:bodyPr wrap="square" lIns="0" tIns="0" rIns="0" bIns="0" rtlCol="0" anchor="ctr"/>
          <a:lstStyle/>
          <a:p>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The subject presented in this book seems to me to be of paramount importance to those afflicted with alcoholic addiction.</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say this after many years’ experience as Medical Director of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of the oldest hospitals in the country treating alcoholic and drug addiction</a:t>
            </a:r>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There was, therefore, a sense of real satisfaction when I was asked to contribute a few words on a subject which is covered in such masterly detail in these pages.</a:t>
            </a:r>
            <a:endParaRPr lang="en-US" sz="1900" dirty="0"/>
          </a:p>
        </p:txBody>
      </p:sp>
      <p:sp>
        <p:nvSpPr>
          <p:cNvPr id="8" name="Shape 6"/>
          <p:cNvSpPr/>
          <p:nvPr/>
        </p:nvSpPr>
        <p:spPr>
          <a:xfrm>
            <a:off x="548640" y="4389120"/>
            <a:ext cx="11091672" cy="960120"/>
          </a:xfrm>
          <a:prstGeom prst="roundRect">
            <a:avLst>
              <a:gd name="adj" fmla="val 7619"/>
            </a:avLst>
          </a:prstGeom>
          <a:solidFill>
            <a:srgbClr val="1B2A41"/>
          </a:solidFill>
          <a:ln/>
        </p:spPr>
      </p:sp>
      <p:sp>
        <p:nvSpPr>
          <p:cNvPr id="9" name="Text 7"/>
          <p:cNvSpPr/>
          <p:nvPr/>
        </p:nvSpPr>
        <p:spPr>
          <a:xfrm>
            <a:off x="914400" y="45079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78231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Towns Hospital, New York City.</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Beyond Our Conception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doctors have realized.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645920"/>
            <a:ext cx="11091672" cy="1463040"/>
          </a:xfrm>
          <a:prstGeom prst="roundRect">
            <a:avLst>
              <a:gd name="adj" fmla="val 5000"/>
            </a:avLst>
          </a:prstGeom>
          <a:solidFill>
            <a:srgbClr val="EAF1E6"/>
          </a:solidFill>
          <a:ln/>
        </p:spPr>
      </p:sp>
      <p:sp>
        <p:nvSpPr>
          <p:cNvPr id="7" name="Text 5"/>
          <p:cNvSpPr/>
          <p:nvPr/>
        </p:nvSpPr>
        <p:spPr>
          <a:xfrm>
            <a:off x="914400" y="164592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We doctors have realized for a long time that some form of </a:t>
            </a:r>
            <a:pPr indent="0" marL="0">
              <a:lnSpc>
                <a:spcPct val="115000"/>
              </a:lnSpc>
              <a:buNone/>
            </a:pPr>
            <a:r>
              <a:rPr lang="en-US" sz="2100" b="1" dirty="0">
                <a:solidFill>
                  <a:srgbClr val="2C5F2D"/>
                </a:solidFill>
                <a:latin typeface="Calibri" pitchFamily="34" charset="0"/>
                <a:ea typeface="Calibri" pitchFamily="34" charset="-122"/>
                <a:cs typeface="Calibri" pitchFamily="34" charset="-120"/>
              </a:rPr>
              <a:t>moral psychology</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was of urgent importance to alcoholics, but its application presented difficulties beyond our conception.</a:t>
            </a:r>
            <a:endParaRPr lang="en-US" sz="2100" dirty="0"/>
          </a:p>
        </p:txBody>
      </p:sp>
      <p:sp>
        <p:nvSpPr>
          <p:cNvPr id="8" name="Shape 6"/>
          <p:cNvSpPr/>
          <p:nvPr/>
        </p:nvSpPr>
        <p:spPr>
          <a:xfrm>
            <a:off x="548640" y="3383280"/>
            <a:ext cx="11091672" cy="1463040"/>
          </a:xfrm>
          <a:prstGeom prst="roundRect">
            <a:avLst>
              <a:gd name="adj" fmla="val 5000"/>
            </a:avLst>
          </a:prstGeom>
          <a:solidFill>
            <a:srgbClr val="EAF1E6"/>
          </a:solidFill>
          <a:ln/>
        </p:spPr>
      </p:sp>
      <p:sp>
        <p:nvSpPr>
          <p:cNvPr id="9" name="Text 7"/>
          <p:cNvSpPr/>
          <p:nvPr/>
        </p:nvSpPr>
        <p:spPr>
          <a:xfrm>
            <a:off x="914400" y="338328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What with our ultra-modern standards, our scientific approach to everything, we are perhaps not well equipped to apply the powers of good that lie outside our synthetic knowledge.</a:t>
            </a:r>
            <a:endParaRPr lang="en-US" sz="21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of the Leading Contributors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Came under our care in this hospital.</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554480"/>
            <a:ext cx="11091672" cy="1737360"/>
          </a:xfrm>
          <a:prstGeom prst="roundRect">
            <a:avLst>
              <a:gd name="adj" fmla="val 4211"/>
            </a:avLst>
          </a:prstGeom>
          <a:solidFill>
            <a:srgbClr val="EAF1E6"/>
          </a:solidFill>
          <a:ln/>
        </p:spPr>
      </p:sp>
      <p:sp>
        <p:nvSpPr>
          <p:cNvPr id="7" name="Text 5"/>
          <p:cNvSpPr/>
          <p:nvPr/>
        </p:nvSpPr>
        <p:spPr>
          <a:xfrm>
            <a:off x="914400" y="1554480"/>
            <a:ext cx="10360152" cy="173736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Many years ago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one of the leading contributors to this book</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came under our care in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this hospital</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and while here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he</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acquired some ideas which he put into practical application at once.</a:t>
            </a:r>
            <a:endParaRPr lang="en-US" sz="2200" dirty="0"/>
          </a:p>
        </p:txBody>
      </p:sp>
      <p:sp>
        <p:nvSpPr>
          <p:cNvPr id="8" name="Shape 6"/>
          <p:cNvSpPr/>
          <p:nvPr/>
        </p:nvSpPr>
        <p:spPr>
          <a:xfrm>
            <a:off x="548640" y="3566160"/>
            <a:ext cx="5440680" cy="1554480"/>
          </a:xfrm>
          <a:prstGeom prst="roundRect">
            <a:avLst>
              <a:gd name="adj" fmla="val 4706"/>
            </a:avLst>
          </a:prstGeom>
          <a:solidFill>
            <a:srgbClr val="1B2A41"/>
          </a:solidFill>
          <a:ln/>
        </p:spPr>
      </p:sp>
      <p:sp>
        <p:nvSpPr>
          <p:cNvPr id="9" name="Text 7"/>
          <p:cNvSpPr/>
          <p:nvPr/>
        </p:nvSpPr>
        <p:spPr>
          <a:xfrm>
            <a:off x="914400"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THIS HOSPITAL</a:t>
            </a:r>
            <a:endParaRPr lang="en-US" sz="1100" dirty="0"/>
          </a:p>
        </p:txBody>
      </p:sp>
      <p:sp>
        <p:nvSpPr>
          <p:cNvPr id="10" name="Text 8"/>
          <p:cNvSpPr/>
          <p:nvPr/>
        </p:nvSpPr>
        <p:spPr>
          <a:xfrm>
            <a:off x="914400"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Charles B. Towns Hospital</a:t>
            </a:r>
            <a:endParaRPr lang="en-US" sz="2400" dirty="0"/>
          </a:p>
        </p:txBody>
      </p:sp>
      <p:sp>
        <p:nvSpPr>
          <p:cNvPr id="11" name="Text 9"/>
          <p:cNvSpPr/>
          <p:nvPr/>
        </p:nvSpPr>
        <p:spPr>
          <a:xfrm>
            <a:off x="914400"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293 Central Park West, New York City.</a:t>
            </a:r>
            <a:endParaRPr lang="en-US" sz="1400" dirty="0"/>
          </a:p>
        </p:txBody>
      </p:sp>
      <p:sp>
        <p:nvSpPr>
          <p:cNvPr id="12" name="Shape 10"/>
          <p:cNvSpPr/>
          <p:nvPr/>
        </p:nvSpPr>
        <p:spPr>
          <a:xfrm>
            <a:off x="6199632" y="3566160"/>
            <a:ext cx="5440680" cy="1554480"/>
          </a:xfrm>
          <a:prstGeom prst="roundRect">
            <a:avLst>
              <a:gd name="adj" fmla="val 4706"/>
            </a:avLst>
          </a:prstGeom>
          <a:solidFill>
            <a:srgbClr val="1B2A41"/>
          </a:solidFill>
          <a:ln/>
        </p:spPr>
      </p:sp>
      <p:sp>
        <p:nvSpPr>
          <p:cNvPr id="13" name="Text 11"/>
          <p:cNvSpPr/>
          <p:nvPr/>
        </p:nvSpPr>
        <p:spPr>
          <a:xfrm>
            <a:off x="6565392"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HE</a:t>
            </a:r>
            <a:endParaRPr lang="en-US" sz="1100" dirty="0"/>
          </a:p>
        </p:txBody>
      </p:sp>
      <p:sp>
        <p:nvSpPr>
          <p:cNvPr id="14" name="Text 12"/>
          <p:cNvSpPr/>
          <p:nvPr/>
        </p:nvSpPr>
        <p:spPr>
          <a:xfrm>
            <a:off x="6565392"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Bill W.</a:t>
            </a:r>
            <a:endParaRPr lang="en-US" sz="2400" dirty="0"/>
          </a:p>
        </p:txBody>
      </p:sp>
      <p:sp>
        <p:nvSpPr>
          <p:cNvPr id="15" name="Text 13"/>
          <p:cNvSpPr/>
          <p:nvPr/>
        </p:nvSpPr>
        <p:spPr>
          <a:xfrm>
            <a:off x="6565392"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Admitted four times, 1933–34. Last drink 11 December 1934.</a:t>
            </a:r>
            <a:endParaRPr lang="en-US" sz="1400" dirty="0"/>
          </a:p>
        </p:txBody>
      </p:sp>
      <p:sp>
        <p:nvSpPr>
          <p:cNvPr id="16" name="Text 14"/>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7" name="Text 1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2026-08-04T23:24:01Z</dcterms:created>
  <dcterms:modified xsi:type="dcterms:W3CDTF">2026-08-04T23:24:01Z</dcterms:modified>
</cp:coreProperties>
</file>
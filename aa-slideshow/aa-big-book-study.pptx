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while people are settling in.
A.A.W.S. granted permission by email (Drew Deetz, Intellectual Property Administrator,
General Service Office) on the condition that this copyright notice is displayed when
A.A. literature is screen-shared during a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slide. The Big Book is built in three movements.
Doctor's Opinion + Bill's Story = Step 1. The Problem. We are powerless.
Chapters 2-4 = Step 2. The Solution. There is a Power.
Chapters 5-7 = Steps 3 through 12. The action necessary for recovery.
Chapters 8 and 9 speak to the family - read today as Al-Anon and Alateen.
The "MUSTS" exercise begins on page 142.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142. Start here with the newcomer - this is where we check him out.
Three questions, and they are not rhetorical:
1. Will he take every necessary step? Submit to anything? Stop drinking forever?
2. Or does he think he can get away with a few drinks later? Probe this one thoroughly.
3. He either can and will get well, or he will not. If not, why waste the time?
Note for the room: this passage sits in the chapter To Employers, but the test applies
to anyone carrying the message to a newcomer.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Preface, page vii. Why this book is the one we work from.
It is the basic text - that word is circled for a reason. The first portion, the part
that describes the recovery program, has been left largely untouched through three
revisions. The Doctor's Opinion is exactly as Dr. Silkworth wrote it in 1939.
So: this is a book for transferring knowledge. Not a memoir, not history. The directions
have not changed because they did not need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Foreword to the First Edition - the Foreword as it appeared in 1939.
Circled: one hundred men and women. That is who authored this book. The margin note
is fellowship history, not text from the book - the count was 87 and was raised to one
hundred by printing time.
Underlined: precisely how we have recovered. Precisely. Not roughly, not our impressions.
That is the main purpose of the book, stated on page ix before anything else.
And the promise that follows: no further authentication will be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here and tell the Roland story before reading on.
Roland Hazard - the chain starts with him. He goes to Carl Jung, is told his case is
hopeless short of a vital spiritual experience, finds the Oxford Groups, and carries it to
Ebby. Ebby is the alcoholic friend in this paragraph. Ebby carries it to the broker.
The broker is Bill W. The Akron physician is Dr. Bob. June 1935.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and every one of them ends up in the Twelve Steps.
Moral inventory - Step 4. Confession of personality defects - Step 5. Restitution to those
harmed - Steps 8 and 9. Helpfulness to others - Step 12. Dependence upon God - Steps 3 and 11.
He could not accept all of the Oxford Groups. He kept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had it backwards for six months. He worked hard on other alcoholics on the theory that
only an alcoholic could help an alcoholic - and all it did was keep him sober. Which,
it turns out, was the point.
Akron. Business venture collapsed. Afraid he is going to drink. And what he realizes is
not that he needs a meeting or a drink or a plan - he must carry the message to another
alcoholic in order to save himself.
That alcoholic turned out to be Dr. Bob.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are numbered in the book for a reason. Everything A.A. does rests on them.
One: an alcoholic reaches another alcoholic in a way that no nonalcoholic can. Not a
doctor, not a preacher, not a spouse. That is why we have sponsors.
Two: strenuous work, one alcoholic with another. Strenuous. Not casual, not when it is
convenient. Vital to permanent recovery - vital meaning you do not live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man they worked on. A desperate case, in a bed at Akron City Hospital, summer 1935.
He recovered immediately and never had another drink.
Bill D. - A.A. number three. The man in the photograph.
Two men who could not stay sober alone stayed sober by working on a third.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this paragraph is a question, and every one of them got answered the hard way.
Quarrels over membership, leadership, money. Strivings for power and prestige. Schisms.
A.A. had all of it.
What came out of it was the Twelve Traditions - and the conviction underneath them:
hang together or die separately.
Note the order of events. The book came first, in 1939. The Fellowship took its name
from the book, not the other way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principal reasons the public came around: recoveries, and reunited homes. Not
advertising. Not argument. Results people could see in their own neighborhoods.
Watch the qualifier - came to A.A. and really tried. The numbers are attached to that
phrase, not to attendance.
And the last line is the one to sit on: of the thousands who came, decided they did not
want it, and left - about two out of three came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paragraph for the person sitting in the back who has been told all his life
that A.A. is a religion, or a cult, or a hospital program.
Not a religious organization. No particular medical point of view. We cooperate with
both and we are neither.
Ninety words that have kept more newcomers in the room than any argument ever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figures are the margin note, not text from the book. Read them as such.
Look at the shape of it. New York, where Bill was, 450. Akron, where it started, 225.
Detroit, 175. Cleveland - 1,100. More than the other three put together.
Clarence Snyder started the Cleveland group in 1939, the first to call itself Alcoholics
Anonymous. Cleveland took newcomers straight through the book and built sponsorship
around it. That is fellowship history rather than book text, but the numbers are hard
to argue with.
They used the book. The numbers were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what is written under the title: just an opinion. The chapter is a doctor's letter,
not doctrine, and the book presents it that way.
But the disease idea did not start with A.A. Rush was writing about it in 1784, Trotter in
1804 - a hundred and fifty years before this book. Silkworth is standing on that.
Dates on this slide are the landmark publications. If you have a source for the 1776 and
1782 dates from the margin, use those instead.
And this chapter was page 1 in every first edition. It was moved to the front matter in the
second - which is how Bill's Story became page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of these are highlighted pink in the study copy - both are musts.
The first is about where the testimony has to come from. Not from us saying we feel better.
From medical men who watched us suffer and then watched us recover.
The second is Silkworth describing his patient. Rehabilitation was not finished when the man
stopped drinking. Part of it was carrying it to other alcoholics - and impressing on them
that they must do the same with still others.
That is the chain. It is in the doctor's letter before the book even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doctor who wrote this letter is the same Silkworth from the Foreword - the one the
book calls a medical saint, the one who told the broker the grave nature of alcoholism.
His name is on it now. It was not always. In the first editions the letter was signed
Anonymous, and the name was added later.
A doctor put his professional reputation behind a book written by drunks, in 1939, when
there was nothing to gain by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Body and mind. Both. That is the whole claim, and it is a must - what we who have
suffered alcoholic torture must believe.
Not a weak mind housed in a healthy body. Not a moral failure a person could think his
way out of. The body is as abnormal as the mind.
This is Step One territory. If only the mind were the problem, willpower would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is double-underlined in the study copy. Sit on that word.
They are not arguing that the psychological picture is wrong. Read it again - these things
were true to some extent, in fact to a considerable extent with some of us. Maladjusted,
in flight from reality, all of it. They grant it.
What they will not grant is that it is the whole story. Our bodies were sickened as well.
Any picture that leaves out the physical factor is incomplete. Incomplete, not wrong -
and an incomplete picture is what keeps a man trying to solve a physical problem with
resolutions.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Interests us. Not proves, not settles - interests. They are careful here.
As laymen our opinion means little. They say so themselves. But as ex-problem drinkers -
and that is the standing that counts in this room - the explanation makes good sense.
It explains many things for which we cannot otherwise account. That is the test they are
applying. Not is it proven, but does it account for what happened to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green arrow in the study copy starts here. This is the doctor speaking in his own
voice, and the first thing he does is establish standing.
The hospital is the Charles B. Towns Hospital, 293 Central Park West in Manhattan.
Silkworth was its medical director. That is where he saw thousands of alcoholics come
through, and it is where he met Bill.
Note his word for the book - masterly. A physician calling a book written by drunks
masterly, in 1939.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doctor admitting the limits of medicine. Read that second paragraph slowly.
They knew some form of moral psychology was urgently needed. They could not deliver it.
Its application presented difficulties beyond our conception.
And then he says why - our ultra-modern standards, our scientific approach to everything.
The training that makes a good physician is the same training that leaves him not well
equipped to apply powers of good outside his synthetic knowledge.
He is describing the gap that the Twelve Steps walked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Silkworth is being discreet. He does not name him. But everyone reading this in 1939 who
knew anything knew who it was.
One of the leading contributors to this book is Bill W. This hospital is Towns. Bill was
admitted four times between 1933 and 1934 - his last drink was 11 December 1934, and
three days later, still in that hospital, he had the experience he describes in his story.
The ideas he acquired came from Silkworth: the allergy, and the obsession. And he put them
into practical application at once - meaning he went out and started talking to other
alcoholics.
The doctor who explained the illness to him is the same doctor writing this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Craving in this book means the physical thing. Not wanting a drink - the body's reaction
once alcohol is in it.
And it is limited to this class. It never occurs in the average temperate drinker. That is
why the normal drinker cannot understand us and why his advice never helps.
Never safely use alcohol in any form at all. Not less. Not carefully. Not at all.
Then watch the order of the collapse: form the habit, cannot break it, lose self-confidence,
lose reliance upon things human. The problems pile up after that, not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Frothy emotional appeal seldom suffices. A doctor wrote that, about pep talks and
sentiment and getting people fired up. It does not hold.
Depth and weight. That is what he says the message needs, and it is why this book reads
the way it does rather than like a motivational pamphlet.
And there is Step Two, stated by a physician in the front matter: a power greater than
themselves. Re-create their lives - not improve, not manage. Re-create.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because of the wife, the job, the childhood. Because they like the effect. Start there.
Cannot differentiate the true from the false - he is describing a man who no longer knows
which of his own thoughts to trust.
Restless, irritable and discontented. Anyone who has been around a while can say that line
from memory, and it is in a doctor's letter before page 1.
And the last clause is the whole trouble: drinks which they see others taking with impunity.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SHEET here - that is the star in the margin.
Psychic change means a change in thinking. Circled three times on this page in the study
copy, so it is worth saying out loud: not mystical, not spooky. Thinking.
The cycle first: succumb, craving develops, the spree runs its stages, remorse, firm
resolution. Repeated over and over. Everyone in this room has run that lap.
The resolution is not the way out. An entire change in thinking is. And on the next page
Silkworth says that once it happens, the man who seemed doomed finds he can follow a few
simple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musts, and all three are the doctor admitting he is beaten.
First, the patient: I must stop, but I cannot. That sentence is Step One in a man's own
words, said to a doctor, years before there were Steps.
Second, the physician: if he is honest with himself, he must sometimes feel his own
inadequacy. He gives all that is in him and it often is not enough.
Third: we physicians must admit we have made little impression upon the problem as a whole.
That is the man who signed this letter, with a hospital and thousands of cases behind him,
saying medicine could not do it. Something more than human power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types, and the doctor is not being unkind about any of them. He is showing that the
illness does not care what sort of person you are.
Type I - over-remorseful, always going on the wagon for keeps. Many resolutions, but never
a decision. Sit on that difference.
Type II - unwilling to admit he cannot take a drink. Changes his brand, changes his
environment. Anything but the one admission.
Type III - believes that after enough time off he can drink safely again.
Type IV - the manic-depressive, least understood by his friends.
Type V - entirely normal in every respect except one. Able, intelligent, friendly people.
That one is on the list so nobody in the room gets to disqualify himself for looking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paragraph the margin marks IMPORTANT, and it is the one that ties the five
types together.
Whatever type a man is, one symptom is common to all of them: he cannot start drinking
without developing the phenomenon of craving. Cannot start.
Sets them apart as a distinct entity - not worse people, a different category.
Never permanently eradicated, by any treatment he knows of. That word is doing a lot of
work. Not cured. Arrested, at best.
So the only relief he has to suggest is entire abstinence - double underlined in the study
copy. Entire. Not moderation, not management. And relief, not 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of the letter, and he is still being careful. He does not promise. He advises.
Came to scoff, may remain to pray. He knows exactly who is picking up this book and in
what frame of mind.
NOTE: this slide was built from dictation, not from a photograph of the page. Check the
wording and add the page number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instructions before we read a word of it.
Identify, do not compare. The moment you start measuring your drinking against Bill's,
you are looking for a reason this does not apply to you.
And the bottom. We say it constantly - he had to hit bottom. The only true bottom is
death. Everything above that is a level, and every level has a door out of it.
Watch for those levels as we read. They are marked all the way down this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all of this one - the arrow in the margin says so.
The epitaph is real, from Winchester Cathedral. Pot means a drinking vessel, a pail.
A soldier who survived the muskets and died of the drink.
Bill reads his own obituary on a tombstone at twenty-two and calls it an ominous warning
he failed to heed. Then in the very next breath: leader, special token of appreciation,
vast enterprises, utmost assurance.
The warning and the ego, back to back, in one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 drunk to think or write at a final - and he nearly failed the course he was paying for
with the job that drinking would eventually cost him.
And then the excuse, which is the part to sit on: men of genius conceived their best
projects when drunk. He is not lying to her. He believes it.
Everyone in this room has had a version of that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Quitting the law after finishing the course - that is a level. Not a catastrophe yet.
Just a man walking away from the thing he trained for.
The boomerang is his own image for it, written years later. Drink and speculation, alloyed
into a weapon that comes back around.
A thousand dollars in the early twenties was a year's income for a lot of people. And the
idea nobody would fund - going out to look at the factories himself - is the one he was
right about. He was among the first to write what we would now call a prospectus.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words: I had arrived. That is the top of the arc, and the book gives it its own
sentence for a reason.
Then read the levels coming down off it. All day and almost every night. Kept out of the
scrapes only by being too drunk for them - and notice he counts that as loyalty.
Jittery in the morning. That is the body speaking now, not the ego.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 are going out of windows and his reaction is disgust - and then the bar. He notices
the insanity in other people and walks straight into his own.
Montreal is the next level: somebody else still has money, so go there.
And when that ends, they move in with his wife's parents. Sponging off family. Nobody
calls it that at the time. It is always temporary, always somebody being generous.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Luxury to necessity. One clause, and a whole line has been crossed.
Control is double-underlined here, the same as on page xxii where the book says we could
not control our drinking. Same word, both places.
And notice what keeps the thing alive: periods of sobriety which renewed my wife's hope.
The dry stretches are not evidence of control. They are what makes everyone keep believing.
Gradually things got worse. Gradually. Nobody sees it happening, which is the note in the
margin - blinded to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will power level, and it is the honest one. He is not lying, he is not
half-hearted, he is not making a sweet promise. He means it, and his wife can tell the
difference. And so I did - he actually stopped.
Then: shortly afterward I came home drunk. There had been no fight.
No fight. No reason. No trigger to point at. That is the whole argument for the physical
factor, told as a story instead of a theory.
Was I crazy? He underlines it. He is asking the question the Doctor's Opinion already
answered - the body is as abnormal as the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22960" y="914400"/>
            <a:ext cx="10543032"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The Big Book Study</a:t>
            </a:r>
            <a:endParaRPr lang="en-US" sz="4400" dirty="0"/>
          </a:p>
        </p:txBody>
      </p:sp>
      <p:sp>
        <p:nvSpPr>
          <p:cNvPr id="3" name="Text 1"/>
          <p:cNvSpPr/>
          <p:nvPr/>
        </p:nvSpPr>
        <p:spPr>
          <a:xfrm>
            <a:off x="822960" y="1737360"/>
            <a:ext cx="10543032" cy="365760"/>
          </a:xfrm>
          <a:prstGeom prst="rect">
            <a:avLst/>
          </a:prstGeom>
          <a:noFill/>
          <a:ln/>
        </p:spPr>
        <p:txBody>
          <a:bodyPr wrap="square" lIns="0" tIns="0" rIns="0" bIns="0" rtlCol="0" anchor="ctr"/>
          <a:lstStyle/>
          <a:p>
            <a:pPr indent="0" marL="0">
              <a:buNone/>
            </a:pPr>
            <a:r>
              <a:rPr lang="en-US" sz="1800" spc="200" kern="0" dirty="0">
                <a:solidFill>
                  <a:srgbClr val="A9B8CC"/>
                </a:solidFill>
                <a:latin typeface="Calibri" pitchFamily="34" charset="0"/>
                <a:ea typeface="Calibri" pitchFamily="34" charset="-122"/>
                <a:cs typeface="Calibri" pitchFamily="34" charset="-120"/>
              </a:rPr>
              <a:t>Alcoholics Anonymous   ·   Fourth Edition</a:t>
            </a:r>
            <a:endParaRPr lang="en-US" sz="1800" dirty="0"/>
          </a:p>
        </p:txBody>
      </p:sp>
      <p:sp>
        <p:nvSpPr>
          <p:cNvPr id="4" name="Shape 2"/>
          <p:cNvSpPr/>
          <p:nvPr/>
        </p:nvSpPr>
        <p:spPr>
          <a:xfrm>
            <a:off x="822960" y="2651760"/>
            <a:ext cx="10543032" cy="2011680"/>
          </a:xfrm>
          <a:prstGeom prst="roundRect">
            <a:avLst>
              <a:gd name="adj" fmla="val 4545"/>
            </a:avLst>
          </a:prstGeom>
          <a:solidFill>
            <a:srgbClr val="FFFFFF"/>
          </a:solidFill>
          <a:ln/>
        </p:spPr>
      </p:sp>
      <p:sp>
        <p:nvSpPr>
          <p:cNvPr id="5" name="Text 3"/>
          <p:cNvSpPr/>
          <p:nvPr/>
        </p:nvSpPr>
        <p:spPr>
          <a:xfrm>
            <a:off x="1115568" y="2788920"/>
            <a:ext cx="9966960" cy="292608"/>
          </a:xfrm>
          <a:prstGeom prst="rect">
            <a:avLst/>
          </a:prstGeom>
          <a:noFill/>
          <a:ln/>
        </p:spPr>
        <p:txBody>
          <a:bodyPr wrap="square" lIns="0" tIns="0" rIns="0" bIns="0" rtlCol="0" anchor="ctr"/>
          <a:lstStyle/>
          <a:p>
            <a:pPr indent="0" marL="0">
              <a:buNone/>
            </a:pPr>
            <a:r>
              <a:rPr lang="en-US" sz="1200" b="1" spc="200" kern="0" dirty="0">
                <a:solidFill>
                  <a:srgbClr val="9E1B60"/>
                </a:solidFill>
                <a:latin typeface="Calibri" pitchFamily="34" charset="0"/>
                <a:ea typeface="Calibri" pitchFamily="34" charset="-122"/>
                <a:cs typeface="Calibri" pitchFamily="34" charset="-120"/>
              </a:rPr>
              <a:t>COPYRIGHT NOTICE</a:t>
            </a:r>
            <a:endParaRPr lang="en-US" sz="1200" dirty="0"/>
          </a:p>
        </p:txBody>
      </p:sp>
      <p:sp>
        <p:nvSpPr>
          <p:cNvPr id="6" name="Text 4"/>
          <p:cNvSpPr/>
          <p:nvPr/>
        </p:nvSpPr>
        <p:spPr>
          <a:xfrm>
            <a:off x="1115568" y="3127248"/>
            <a:ext cx="9966960" cy="1371600"/>
          </a:xfrm>
          <a:prstGeom prst="rect">
            <a:avLst/>
          </a:prstGeom>
          <a:noFill/>
          <a:ln/>
        </p:spPr>
        <p:txBody>
          <a:bodyPr wrap="square" lIns="0" tIns="0" rIns="0" bIns="0" rtlCol="0" anchor="t"/>
          <a:lstStyle/>
          <a:p>
            <a:pPr indent="0" marL="0">
              <a:lnSpc>
                <a:spcPct val="120000"/>
              </a:lnSpc>
              <a:buNone/>
            </a:pPr>
            <a:r>
              <a:rPr lang="en-US" sz="1700" i="1" dirty="0">
                <a:solidFill>
                  <a:srgbClr val="1B2A41"/>
                </a:solidFill>
                <a:latin typeface="Calibri" pitchFamily="34" charset="0"/>
                <a:ea typeface="Calibri" pitchFamily="34" charset="-122"/>
                <a:cs typeface="Calibri" pitchFamily="34" charset="-120"/>
              </a:rPr>
              <a:t>“These materials are copyright © by Alcoholics Anonymous World Services, Inc. ("A.A.W.S."). All rights reserved. Individual printing or photocopying of a single copy is permitted. Intended for personal use only, and not to be reproduced further or distributed for resale.”</a:t>
            </a:r>
            <a:endParaRPr lang="en-US" sz="1700" dirty="0"/>
          </a:p>
        </p:txBody>
      </p:sp>
      <p:sp>
        <p:nvSpPr>
          <p:cNvPr id="7" name="Text 5"/>
          <p:cNvSpPr/>
          <p:nvPr/>
        </p:nvSpPr>
        <p:spPr>
          <a:xfrm>
            <a:off x="822960" y="4892040"/>
            <a:ext cx="10543032" cy="731520"/>
          </a:xfrm>
          <a:prstGeom prst="rect">
            <a:avLst/>
          </a:prstGeom>
          <a:noFill/>
          <a:ln/>
        </p:spPr>
        <p:txBody>
          <a:bodyPr wrap="square" lIns="0" tIns="0" rIns="0" bIns="0" rtlCol="0" anchor="t"/>
          <a:lstStyle/>
          <a:p>
            <a:pPr indent="0" marL="0">
              <a:lnSpc>
                <a:spcPct val="120000"/>
              </a:lnSpc>
              <a:buNone/>
            </a:pPr>
            <a:r>
              <a:rPr lang="en-US" sz="1300" dirty="0">
                <a:solidFill>
                  <a:srgbClr val="A9B8CC"/>
                </a:solidFill>
                <a:latin typeface="Calibri" pitchFamily="34" charset="0"/>
                <a:ea typeface="Calibri" pitchFamily="34" charset="-122"/>
                <a:cs typeface="Calibri" pitchFamily="34" charset="-120"/>
              </a:rPr>
              <a:t>Displayed at the request of A.A. World Services, Inc. A.A.W.S. has advised that it has no objection to screen-sharing A.A. literature from aa.org or from authorized e-books during an A.A. meeting, provided this notice is also displayed.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223760" cy="566928"/>
          </a:xfrm>
          <a:prstGeom prst="rect">
            <a:avLst/>
          </a:prstGeom>
          <a:noFill/>
          <a:ln/>
        </p:spPr>
        <p:txBody>
          <a:bodyPr wrap="square" lIns="0" tIns="0" rIns="0" bIns="0" rtlCol="0" anchor="ctr"/>
          <a:lstStyle/>
          <a:p>
            <a:pPr indent="0" marL="0">
              <a:buNone/>
            </a:pPr>
            <a:r>
              <a:rPr lang="en-US" sz="4000" b="1" dirty="0">
                <a:solidFill>
                  <a:srgbClr val="1B2A41"/>
                </a:solidFill>
                <a:latin typeface="Cambria" pitchFamily="34" charset="0"/>
                <a:ea typeface="Cambria" pitchFamily="34" charset="-122"/>
                <a:cs typeface="Cambria" pitchFamily="34" charset="-120"/>
              </a:rPr>
              <a:t>The Big Book</a:t>
            </a:r>
            <a:endParaRPr lang="en-US" sz="4000" dirty="0"/>
          </a:p>
        </p:txBody>
      </p:sp>
      <p:sp>
        <p:nvSpPr>
          <p:cNvPr id="3" name="Text 1"/>
          <p:cNvSpPr/>
          <p:nvPr/>
        </p:nvSpPr>
        <p:spPr>
          <a:xfrm>
            <a:off x="548640" y="914400"/>
            <a:ext cx="7223760" cy="347472"/>
          </a:xfrm>
          <a:prstGeom prst="rect">
            <a:avLst/>
          </a:prstGeom>
          <a:noFill/>
          <a:ln/>
        </p:spPr>
        <p:txBody>
          <a:bodyPr wrap="square" lIns="0" tIns="0" rIns="0" bIns="0" rtlCol="0" anchor="ctr"/>
          <a:lstStyle/>
          <a:p>
            <a:pPr indent="0" marL="0">
              <a:buNone/>
            </a:pPr>
            <a:r>
              <a:rPr lang="en-US" sz="1700" spc="200" kern="0" dirty="0">
                <a:solidFill>
                  <a:srgbClr val="6B7A8C"/>
                </a:solidFill>
                <a:latin typeface="Calibri" pitchFamily="34" charset="0"/>
                <a:ea typeface="Calibri" pitchFamily="34" charset="-122"/>
                <a:cs typeface="Calibri" pitchFamily="34" charset="-120"/>
              </a:rPr>
              <a:t>Problem   ·   Solution   ·   Action</a:t>
            </a:r>
            <a:endParaRPr lang="en-US" sz="1700" dirty="0"/>
          </a:p>
        </p:txBody>
      </p:sp>
      <p:sp>
        <p:nvSpPr>
          <p:cNvPr id="4" name="Shape 2"/>
          <p:cNvSpPr/>
          <p:nvPr/>
        </p:nvSpPr>
        <p:spPr>
          <a:xfrm>
            <a:off x="8138160" y="320040"/>
            <a:ext cx="3502152" cy="960120"/>
          </a:xfrm>
          <a:prstGeom prst="roundRect">
            <a:avLst>
              <a:gd name="adj" fmla="val 9524"/>
            </a:avLst>
          </a:prstGeom>
          <a:solidFill>
            <a:srgbClr val="9E1B60"/>
          </a:solidFill>
          <a:ln/>
        </p:spPr>
      </p:sp>
      <p:sp>
        <p:nvSpPr>
          <p:cNvPr id="5" name="Text 3"/>
          <p:cNvSpPr/>
          <p:nvPr/>
        </p:nvSpPr>
        <p:spPr>
          <a:xfrm>
            <a:off x="8138160" y="320040"/>
            <a:ext cx="3502152" cy="9601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The “MUSTS”</a:t>
            </a:r>
            <a:endParaRPr lang="en-US" sz="1900" dirty="0"/>
          </a:p>
          <a:p>
            <a:pPr algn="ctr" indent="0" marL="0">
              <a:buNone/>
            </a:pPr>
            <a:r>
              <a:rPr lang="en-US" sz="1400" dirty="0">
                <a:solidFill>
                  <a:srgbClr val="F7D9E8"/>
                </a:solidFill>
                <a:latin typeface="Calibri" pitchFamily="34" charset="0"/>
                <a:ea typeface="Calibri" pitchFamily="34" charset="-122"/>
                <a:cs typeface="Calibri" pitchFamily="34" charset="-120"/>
              </a:rPr>
              <a:t>Start on page 142</a:t>
            </a:r>
            <a:endParaRPr lang="en-US" sz="1900" dirty="0"/>
          </a:p>
        </p:txBody>
      </p:sp>
      <p:sp>
        <p:nvSpPr>
          <p:cNvPr id="6" name="Shape 4"/>
          <p:cNvSpPr/>
          <p:nvPr/>
        </p:nvSpPr>
        <p:spPr>
          <a:xfrm>
            <a:off x="548640" y="1371600"/>
            <a:ext cx="11091672" cy="1051560"/>
          </a:xfrm>
          <a:prstGeom prst="roundRect">
            <a:avLst>
              <a:gd name="adj" fmla="val 6957"/>
            </a:avLst>
          </a:prstGeom>
          <a:solidFill>
            <a:srgbClr val="EAF1E6"/>
          </a:solidFill>
          <a:ln/>
        </p:spPr>
      </p:sp>
      <p:sp>
        <p:nvSpPr>
          <p:cNvPr id="7" name="Shape 5"/>
          <p:cNvSpPr/>
          <p:nvPr/>
        </p:nvSpPr>
        <p:spPr>
          <a:xfrm>
            <a:off x="548640" y="1371600"/>
            <a:ext cx="3017520" cy="1051560"/>
          </a:xfrm>
          <a:prstGeom prst="roundRect">
            <a:avLst>
              <a:gd name="adj" fmla="val 6957"/>
            </a:avLst>
          </a:prstGeom>
          <a:solidFill>
            <a:srgbClr val="2C5F2D"/>
          </a:solidFill>
          <a:ln/>
        </p:spPr>
      </p:sp>
      <p:sp>
        <p:nvSpPr>
          <p:cNvPr id="8" name="Text 6"/>
          <p:cNvSpPr/>
          <p:nvPr/>
        </p:nvSpPr>
        <p:spPr>
          <a:xfrm>
            <a:off x="777240" y="1371600"/>
            <a:ext cx="2560320" cy="1051560"/>
          </a:xfrm>
          <a:prstGeom prst="rect">
            <a:avLst/>
          </a:prstGeom>
          <a:noFill/>
          <a:ln/>
        </p:spPr>
        <p:txBody>
          <a:bodyPr wrap="square" lIns="0" tIns="0" rIns="0" bIns="0" rtlCol="0" anchor="ctr"/>
          <a:lstStyle/>
          <a:p>
            <a:pPr indent="0" marL="0">
              <a:lnSpc>
                <a:spcPct val="115000"/>
              </a:lnSpc>
              <a:buNone/>
            </a:pPr>
            <a:r>
              <a:rPr lang="en-US" sz="2100" b="1" dirty="0">
                <a:solidFill>
                  <a:srgbClr val="FFFFFF"/>
                </a:solidFill>
                <a:latin typeface="Cambria" pitchFamily="34" charset="0"/>
                <a:ea typeface="Cambria" pitchFamily="34" charset="-122"/>
                <a:cs typeface="Cambria" pitchFamily="34" charset="-120"/>
              </a:rPr>
              <a:t>STEP 1</a:t>
            </a:r>
            <a:endParaRPr lang="en-US" sz="2100" dirty="0"/>
          </a:p>
          <a:p>
            <a:pPr indent="0" marL="0">
              <a:lnSpc>
                <a:spcPct val="115000"/>
              </a:lnSpc>
              <a:buNone/>
            </a:pPr>
            <a:r>
              <a:rPr lang="en-US" sz="1350" b="1" dirty="0">
                <a:solidFill>
                  <a:srgbClr val="FFFFFF"/>
                </a:solidFill>
                <a:latin typeface="Calibri" pitchFamily="34" charset="0"/>
                <a:ea typeface="Calibri" pitchFamily="34" charset="-122"/>
                <a:cs typeface="Calibri" pitchFamily="34" charset="-120"/>
              </a:rPr>
              <a:t>Problem  ·  Powerless</a:t>
            </a:r>
            <a:endParaRPr lang="en-US" sz="2100" dirty="0"/>
          </a:p>
        </p:txBody>
      </p:sp>
      <p:sp>
        <p:nvSpPr>
          <p:cNvPr id="9" name="Text 7"/>
          <p:cNvSpPr/>
          <p:nvPr/>
        </p:nvSpPr>
        <p:spPr>
          <a:xfrm>
            <a:off x="3794760" y="1549908"/>
            <a:ext cx="457200" cy="329184"/>
          </a:xfrm>
          <a:prstGeom prst="rect">
            <a:avLst/>
          </a:prstGeom>
          <a:noFill/>
          <a:ln/>
        </p:spPr>
        <p:txBody>
          <a:bodyPr wrap="square" lIns="0" tIns="0" rIns="0" bIns="0" rtlCol="0" anchor="ctr"/>
          <a:lstStyle/>
          <a:p>
            <a:pPr algn="r" indent="0" marL="0">
              <a:buNone/>
            </a:pPr>
            <a:endParaRPr lang="en-US" sz="1500" dirty="0"/>
          </a:p>
        </p:txBody>
      </p:sp>
      <p:sp>
        <p:nvSpPr>
          <p:cNvPr id="10" name="Text 8"/>
          <p:cNvSpPr/>
          <p:nvPr/>
        </p:nvSpPr>
        <p:spPr>
          <a:xfrm>
            <a:off x="4370832" y="1549908"/>
            <a:ext cx="5669280" cy="329184"/>
          </a:xfrm>
          <a:prstGeom prst="rect">
            <a:avLst/>
          </a:prstGeom>
          <a:noFill/>
          <a:ln/>
        </p:spPr>
        <p:txBody>
          <a:bodyPr wrap="square" lIns="0" tIns="0" rIns="0" bIns="0" rtlCol="0" anchor="ctr"/>
          <a:lstStyle/>
          <a:p>
            <a:pPr indent="0" marL="0">
              <a:buNone/>
            </a:pPr>
            <a:r>
              <a:rPr lang="en-US" sz="1700" dirty="0">
                <a:solidFill>
                  <a:srgbClr val="1B2A41"/>
                </a:solidFill>
                <a:latin typeface="Calibri" pitchFamily="34" charset="0"/>
                <a:ea typeface="Calibri" pitchFamily="34" charset="-122"/>
                <a:cs typeface="Calibri" pitchFamily="34" charset="-120"/>
              </a:rPr>
              <a:t>The Doctor’s Opinion</a:t>
            </a:r>
            <a:endParaRPr lang="en-US" sz="1700" dirty="0"/>
          </a:p>
        </p:txBody>
      </p:sp>
      <p:sp>
        <p:nvSpPr>
          <p:cNvPr id="11" name="Text 9"/>
          <p:cNvSpPr/>
          <p:nvPr/>
        </p:nvSpPr>
        <p:spPr>
          <a:xfrm>
            <a:off x="10195560" y="1549908"/>
            <a:ext cx="1280160" cy="329184"/>
          </a:xfrm>
          <a:prstGeom prst="rect">
            <a:avLst/>
          </a:prstGeom>
          <a:noFill/>
          <a:ln/>
        </p:spPr>
        <p:txBody>
          <a:bodyPr wrap="square" lIns="0" tIns="0" rIns="0" bIns="0" rtlCol="0" anchor="ctr"/>
          <a:lstStyle/>
          <a:p>
            <a:pPr algn="r" indent="0" marL="0">
              <a:buNone/>
            </a:pPr>
            <a:r>
              <a:rPr lang="en-US" sz="1400" dirty="0">
                <a:solidFill>
                  <a:srgbClr val="6B7A8C"/>
                </a:solidFill>
                <a:latin typeface="Calibri" pitchFamily="34" charset="0"/>
                <a:ea typeface="Calibri" pitchFamily="34" charset="-122"/>
                <a:cs typeface="Calibri" pitchFamily="34" charset="-120"/>
              </a:rPr>
              <a:t>p. xxi</a:t>
            </a:r>
            <a:endParaRPr lang="en-US" sz="1400" dirty="0"/>
          </a:p>
        </p:txBody>
      </p:sp>
      <p:sp>
        <p:nvSpPr>
          <p:cNvPr id="12" name="Text 10"/>
          <p:cNvSpPr/>
          <p:nvPr/>
        </p:nvSpPr>
        <p:spPr>
          <a:xfrm>
            <a:off x="3794760" y="1915668"/>
            <a:ext cx="457200" cy="329184"/>
          </a:xfrm>
          <a:prstGeom prst="rect">
            <a:avLst/>
          </a:prstGeom>
          <a:noFill/>
          <a:ln/>
        </p:spPr>
        <p:txBody>
          <a:bodyPr wrap="square" lIns="0" tIns="0" rIns="0" bIns="0" rtlCol="0" anchor="ctr"/>
          <a:lstStyle/>
          <a:p>
            <a:pPr algn="r" indent="0" marL="0">
              <a:buNone/>
            </a:pPr>
            <a:r>
              <a:rPr lang="en-US" sz="1500" b="1" dirty="0">
                <a:solidFill>
                  <a:srgbClr val="2C5F2D"/>
                </a:solidFill>
                <a:latin typeface="Calibri" pitchFamily="34" charset="0"/>
                <a:ea typeface="Calibri" pitchFamily="34" charset="-122"/>
                <a:cs typeface="Calibri" pitchFamily="34" charset="-120"/>
              </a:rPr>
              <a:t>1</a:t>
            </a:r>
            <a:endParaRPr lang="en-US" sz="1500" dirty="0"/>
          </a:p>
        </p:txBody>
      </p:sp>
      <p:sp>
        <p:nvSpPr>
          <p:cNvPr id="13" name="Text 11"/>
          <p:cNvSpPr/>
          <p:nvPr/>
        </p:nvSpPr>
        <p:spPr>
          <a:xfrm>
            <a:off x="4370832" y="1915668"/>
            <a:ext cx="5669280" cy="329184"/>
          </a:xfrm>
          <a:prstGeom prst="rect">
            <a:avLst/>
          </a:prstGeom>
          <a:noFill/>
          <a:ln/>
        </p:spPr>
        <p:txBody>
          <a:bodyPr wrap="square" lIns="0" tIns="0" rIns="0" bIns="0" rtlCol="0" anchor="ctr"/>
          <a:lstStyle/>
          <a:p>
            <a:pPr indent="0" marL="0">
              <a:buNone/>
            </a:pPr>
            <a:r>
              <a:rPr lang="en-US" sz="1700" dirty="0">
                <a:solidFill>
                  <a:srgbClr val="1B2A41"/>
                </a:solidFill>
                <a:latin typeface="Calibri" pitchFamily="34" charset="0"/>
                <a:ea typeface="Calibri" pitchFamily="34" charset="-122"/>
                <a:cs typeface="Calibri" pitchFamily="34" charset="-120"/>
              </a:rPr>
              <a:t>Bill’s Story</a:t>
            </a:r>
            <a:endParaRPr lang="en-US" sz="1700" dirty="0"/>
          </a:p>
        </p:txBody>
      </p:sp>
      <p:sp>
        <p:nvSpPr>
          <p:cNvPr id="14" name="Text 12"/>
          <p:cNvSpPr/>
          <p:nvPr/>
        </p:nvSpPr>
        <p:spPr>
          <a:xfrm>
            <a:off x="10195560" y="1915668"/>
            <a:ext cx="1280160" cy="329184"/>
          </a:xfrm>
          <a:prstGeom prst="rect">
            <a:avLst/>
          </a:prstGeom>
          <a:noFill/>
          <a:ln/>
        </p:spPr>
        <p:txBody>
          <a:bodyPr wrap="square" lIns="0" tIns="0" rIns="0" bIns="0" rtlCol="0" anchor="ctr"/>
          <a:lstStyle/>
          <a:p>
            <a:pPr algn="r" indent="0" marL="0">
              <a:buNone/>
            </a:pPr>
            <a:r>
              <a:rPr lang="en-US" sz="1400" dirty="0">
                <a:solidFill>
                  <a:srgbClr val="6B7A8C"/>
                </a:solidFill>
                <a:latin typeface="Calibri" pitchFamily="34" charset="0"/>
                <a:ea typeface="Calibri" pitchFamily="34" charset="-122"/>
                <a:cs typeface="Calibri" pitchFamily="34" charset="-120"/>
              </a:rPr>
              <a:t>p. 1</a:t>
            </a:r>
            <a:endParaRPr lang="en-US" sz="1400" dirty="0"/>
          </a:p>
        </p:txBody>
      </p:sp>
      <p:sp>
        <p:nvSpPr>
          <p:cNvPr id="15" name="Shape 13"/>
          <p:cNvSpPr/>
          <p:nvPr/>
        </p:nvSpPr>
        <p:spPr>
          <a:xfrm>
            <a:off x="548640" y="2560320"/>
            <a:ext cx="11091672" cy="1325880"/>
          </a:xfrm>
          <a:prstGeom prst="roundRect">
            <a:avLst>
              <a:gd name="adj" fmla="val 5517"/>
            </a:avLst>
          </a:prstGeom>
          <a:solidFill>
            <a:srgbClr val="E2EDF4"/>
          </a:solidFill>
          <a:ln/>
        </p:spPr>
      </p:sp>
      <p:sp>
        <p:nvSpPr>
          <p:cNvPr id="16" name="Shape 14"/>
          <p:cNvSpPr/>
          <p:nvPr/>
        </p:nvSpPr>
        <p:spPr>
          <a:xfrm>
            <a:off x="548640" y="2560320"/>
            <a:ext cx="3017520" cy="1325880"/>
          </a:xfrm>
          <a:prstGeom prst="roundRect">
            <a:avLst>
              <a:gd name="adj" fmla="val 5517"/>
            </a:avLst>
          </a:prstGeom>
          <a:solidFill>
            <a:srgbClr val="065A82"/>
          </a:solidFill>
          <a:ln/>
        </p:spPr>
      </p:sp>
      <p:sp>
        <p:nvSpPr>
          <p:cNvPr id="17" name="Text 15"/>
          <p:cNvSpPr/>
          <p:nvPr/>
        </p:nvSpPr>
        <p:spPr>
          <a:xfrm>
            <a:off x="777240" y="2560320"/>
            <a:ext cx="2560320" cy="1325880"/>
          </a:xfrm>
          <a:prstGeom prst="rect">
            <a:avLst/>
          </a:prstGeom>
          <a:noFill/>
          <a:ln/>
        </p:spPr>
        <p:txBody>
          <a:bodyPr wrap="square" lIns="0" tIns="0" rIns="0" bIns="0" rtlCol="0" anchor="ctr"/>
          <a:lstStyle/>
          <a:p>
            <a:pPr indent="0" marL="0">
              <a:lnSpc>
                <a:spcPct val="115000"/>
              </a:lnSpc>
              <a:buNone/>
            </a:pPr>
            <a:r>
              <a:rPr lang="en-US" sz="2100" b="1" dirty="0">
                <a:solidFill>
                  <a:srgbClr val="FFFFFF"/>
                </a:solidFill>
                <a:latin typeface="Cambria" pitchFamily="34" charset="0"/>
                <a:ea typeface="Cambria" pitchFamily="34" charset="-122"/>
                <a:cs typeface="Cambria" pitchFamily="34" charset="-120"/>
              </a:rPr>
              <a:t>STEP 2</a:t>
            </a:r>
            <a:endParaRPr lang="en-US" sz="2100" dirty="0"/>
          </a:p>
          <a:p>
            <a:pPr indent="0" marL="0">
              <a:lnSpc>
                <a:spcPct val="115000"/>
              </a:lnSpc>
              <a:buNone/>
            </a:pPr>
            <a:r>
              <a:rPr lang="en-US" sz="1350" b="1" dirty="0">
                <a:solidFill>
                  <a:srgbClr val="FFFFFF"/>
                </a:solidFill>
                <a:latin typeface="Calibri" pitchFamily="34" charset="0"/>
                <a:ea typeface="Calibri" pitchFamily="34" charset="-122"/>
                <a:cs typeface="Calibri" pitchFamily="34" charset="-120"/>
              </a:rPr>
              <a:t>Solution  ·  Power</a:t>
            </a:r>
            <a:endParaRPr lang="en-US" sz="2100" dirty="0"/>
          </a:p>
        </p:txBody>
      </p:sp>
      <p:sp>
        <p:nvSpPr>
          <p:cNvPr id="18" name="Text 16"/>
          <p:cNvSpPr/>
          <p:nvPr/>
        </p:nvSpPr>
        <p:spPr>
          <a:xfrm>
            <a:off x="3794760" y="2692908"/>
            <a:ext cx="457200" cy="329184"/>
          </a:xfrm>
          <a:prstGeom prst="rect">
            <a:avLst/>
          </a:prstGeom>
          <a:noFill/>
          <a:ln/>
        </p:spPr>
        <p:txBody>
          <a:bodyPr wrap="square" lIns="0" tIns="0" rIns="0" bIns="0" rtlCol="0" anchor="ctr"/>
          <a:lstStyle/>
          <a:p>
            <a:pPr algn="r" indent="0" marL="0">
              <a:buNone/>
            </a:pPr>
            <a:r>
              <a:rPr lang="en-US" sz="1500" b="1" dirty="0">
                <a:solidFill>
                  <a:srgbClr val="065A82"/>
                </a:solidFill>
                <a:latin typeface="Calibri" pitchFamily="34" charset="0"/>
                <a:ea typeface="Calibri" pitchFamily="34" charset="-122"/>
                <a:cs typeface="Calibri" pitchFamily="34" charset="-120"/>
              </a:rPr>
              <a:t>2</a:t>
            </a:r>
            <a:endParaRPr lang="en-US" sz="1500" dirty="0"/>
          </a:p>
        </p:txBody>
      </p:sp>
      <p:sp>
        <p:nvSpPr>
          <p:cNvPr id="19" name="Text 17"/>
          <p:cNvSpPr/>
          <p:nvPr/>
        </p:nvSpPr>
        <p:spPr>
          <a:xfrm>
            <a:off x="4370832" y="2692908"/>
            <a:ext cx="5669280" cy="329184"/>
          </a:xfrm>
          <a:prstGeom prst="rect">
            <a:avLst/>
          </a:prstGeom>
          <a:noFill/>
          <a:ln/>
        </p:spPr>
        <p:txBody>
          <a:bodyPr wrap="square" lIns="0" tIns="0" rIns="0" bIns="0" rtlCol="0" anchor="ctr"/>
          <a:lstStyle/>
          <a:p>
            <a:pPr indent="0" marL="0">
              <a:buNone/>
            </a:pPr>
            <a:r>
              <a:rPr lang="en-US" sz="1700" dirty="0">
                <a:solidFill>
                  <a:srgbClr val="1B2A41"/>
                </a:solidFill>
                <a:latin typeface="Calibri" pitchFamily="34" charset="0"/>
                <a:ea typeface="Calibri" pitchFamily="34" charset="-122"/>
                <a:cs typeface="Calibri" pitchFamily="34" charset="-120"/>
              </a:rPr>
              <a:t>There Is a Solution</a:t>
            </a:r>
            <a:endParaRPr lang="en-US" sz="1700" dirty="0"/>
          </a:p>
        </p:txBody>
      </p:sp>
      <p:sp>
        <p:nvSpPr>
          <p:cNvPr id="20" name="Text 18"/>
          <p:cNvSpPr/>
          <p:nvPr/>
        </p:nvSpPr>
        <p:spPr>
          <a:xfrm>
            <a:off x="10195560" y="2692908"/>
            <a:ext cx="1280160" cy="329184"/>
          </a:xfrm>
          <a:prstGeom prst="rect">
            <a:avLst/>
          </a:prstGeom>
          <a:noFill/>
          <a:ln/>
        </p:spPr>
        <p:txBody>
          <a:bodyPr wrap="square" lIns="0" tIns="0" rIns="0" bIns="0" rtlCol="0" anchor="ctr"/>
          <a:lstStyle/>
          <a:p>
            <a:pPr algn="r" indent="0" marL="0">
              <a:buNone/>
            </a:pPr>
            <a:r>
              <a:rPr lang="en-US" sz="1400" dirty="0">
                <a:solidFill>
                  <a:srgbClr val="6B7A8C"/>
                </a:solidFill>
                <a:latin typeface="Calibri" pitchFamily="34" charset="0"/>
                <a:ea typeface="Calibri" pitchFamily="34" charset="-122"/>
                <a:cs typeface="Calibri" pitchFamily="34" charset="-120"/>
              </a:rPr>
              <a:t>p. 17</a:t>
            </a:r>
            <a:endParaRPr lang="en-US" sz="1400" dirty="0"/>
          </a:p>
        </p:txBody>
      </p:sp>
      <p:sp>
        <p:nvSpPr>
          <p:cNvPr id="21" name="Text 19"/>
          <p:cNvSpPr/>
          <p:nvPr/>
        </p:nvSpPr>
        <p:spPr>
          <a:xfrm>
            <a:off x="3794760" y="3058668"/>
            <a:ext cx="457200" cy="329184"/>
          </a:xfrm>
          <a:prstGeom prst="rect">
            <a:avLst/>
          </a:prstGeom>
          <a:noFill/>
          <a:ln/>
        </p:spPr>
        <p:txBody>
          <a:bodyPr wrap="square" lIns="0" tIns="0" rIns="0" bIns="0" rtlCol="0" anchor="ctr"/>
          <a:lstStyle/>
          <a:p>
            <a:pPr algn="r" indent="0" marL="0">
              <a:buNone/>
            </a:pPr>
            <a:r>
              <a:rPr lang="en-US" sz="1500" b="1" dirty="0">
                <a:solidFill>
                  <a:srgbClr val="065A82"/>
                </a:solidFill>
                <a:latin typeface="Calibri" pitchFamily="34" charset="0"/>
                <a:ea typeface="Calibri" pitchFamily="34" charset="-122"/>
                <a:cs typeface="Calibri" pitchFamily="34" charset="-120"/>
              </a:rPr>
              <a:t>3</a:t>
            </a:r>
            <a:endParaRPr lang="en-US" sz="1500" dirty="0"/>
          </a:p>
        </p:txBody>
      </p:sp>
      <p:sp>
        <p:nvSpPr>
          <p:cNvPr id="22" name="Text 20"/>
          <p:cNvSpPr/>
          <p:nvPr/>
        </p:nvSpPr>
        <p:spPr>
          <a:xfrm>
            <a:off x="4370832" y="3058668"/>
            <a:ext cx="5669280" cy="329184"/>
          </a:xfrm>
          <a:prstGeom prst="rect">
            <a:avLst/>
          </a:prstGeom>
          <a:noFill/>
          <a:ln/>
        </p:spPr>
        <p:txBody>
          <a:bodyPr wrap="square" lIns="0" tIns="0" rIns="0" bIns="0" rtlCol="0" anchor="ctr"/>
          <a:lstStyle/>
          <a:p>
            <a:pPr indent="0" marL="0">
              <a:buNone/>
            </a:pPr>
            <a:r>
              <a:rPr lang="en-US" sz="1700" dirty="0">
                <a:solidFill>
                  <a:srgbClr val="1B2A41"/>
                </a:solidFill>
                <a:latin typeface="Calibri" pitchFamily="34" charset="0"/>
                <a:ea typeface="Calibri" pitchFamily="34" charset="-122"/>
                <a:cs typeface="Calibri" pitchFamily="34" charset="-120"/>
              </a:rPr>
              <a:t>More About Alcoholism</a:t>
            </a:r>
            <a:endParaRPr lang="en-US" sz="1700" dirty="0"/>
          </a:p>
        </p:txBody>
      </p:sp>
      <p:sp>
        <p:nvSpPr>
          <p:cNvPr id="23" name="Text 21"/>
          <p:cNvSpPr/>
          <p:nvPr/>
        </p:nvSpPr>
        <p:spPr>
          <a:xfrm>
            <a:off x="10195560" y="3058668"/>
            <a:ext cx="1280160" cy="329184"/>
          </a:xfrm>
          <a:prstGeom prst="rect">
            <a:avLst/>
          </a:prstGeom>
          <a:noFill/>
          <a:ln/>
        </p:spPr>
        <p:txBody>
          <a:bodyPr wrap="square" lIns="0" tIns="0" rIns="0" bIns="0" rtlCol="0" anchor="ctr"/>
          <a:lstStyle/>
          <a:p>
            <a:pPr algn="r" indent="0" marL="0">
              <a:buNone/>
            </a:pPr>
            <a:r>
              <a:rPr lang="en-US" sz="1400" dirty="0">
                <a:solidFill>
                  <a:srgbClr val="6B7A8C"/>
                </a:solidFill>
                <a:latin typeface="Calibri" pitchFamily="34" charset="0"/>
                <a:ea typeface="Calibri" pitchFamily="34" charset="-122"/>
                <a:cs typeface="Calibri" pitchFamily="34" charset="-120"/>
              </a:rPr>
              <a:t>p. 30</a:t>
            </a:r>
            <a:endParaRPr lang="en-US" sz="1400" dirty="0"/>
          </a:p>
        </p:txBody>
      </p:sp>
      <p:sp>
        <p:nvSpPr>
          <p:cNvPr id="24" name="Text 22"/>
          <p:cNvSpPr/>
          <p:nvPr/>
        </p:nvSpPr>
        <p:spPr>
          <a:xfrm>
            <a:off x="3794760" y="3424428"/>
            <a:ext cx="457200" cy="329184"/>
          </a:xfrm>
          <a:prstGeom prst="rect">
            <a:avLst/>
          </a:prstGeom>
          <a:noFill/>
          <a:ln/>
        </p:spPr>
        <p:txBody>
          <a:bodyPr wrap="square" lIns="0" tIns="0" rIns="0" bIns="0" rtlCol="0" anchor="ctr"/>
          <a:lstStyle/>
          <a:p>
            <a:pPr algn="r" indent="0" marL="0">
              <a:buNone/>
            </a:pPr>
            <a:r>
              <a:rPr lang="en-US" sz="1500" b="1" dirty="0">
                <a:solidFill>
                  <a:srgbClr val="065A82"/>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4370832" y="3424428"/>
            <a:ext cx="5669280" cy="329184"/>
          </a:xfrm>
          <a:prstGeom prst="rect">
            <a:avLst/>
          </a:prstGeom>
          <a:noFill/>
          <a:ln/>
        </p:spPr>
        <p:txBody>
          <a:bodyPr wrap="square" lIns="0" tIns="0" rIns="0" bIns="0" rtlCol="0" anchor="ctr"/>
          <a:lstStyle/>
          <a:p>
            <a:pPr indent="0" marL="0">
              <a:buNone/>
            </a:pPr>
            <a:r>
              <a:rPr lang="en-US" sz="1700" dirty="0">
                <a:solidFill>
                  <a:srgbClr val="1B2A41"/>
                </a:solidFill>
                <a:latin typeface="Calibri" pitchFamily="34" charset="0"/>
                <a:ea typeface="Calibri" pitchFamily="34" charset="-122"/>
                <a:cs typeface="Calibri" pitchFamily="34" charset="-120"/>
              </a:rPr>
              <a:t>We Agnostics</a:t>
            </a:r>
            <a:endParaRPr lang="en-US" sz="1700" dirty="0"/>
          </a:p>
        </p:txBody>
      </p:sp>
      <p:sp>
        <p:nvSpPr>
          <p:cNvPr id="26" name="Text 24"/>
          <p:cNvSpPr/>
          <p:nvPr/>
        </p:nvSpPr>
        <p:spPr>
          <a:xfrm>
            <a:off x="10195560" y="3424428"/>
            <a:ext cx="1280160" cy="329184"/>
          </a:xfrm>
          <a:prstGeom prst="rect">
            <a:avLst/>
          </a:prstGeom>
          <a:noFill/>
          <a:ln/>
        </p:spPr>
        <p:txBody>
          <a:bodyPr wrap="square" lIns="0" tIns="0" rIns="0" bIns="0" rtlCol="0" anchor="ctr"/>
          <a:lstStyle/>
          <a:p>
            <a:pPr algn="r" indent="0" marL="0">
              <a:buNone/>
            </a:pPr>
            <a:r>
              <a:rPr lang="en-US" sz="1400" dirty="0">
                <a:solidFill>
                  <a:srgbClr val="6B7A8C"/>
                </a:solidFill>
                <a:latin typeface="Calibri" pitchFamily="34" charset="0"/>
                <a:ea typeface="Calibri" pitchFamily="34" charset="-122"/>
                <a:cs typeface="Calibri" pitchFamily="34" charset="-120"/>
              </a:rPr>
              <a:t>p. 44</a:t>
            </a:r>
            <a:endParaRPr lang="en-US" sz="1400" dirty="0"/>
          </a:p>
        </p:txBody>
      </p:sp>
      <p:sp>
        <p:nvSpPr>
          <p:cNvPr id="27" name="Shape 25"/>
          <p:cNvSpPr/>
          <p:nvPr/>
        </p:nvSpPr>
        <p:spPr>
          <a:xfrm>
            <a:off x="548640" y="4023360"/>
            <a:ext cx="11091672" cy="1325880"/>
          </a:xfrm>
          <a:prstGeom prst="roundRect">
            <a:avLst>
              <a:gd name="adj" fmla="val 5517"/>
            </a:avLst>
          </a:prstGeom>
          <a:solidFill>
            <a:srgbClr val="EAF1E6"/>
          </a:solidFill>
          <a:ln/>
        </p:spPr>
      </p:sp>
      <p:sp>
        <p:nvSpPr>
          <p:cNvPr id="28" name="Shape 26"/>
          <p:cNvSpPr/>
          <p:nvPr/>
        </p:nvSpPr>
        <p:spPr>
          <a:xfrm>
            <a:off x="548640" y="4023360"/>
            <a:ext cx="3017520" cy="1325880"/>
          </a:xfrm>
          <a:prstGeom prst="roundRect">
            <a:avLst>
              <a:gd name="adj" fmla="val 5517"/>
            </a:avLst>
          </a:prstGeom>
          <a:solidFill>
            <a:srgbClr val="2C5F2D"/>
          </a:solidFill>
          <a:ln/>
        </p:spPr>
      </p:sp>
      <p:sp>
        <p:nvSpPr>
          <p:cNvPr id="29" name="Text 27"/>
          <p:cNvSpPr/>
          <p:nvPr/>
        </p:nvSpPr>
        <p:spPr>
          <a:xfrm>
            <a:off x="777240" y="4023360"/>
            <a:ext cx="2560320" cy="1325880"/>
          </a:xfrm>
          <a:prstGeom prst="rect">
            <a:avLst/>
          </a:prstGeom>
          <a:noFill/>
          <a:ln/>
        </p:spPr>
        <p:txBody>
          <a:bodyPr wrap="square" lIns="0" tIns="0" rIns="0" bIns="0" rtlCol="0" anchor="ctr"/>
          <a:lstStyle/>
          <a:p>
            <a:pPr indent="0" marL="0">
              <a:lnSpc>
                <a:spcPct val="115000"/>
              </a:lnSpc>
              <a:buNone/>
            </a:pPr>
            <a:r>
              <a:rPr lang="en-US" sz="2100" b="1" dirty="0">
                <a:solidFill>
                  <a:srgbClr val="FFFFFF"/>
                </a:solidFill>
                <a:latin typeface="Cambria" pitchFamily="34" charset="0"/>
                <a:ea typeface="Cambria" pitchFamily="34" charset="-122"/>
                <a:cs typeface="Cambria" pitchFamily="34" charset="-120"/>
              </a:rPr>
              <a:t>STEPS 3–12</a:t>
            </a:r>
            <a:endParaRPr lang="en-US" sz="2100" dirty="0"/>
          </a:p>
          <a:p>
            <a:pPr indent="0" marL="0">
              <a:lnSpc>
                <a:spcPct val="115000"/>
              </a:lnSpc>
              <a:buNone/>
            </a:pPr>
            <a:r>
              <a:rPr lang="en-US" sz="1350" b="1" dirty="0">
                <a:solidFill>
                  <a:srgbClr val="FFFFFF"/>
                </a:solidFill>
                <a:latin typeface="Calibri" pitchFamily="34" charset="0"/>
                <a:ea typeface="Calibri" pitchFamily="34" charset="-122"/>
                <a:cs typeface="Calibri" pitchFamily="34" charset="-120"/>
              </a:rPr>
              <a:t>Action Necessary for Recovery</a:t>
            </a:r>
            <a:endParaRPr lang="en-US" sz="2100" dirty="0"/>
          </a:p>
        </p:txBody>
      </p:sp>
      <p:sp>
        <p:nvSpPr>
          <p:cNvPr id="30" name="Text 28"/>
          <p:cNvSpPr/>
          <p:nvPr/>
        </p:nvSpPr>
        <p:spPr>
          <a:xfrm>
            <a:off x="3794760" y="4155948"/>
            <a:ext cx="457200" cy="329184"/>
          </a:xfrm>
          <a:prstGeom prst="rect">
            <a:avLst/>
          </a:prstGeom>
          <a:noFill/>
          <a:ln/>
        </p:spPr>
        <p:txBody>
          <a:bodyPr wrap="square" lIns="0" tIns="0" rIns="0" bIns="0" rtlCol="0" anchor="ctr"/>
          <a:lstStyle/>
          <a:p>
            <a:pPr algn="r" indent="0" marL="0">
              <a:buNone/>
            </a:pPr>
            <a:r>
              <a:rPr lang="en-US" sz="1500" b="1" dirty="0">
                <a:solidFill>
                  <a:srgbClr val="2C5F2D"/>
                </a:solidFill>
                <a:latin typeface="Calibri" pitchFamily="34" charset="0"/>
                <a:ea typeface="Calibri" pitchFamily="34" charset="-122"/>
                <a:cs typeface="Calibri" pitchFamily="34" charset="-120"/>
              </a:rPr>
              <a:t>5</a:t>
            </a:r>
            <a:endParaRPr lang="en-US" sz="1500" dirty="0"/>
          </a:p>
        </p:txBody>
      </p:sp>
      <p:sp>
        <p:nvSpPr>
          <p:cNvPr id="31" name="Text 29"/>
          <p:cNvSpPr/>
          <p:nvPr/>
        </p:nvSpPr>
        <p:spPr>
          <a:xfrm>
            <a:off x="4370832" y="4155948"/>
            <a:ext cx="5669280" cy="329184"/>
          </a:xfrm>
          <a:prstGeom prst="rect">
            <a:avLst/>
          </a:prstGeom>
          <a:noFill/>
          <a:ln/>
        </p:spPr>
        <p:txBody>
          <a:bodyPr wrap="square" lIns="0" tIns="0" rIns="0" bIns="0" rtlCol="0" anchor="ctr"/>
          <a:lstStyle/>
          <a:p>
            <a:pPr indent="0" marL="0">
              <a:buNone/>
            </a:pPr>
            <a:r>
              <a:rPr lang="en-US" sz="1700" dirty="0">
                <a:solidFill>
                  <a:srgbClr val="1B2A41"/>
                </a:solidFill>
                <a:latin typeface="Calibri" pitchFamily="34" charset="0"/>
                <a:ea typeface="Calibri" pitchFamily="34" charset="-122"/>
                <a:cs typeface="Calibri" pitchFamily="34" charset="-120"/>
              </a:rPr>
              <a:t>How It Works</a:t>
            </a:r>
            <a:endParaRPr lang="en-US" sz="1700" dirty="0"/>
          </a:p>
        </p:txBody>
      </p:sp>
      <p:sp>
        <p:nvSpPr>
          <p:cNvPr id="32" name="Text 30"/>
          <p:cNvSpPr/>
          <p:nvPr/>
        </p:nvSpPr>
        <p:spPr>
          <a:xfrm>
            <a:off x="10195560" y="4155948"/>
            <a:ext cx="1280160" cy="329184"/>
          </a:xfrm>
          <a:prstGeom prst="rect">
            <a:avLst/>
          </a:prstGeom>
          <a:noFill/>
          <a:ln/>
        </p:spPr>
        <p:txBody>
          <a:bodyPr wrap="square" lIns="0" tIns="0" rIns="0" bIns="0" rtlCol="0" anchor="ctr"/>
          <a:lstStyle/>
          <a:p>
            <a:pPr algn="r" indent="0" marL="0">
              <a:buNone/>
            </a:pPr>
            <a:r>
              <a:rPr lang="en-US" sz="1400" dirty="0">
                <a:solidFill>
                  <a:srgbClr val="6B7A8C"/>
                </a:solidFill>
                <a:latin typeface="Calibri" pitchFamily="34" charset="0"/>
                <a:ea typeface="Calibri" pitchFamily="34" charset="-122"/>
                <a:cs typeface="Calibri" pitchFamily="34" charset="-120"/>
              </a:rPr>
              <a:t>p. 58</a:t>
            </a:r>
            <a:endParaRPr lang="en-US" sz="1400" dirty="0"/>
          </a:p>
        </p:txBody>
      </p:sp>
      <p:sp>
        <p:nvSpPr>
          <p:cNvPr id="33" name="Text 31"/>
          <p:cNvSpPr/>
          <p:nvPr/>
        </p:nvSpPr>
        <p:spPr>
          <a:xfrm>
            <a:off x="3794760" y="4521708"/>
            <a:ext cx="457200" cy="329184"/>
          </a:xfrm>
          <a:prstGeom prst="rect">
            <a:avLst/>
          </a:prstGeom>
          <a:noFill/>
          <a:ln/>
        </p:spPr>
        <p:txBody>
          <a:bodyPr wrap="square" lIns="0" tIns="0" rIns="0" bIns="0" rtlCol="0" anchor="ctr"/>
          <a:lstStyle/>
          <a:p>
            <a:pPr algn="r" indent="0" marL="0">
              <a:buNone/>
            </a:pPr>
            <a:r>
              <a:rPr lang="en-US" sz="1500" b="1" dirty="0">
                <a:solidFill>
                  <a:srgbClr val="2C5F2D"/>
                </a:solidFill>
                <a:latin typeface="Calibri" pitchFamily="34" charset="0"/>
                <a:ea typeface="Calibri" pitchFamily="34" charset="-122"/>
                <a:cs typeface="Calibri" pitchFamily="34" charset="-120"/>
              </a:rPr>
              <a:t>6</a:t>
            </a:r>
            <a:endParaRPr lang="en-US" sz="1500" dirty="0"/>
          </a:p>
        </p:txBody>
      </p:sp>
      <p:sp>
        <p:nvSpPr>
          <p:cNvPr id="34" name="Text 32"/>
          <p:cNvSpPr/>
          <p:nvPr/>
        </p:nvSpPr>
        <p:spPr>
          <a:xfrm>
            <a:off x="4370832" y="4521708"/>
            <a:ext cx="5669280" cy="329184"/>
          </a:xfrm>
          <a:prstGeom prst="rect">
            <a:avLst/>
          </a:prstGeom>
          <a:noFill/>
          <a:ln/>
        </p:spPr>
        <p:txBody>
          <a:bodyPr wrap="square" lIns="0" tIns="0" rIns="0" bIns="0" rtlCol="0" anchor="ctr"/>
          <a:lstStyle/>
          <a:p>
            <a:pPr indent="0" marL="0">
              <a:buNone/>
            </a:pPr>
            <a:r>
              <a:rPr lang="en-US" sz="1700" dirty="0">
                <a:solidFill>
                  <a:srgbClr val="1B2A41"/>
                </a:solidFill>
                <a:latin typeface="Calibri" pitchFamily="34" charset="0"/>
                <a:ea typeface="Calibri" pitchFamily="34" charset="-122"/>
                <a:cs typeface="Calibri" pitchFamily="34" charset="-120"/>
              </a:rPr>
              <a:t>Into Action</a:t>
            </a:r>
            <a:endParaRPr lang="en-US" sz="1700" dirty="0"/>
          </a:p>
        </p:txBody>
      </p:sp>
      <p:sp>
        <p:nvSpPr>
          <p:cNvPr id="35" name="Text 33"/>
          <p:cNvSpPr/>
          <p:nvPr/>
        </p:nvSpPr>
        <p:spPr>
          <a:xfrm>
            <a:off x="10195560" y="4521708"/>
            <a:ext cx="1280160" cy="329184"/>
          </a:xfrm>
          <a:prstGeom prst="rect">
            <a:avLst/>
          </a:prstGeom>
          <a:noFill/>
          <a:ln/>
        </p:spPr>
        <p:txBody>
          <a:bodyPr wrap="square" lIns="0" tIns="0" rIns="0" bIns="0" rtlCol="0" anchor="ctr"/>
          <a:lstStyle/>
          <a:p>
            <a:pPr algn="r" indent="0" marL="0">
              <a:buNone/>
            </a:pPr>
            <a:r>
              <a:rPr lang="en-US" sz="1400" dirty="0">
                <a:solidFill>
                  <a:srgbClr val="6B7A8C"/>
                </a:solidFill>
                <a:latin typeface="Calibri" pitchFamily="34" charset="0"/>
                <a:ea typeface="Calibri" pitchFamily="34" charset="-122"/>
                <a:cs typeface="Calibri" pitchFamily="34" charset="-120"/>
              </a:rPr>
              <a:t>p. 72</a:t>
            </a:r>
            <a:endParaRPr lang="en-US" sz="1400" dirty="0"/>
          </a:p>
        </p:txBody>
      </p:sp>
      <p:sp>
        <p:nvSpPr>
          <p:cNvPr id="36" name="Text 34"/>
          <p:cNvSpPr/>
          <p:nvPr/>
        </p:nvSpPr>
        <p:spPr>
          <a:xfrm>
            <a:off x="3794760" y="4887468"/>
            <a:ext cx="457200" cy="329184"/>
          </a:xfrm>
          <a:prstGeom prst="rect">
            <a:avLst/>
          </a:prstGeom>
          <a:noFill/>
          <a:ln/>
        </p:spPr>
        <p:txBody>
          <a:bodyPr wrap="square" lIns="0" tIns="0" rIns="0" bIns="0" rtlCol="0" anchor="ctr"/>
          <a:lstStyle/>
          <a:p>
            <a:pPr algn="r" indent="0" marL="0">
              <a:buNone/>
            </a:pPr>
            <a:r>
              <a:rPr lang="en-US" sz="1500" b="1" dirty="0">
                <a:solidFill>
                  <a:srgbClr val="2C5F2D"/>
                </a:solidFill>
                <a:latin typeface="Calibri" pitchFamily="34" charset="0"/>
                <a:ea typeface="Calibri" pitchFamily="34" charset="-122"/>
                <a:cs typeface="Calibri" pitchFamily="34" charset="-120"/>
              </a:rPr>
              <a:t>7</a:t>
            </a:r>
            <a:endParaRPr lang="en-US" sz="1500" dirty="0"/>
          </a:p>
        </p:txBody>
      </p:sp>
      <p:sp>
        <p:nvSpPr>
          <p:cNvPr id="37" name="Text 35"/>
          <p:cNvSpPr/>
          <p:nvPr/>
        </p:nvSpPr>
        <p:spPr>
          <a:xfrm>
            <a:off x="4370832" y="4887468"/>
            <a:ext cx="5669280" cy="329184"/>
          </a:xfrm>
          <a:prstGeom prst="rect">
            <a:avLst/>
          </a:prstGeom>
          <a:noFill/>
          <a:ln/>
        </p:spPr>
        <p:txBody>
          <a:bodyPr wrap="square" lIns="0" tIns="0" rIns="0" bIns="0" rtlCol="0" anchor="ctr"/>
          <a:lstStyle/>
          <a:p>
            <a:pPr indent="0" marL="0">
              <a:buNone/>
            </a:pPr>
            <a:r>
              <a:rPr lang="en-US" sz="1700" dirty="0">
                <a:solidFill>
                  <a:srgbClr val="1B2A41"/>
                </a:solidFill>
                <a:latin typeface="Calibri" pitchFamily="34" charset="0"/>
                <a:ea typeface="Calibri" pitchFamily="34" charset="-122"/>
                <a:cs typeface="Calibri" pitchFamily="34" charset="-120"/>
              </a:rPr>
              <a:t>Working With Others</a:t>
            </a:r>
            <a:endParaRPr lang="en-US" sz="1700" dirty="0"/>
          </a:p>
        </p:txBody>
      </p:sp>
      <p:sp>
        <p:nvSpPr>
          <p:cNvPr id="38" name="Text 36"/>
          <p:cNvSpPr/>
          <p:nvPr/>
        </p:nvSpPr>
        <p:spPr>
          <a:xfrm>
            <a:off x="10195560" y="4887468"/>
            <a:ext cx="1280160" cy="329184"/>
          </a:xfrm>
          <a:prstGeom prst="rect">
            <a:avLst/>
          </a:prstGeom>
          <a:noFill/>
          <a:ln/>
        </p:spPr>
        <p:txBody>
          <a:bodyPr wrap="square" lIns="0" tIns="0" rIns="0" bIns="0" rtlCol="0" anchor="ctr"/>
          <a:lstStyle/>
          <a:p>
            <a:pPr algn="r" indent="0" marL="0">
              <a:buNone/>
            </a:pPr>
            <a:r>
              <a:rPr lang="en-US" sz="1400" dirty="0">
                <a:solidFill>
                  <a:srgbClr val="6B7A8C"/>
                </a:solidFill>
                <a:latin typeface="Calibri" pitchFamily="34" charset="0"/>
                <a:ea typeface="Calibri" pitchFamily="34" charset="-122"/>
                <a:cs typeface="Calibri" pitchFamily="34" charset="-120"/>
              </a:rPr>
              <a:t>p. 89</a:t>
            </a:r>
            <a:endParaRPr lang="en-US" sz="1400" dirty="0"/>
          </a:p>
        </p:txBody>
      </p:sp>
      <p:sp>
        <p:nvSpPr>
          <p:cNvPr id="39" name="Shape 37"/>
          <p:cNvSpPr/>
          <p:nvPr/>
        </p:nvSpPr>
        <p:spPr>
          <a:xfrm>
            <a:off x="548640" y="5532120"/>
            <a:ext cx="11091672" cy="502920"/>
          </a:xfrm>
          <a:prstGeom prst="roundRect">
            <a:avLst>
              <a:gd name="adj" fmla="val 14545"/>
            </a:avLst>
          </a:prstGeom>
          <a:solidFill>
            <a:srgbClr val="F1F4F7"/>
          </a:solidFill>
          <a:ln/>
        </p:spPr>
      </p:sp>
      <p:sp>
        <p:nvSpPr>
          <p:cNvPr id="40" name="Text 38"/>
          <p:cNvSpPr/>
          <p:nvPr/>
        </p:nvSpPr>
        <p:spPr>
          <a:xfrm>
            <a:off x="868680" y="5532120"/>
            <a:ext cx="5029200" cy="502920"/>
          </a:xfrm>
          <a:prstGeom prst="rect">
            <a:avLst/>
          </a:prstGeom>
          <a:noFill/>
          <a:ln/>
        </p:spPr>
        <p:txBody>
          <a:bodyPr wrap="square" lIns="0" tIns="0" rIns="0" bIns="0" rtlCol="0" anchor="ctr"/>
          <a:lstStyle/>
          <a:p>
            <a:pPr indent="0" marL="0">
              <a:buNone/>
            </a:pPr>
            <a:r>
              <a:rPr lang="en-US" sz="1400" b="1" dirty="0">
                <a:solidFill>
                  <a:srgbClr val="6B7A8C"/>
                </a:solidFill>
                <a:latin typeface="Calibri" pitchFamily="34" charset="0"/>
                <a:ea typeface="Calibri" pitchFamily="34" charset="-122"/>
                <a:cs typeface="Calibri" pitchFamily="34" charset="-120"/>
              </a:rPr>
              <a:t>8   </a:t>
            </a:r>
            <a:pPr indent="0" marL="0">
              <a:buNone/>
            </a:pPr>
            <a:r>
              <a:rPr lang="en-US" sz="1400" strike="sngStrike" dirty="0">
                <a:solidFill>
                  <a:srgbClr val="6B7A8C"/>
                </a:solidFill>
                <a:latin typeface="Calibri" pitchFamily="34" charset="0"/>
                <a:ea typeface="Calibri" pitchFamily="34" charset="-122"/>
                <a:cs typeface="Calibri" pitchFamily="34" charset="-120"/>
              </a:rPr>
              <a:t>To Wives</a:t>
            </a:r>
            <a:pPr indent="0" marL="0">
              <a:buNone/>
            </a:pPr>
            <a:r>
              <a:rPr lang="en-US" sz="1400" dirty="0">
                <a:solidFill>
                  <a:srgbClr val="6B7A8C"/>
                </a:solidFill>
                <a:latin typeface="Calibri" pitchFamily="34" charset="0"/>
                <a:ea typeface="Calibri" pitchFamily="34" charset="-122"/>
                <a:cs typeface="Calibri" pitchFamily="34" charset="-120"/>
              </a:rPr>
              <a:t>   →   </a:t>
            </a:r>
            <a:pPr indent="0" marL="0">
              <a:buNone/>
            </a:pPr>
            <a:r>
              <a:rPr lang="en-US" sz="1400" b="1" dirty="0">
                <a:solidFill>
                  <a:srgbClr val="1B2A41"/>
                </a:solidFill>
                <a:latin typeface="Calibri" pitchFamily="34" charset="0"/>
                <a:ea typeface="Calibri" pitchFamily="34" charset="-122"/>
                <a:cs typeface="Calibri" pitchFamily="34" charset="-120"/>
              </a:rPr>
              <a:t>To Al-Anons</a:t>
            </a:r>
            <a:pPr indent="0" marL="0">
              <a:buNone/>
            </a:pPr>
            <a:r>
              <a:rPr lang="en-US" sz="1400" dirty="0">
                <a:solidFill>
                  <a:srgbClr val="6B7A8C"/>
                </a:solidFill>
                <a:latin typeface="Calibri" pitchFamily="34" charset="0"/>
                <a:ea typeface="Calibri" pitchFamily="34" charset="-122"/>
                <a:cs typeface="Calibri" pitchFamily="34" charset="-120"/>
              </a:rPr>
              <a:t>     p. 104</a:t>
            </a:r>
            <a:endParaRPr lang="en-US" sz="1400" dirty="0"/>
          </a:p>
        </p:txBody>
      </p:sp>
      <p:sp>
        <p:nvSpPr>
          <p:cNvPr id="41" name="Text 39"/>
          <p:cNvSpPr/>
          <p:nvPr/>
        </p:nvSpPr>
        <p:spPr>
          <a:xfrm>
            <a:off x="6309360" y="5532120"/>
            <a:ext cx="5029200" cy="502920"/>
          </a:xfrm>
          <a:prstGeom prst="rect">
            <a:avLst/>
          </a:prstGeom>
          <a:noFill/>
          <a:ln/>
        </p:spPr>
        <p:txBody>
          <a:bodyPr wrap="square" lIns="0" tIns="0" rIns="0" bIns="0" rtlCol="0" anchor="ctr"/>
          <a:lstStyle/>
          <a:p>
            <a:pPr indent="0" marL="0">
              <a:buNone/>
            </a:pPr>
            <a:r>
              <a:rPr lang="en-US" sz="1400" b="1" dirty="0">
                <a:solidFill>
                  <a:srgbClr val="6B7A8C"/>
                </a:solidFill>
                <a:latin typeface="Calibri" pitchFamily="34" charset="0"/>
                <a:ea typeface="Calibri" pitchFamily="34" charset="-122"/>
                <a:cs typeface="Calibri" pitchFamily="34" charset="-120"/>
              </a:rPr>
              <a:t>9   </a:t>
            </a:r>
            <a:pPr indent="0" marL="0">
              <a:buNone/>
            </a:pPr>
            <a:r>
              <a:rPr lang="en-US" sz="1400" strike="sngStrike" dirty="0">
                <a:solidFill>
                  <a:srgbClr val="6B7A8C"/>
                </a:solidFill>
                <a:latin typeface="Calibri" pitchFamily="34" charset="0"/>
                <a:ea typeface="Calibri" pitchFamily="34" charset="-122"/>
                <a:cs typeface="Calibri" pitchFamily="34" charset="-120"/>
              </a:rPr>
              <a:t>The Family Afterward</a:t>
            </a:r>
            <a:pPr indent="0" marL="0">
              <a:buNone/>
            </a:pPr>
            <a:r>
              <a:rPr lang="en-US" sz="1400" dirty="0">
                <a:solidFill>
                  <a:srgbClr val="6B7A8C"/>
                </a:solidFill>
                <a:latin typeface="Calibri" pitchFamily="34" charset="0"/>
                <a:ea typeface="Calibri" pitchFamily="34" charset="-122"/>
                <a:cs typeface="Calibri" pitchFamily="34" charset="-120"/>
              </a:rPr>
              <a:t>   →   </a:t>
            </a:r>
            <a:pPr indent="0" marL="0">
              <a:buNone/>
            </a:pPr>
            <a:r>
              <a:rPr lang="en-US" sz="1400" b="1" dirty="0">
                <a:solidFill>
                  <a:srgbClr val="1B2A41"/>
                </a:solidFill>
                <a:latin typeface="Calibri" pitchFamily="34" charset="0"/>
                <a:ea typeface="Calibri" pitchFamily="34" charset="-122"/>
                <a:cs typeface="Calibri" pitchFamily="34" charset="-120"/>
              </a:rPr>
              <a:t>The Alateens Afterward</a:t>
            </a:r>
            <a:pPr indent="0" marL="0">
              <a:buNone/>
            </a:pPr>
            <a:r>
              <a:rPr lang="en-US" sz="1400" dirty="0">
                <a:solidFill>
                  <a:srgbClr val="6B7A8C"/>
                </a:solidFill>
                <a:latin typeface="Calibri" pitchFamily="34" charset="0"/>
                <a:ea typeface="Calibri" pitchFamily="34" charset="-122"/>
                <a:cs typeface="Calibri" pitchFamily="34" charset="-120"/>
              </a:rPr>
              <a:t>     p. 122</a:t>
            </a:r>
            <a:endParaRPr lang="en-US" sz="1400" dirty="0"/>
          </a:p>
        </p:txBody>
      </p:sp>
      <p:sp>
        <p:nvSpPr>
          <p:cNvPr id="42" name="Text 40"/>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863840" cy="566928"/>
          </a:xfrm>
          <a:prstGeom prst="rect">
            <a:avLst/>
          </a:prstGeom>
          <a:noFill/>
          <a:ln/>
        </p:spPr>
        <p:txBody>
          <a:bodyPr wrap="square" lIns="0" tIns="0" rIns="0" bIns="0" rtlCol="0" anchor="ctr"/>
          <a:lstStyle/>
          <a:p>
            <a:pPr indent="0" marL="0">
              <a:buNone/>
            </a:pPr>
            <a:r>
              <a:rPr lang="en-US" sz="4000" b="1" dirty="0">
                <a:solidFill>
                  <a:srgbClr val="1B2A41"/>
                </a:solidFill>
                <a:latin typeface="Cambria" pitchFamily="34" charset="0"/>
                <a:ea typeface="Cambria" pitchFamily="34" charset="-122"/>
                <a:cs typeface="Cambria" pitchFamily="34" charset="-120"/>
              </a:rPr>
              <a:t>Check Out the Newcomer</a:t>
            </a:r>
            <a:endParaRPr lang="en-US" sz="4000" dirty="0"/>
          </a:p>
        </p:txBody>
      </p:sp>
      <p:sp>
        <p:nvSpPr>
          <p:cNvPr id="3" name="Text 1"/>
          <p:cNvSpPr/>
          <p:nvPr/>
        </p:nvSpPr>
        <p:spPr>
          <a:xfrm>
            <a:off x="548640" y="914400"/>
            <a:ext cx="786384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“Start here with the newcomer.”</a:t>
            </a:r>
            <a:endParaRPr lang="en-US" sz="1700" dirty="0"/>
          </a:p>
        </p:txBody>
      </p:sp>
      <p:sp>
        <p:nvSpPr>
          <p:cNvPr id="4" name="Shape 2"/>
          <p:cNvSpPr/>
          <p:nvPr/>
        </p:nvSpPr>
        <p:spPr>
          <a:xfrm>
            <a:off x="8778240" y="320040"/>
            <a:ext cx="2862072" cy="960120"/>
          </a:xfrm>
          <a:prstGeom prst="roundRect">
            <a:avLst>
              <a:gd name="adj" fmla="val 9524"/>
            </a:avLst>
          </a:prstGeom>
          <a:solidFill>
            <a:srgbClr val="9E1B60"/>
          </a:solidFill>
          <a:ln/>
        </p:spPr>
      </p:sp>
      <p:sp>
        <p:nvSpPr>
          <p:cNvPr id="5" name="Text 3"/>
          <p:cNvSpPr/>
          <p:nvPr/>
        </p:nvSpPr>
        <p:spPr>
          <a:xfrm>
            <a:off x="8778240" y="320040"/>
            <a:ext cx="2862072" cy="9601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The “MUSTS”</a:t>
            </a:r>
            <a:endParaRPr lang="en-US" sz="1900" dirty="0"/>
          </a:p>
          <a:p>
            <a:pPr algn="ctr" indent="0" marL="0">
              <a:buNone/>
            </a:pPr>
            <a:r>
              <a:rPr lang="en-US" sz="1400" dirty="0">
                <a:solidFill>
                  <a:srgbClr val="F7D9E8"/>
                </a:solidFill>
                <a:latin typeface="Calibri" pitchFamily="34" charset="0"/>
                <a:ea typeface="Calibri" pitchFamily="34" charset="-122"/>
                <a:cs typeface="Calibri" pitchFamily="34" charset="-120"/>
              </a:rPr>
              <a:t>Page 142</a:t>
            </a:r>
            <a:endParaRPr lang="en-US" sz="1900" dirty="0"/>
          </a:p>
        </p:txBody>
      </p:sp>
      <p:sp>
        <p:nvSpPr>
          <p:cNvPr id="6" name="Shape 4"/>
          <p:cNvSpPr/>
          <p:nvPr/>
        </p:nvSpPr>
        <p:spPr>
          <a:xfrm>
            <a:off x="548640" y="1463040"/>
            <a:ext cx="11091672" cy="914400"/>
          </a:xfrm>
          <a:prstGeom prst="roundRect">
            <a:avLst>
              <a:gd name="adj" fmla="val 8000"/>
            </a:avLst>
          </a:prstGeom>
          <a:solidFill>
            <a:srgbClr val="FFF7D9"/>
          </a:solidFill>
          <a:ln/>
        </p:spPr>
      </p:sp>
      <p:sp>
        <p:nvSpPr>
          <p:cNvPr id="7" name="Shape 5"/>
          <p:cNvSpPr/>
          <p:nvPr/>
        </p:nvSpPr>
        <p:spPr>
          <a:xfrm>
            <a:off x="822960" y="1700784"/>
            <a:ext cx="438912" cy="438912"/>
          </a:xfrm>
          <a:prstGeom prst="ellipse">
            <a:avLst/>
          </a:prstGeom>
          <a:solidFill>
            <a:srgbClr val="9E1B60"/>
          </a:solidFill>
          <a:ln/>
        </p:spPr>
      </p:sp>
      <p:sp>
        <p:nvSpPr>
          <p:cNvPr id="8" name="Text 6"/>
          <p:cNvSpPr/>
          <p:nvPr/>
        </p:nvSpPr>
        <p:spPr>
          <a:xfrm>
            <a:off x="822960" y="170078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463040" y="1463040"/>
            <a:ext cx="10012680" cy="914400"/>
          </a:xfrm>
          <a:prstGeom prst="rect">
            <a:avLst/>
          </a:prstGeom>
          <a:noFill/>
          <a:ln/>
        </p:spPr>
        <p:txBody>
          <a:bodyPr wrap="square" lIns="0" tIns="0" rIns="0" bIns="0" rtlCol="0" anchor="ctr"/>
          <a:lstStyle/>
          <a:p>
            <a:pPr indent="0" marL="0">
              <a:lnSpc>
                <a:spcPct val="115000"/>
              </a:lnSpc>
              <a:buNone/>
            </a:pPr>
            <a:r>
              <a:rPr lang="en-US" sz="2000" dirty="0">
                <a:solidFill>
                  <a:srgbClr val="1B2A41"/>
                </a:solidFill>
                <a:latin typeface="Calibri" pitchFamily="34" charset="0"/>
                <a:ea typeface="Calibri" pitchFamily="34" charset="-122"/>
                <a:cs typeface="Calibri" pitchFamily="34" charset="-120"/>
              </a:rPr>
              <a:t>Will he take every necessary step, submit to anything to get well, to stop drinking forever?</a:t>
            </a:r>
            <a:endParaRPr lang="en-US" sz="2000" dirty="0"/>
          </a:p>
        </p:txBody>
      </p:sp>
      <p:sp>
        <p:nvSpPr>
          <p:cNvPr id="10" name="Shape 8"/>
          <p:cNvSpPr/>
          <p:nvPr/>
        </p:nvSpPr>
        <p:spPr>
          <a:xfrm>
            <a:off x="548640" y="2560320"/>
            <a:ext cx="11091672" cy="1554480"/>
          </a:xfrm>
          <a:prstGeom prst="roundRect">
            <a:avLst>
              <a:gd name="adj" fmla="val 4706"/>
            </a:avLst>
          </a:prstGeom>
          <a:solidFill>
            <a:srgbClr val="FFF7D9"/>
          </a:solidFill>
          <a:ln/>
        </p:spPr>
      </p:sp>
      <p:sp>
        <p:nvSpPr>
          <p:cNvPr id="11" name="Shape 9"/>
          <p:cNvSpPr/>
          <p:nvPr/>
        </p:nvSpPr>
        <p:spPr>
          <a:xfrm>
            <a:off x="822960" y="3118104"/>
            <a:ext cx="438912" cy="438912"/>
          </a:xfrm>
          <a:prstGeom prst="ellipse">
            <a:avLst/>
          </a:prstGeom>
          <a:solidFill>
            <a:srgbClr val="9E1B60"/>
          </a:solidFill>
          <a:ln/>
        </p:spPr>
      </p:sp>
      <p:sp>
        <p:nvSpPr>
          <p:cNvPr id="12" name="Text 10"/>
          <p:cNvSpPr/>
          <p:nvPr/>
        </p:nvSpPr>
        <p:spPr>
          <a:xfrm>
            <a:off x="822960" y="311810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463040" y="2560320"/>
            <a:ext cx="10012680" cy="1554480"/>
          </a:xfrm>
          <a:prstGeom prst="rect">
            <a:avLst/>
          </a:prstGeom>
          <a:noFill/>
          <a:ln/>
        </p:spPr>
        <p:txBody>
          <a:bodyPr wrap="square" lIns="0" tIns="0" rIns="0" bIns="0" rtlCol="0" anchor="ctr"/>
          <a:lstStyle/>
          <a:p>
            <a:pPr indent="0" marL="0">
              <a:lnSpc>
                <a:spcPct val="115000"/>
              </a:lnSpc>
              <a:buNone/>
            </a:pPr>
            <a:r>
              <a:rPr lang="en-US" sz="2000" dirty="0">
                <a:solidFill>
                  <a:srgbClr val="1B2A41"/>
                </a:solidFill>
                <a:latin typeface="Calibri" pitchFamily="34" charset="0"/>
                <a:ea typeface="Calibri" pitchFamily="34" charset="-122"/>
                <a:cs typeface="Calibri" pitchFamily="34" charset="-120"/>
              </a:rPr>
              <a:t>…does he think he is fooling you, and that after rest and treatment he will be able to get away with a few drinks now and then? We believe a man should be thoroughly probed on these points. Be satisfied he is not deceiving himself or you.</a:t>
            </a:r>
            <a:endParaRPr lang="en-US" sz="2000" dirty="0"/>
          </a:p>
        </p:txBody>
      </p:sp>
      <p:sp>
        <p:nvSpPr>
          <p:cNvPr id="14" name="Shape 12"/>
          <p:cNvSpPr/>
          <p:nvPr/>
        </p:nvSpPr>
        <p:spPr>
          <a:xfrm>
            <a:off x="548640" y="4297680"/>
            <a:ext cx="11091672" cy="1188720"/>
          </a:xfrm>
          <a:prstGeom prst="roundRect">
            <a:avLst>
              <a:gd name="adj" fmla="val 6154"/>
            </a:avLst>
          </a:prstGeom>
          <a:solidFill>
            <a:srgbClr val="FFF7D9"/>
          </a:solidFill>
          <a:ln/>
        </p:spPr>
      </p:sp>
      <p:sp>
        <p:nvSpPr>
          <p:cNvPr id="15" name="Shape 13"/>
          <p:cNvSpPr/>
          <p:nvPr/>
        </p:nvSpPr>
        <p:spPr>
          <a:xfrm>
            <a:off x="822960" y="4672584"/>
            <a:ext cx="438912" cy="438912"/>
          </a:xfrm>
          <a:prstGeom prst="ellipse">
            <a:avLst/>
          </a:prstGeom>
          <a:solidFill>
            <a:srgbClr val="9E1B60"/>
          </a:solidFill>
          <a:ln/>
        </p:spPr>
      </p:sp>
      <p:sp>
        <p:nvSpPr>
          <p:cNvPr id="16" name="Text 14"/>
          <p:cNvSpPr/>
          <p:nvPr/>
        </p:nvSpPr>
        <p:spPr>
          <a:xfrm>
            <a:off x="822960" y="467258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463040" y="4297680"/>
            <a:ext cx="10012680" cy="1188720"/>
          </a:xfrm>
          <a:prstGeom prst="rect">
            <a:avLst/>
          </a:prstGeom>
          <a:noFill/>
          <a:ln/>
        </p:spPr>
        <p:txBody>
          <a:bodyPr wrap="square" lIns="0" tIns="0" rIns="0" bIns="0" rtlCol="0" anchor="ctr"/>
          <a:lstStyle/>
          <a:p>
            <a:pPr indent="0" marL="0">
              <a:lnSpc>
                <a:spcPct val="115000"/>
              </a:lnSpc>
              <a:buNone/>
            </a:pPr>
            <a:r>
              <a:rPr lang="en-US" sz="2000" dirty="0">
                <a:solidFill>
                  <a:srgbClr val="1B2A41"/>
                </a:solidFill>
                <a:latin typeface="Calibri" pitchFamily="34" charset="0"/>
                <a:ea typeface="Calibri" pitchFamily="34" charset="-122"/>
                <a:cs typeface="Calibri" pitchFamily="34" charset="-120"/>
              </a:rPr>
              <a:t>Either you are dealing with a man who can and will get well or you are not. If not, why waste time with him? This may seem severe, but it is usually the best course.</a:t>
            </a:r>
            <a:endParaRPr lang="en-US" sz="2000" dirty="0"/>
          </a:p>
        </p:txBody>
      </p:sp>
      <p:sp>
        <p:nvSpPr>
          <p:cNvPr id="18" name="Text 16"/>
          <p:cNvSpPr/>
          <p:nvPr/>
        </p:nvSpPr>
        <p:spPr>
          <a:xfrm>
            <a:off x="548640" y="571500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“To Employers,” p. 142.</a:t>
            </a:r>
            <a:endParaRPr lang="en-US" sz="1200" dirty="0"/>
          </a:p>
        </p:txBody>
      </p:sp>
      <p:sp>
        <p:nvSpPr>
          <p:cNvPr id="19" name="Text 17"/>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863840" cy="566928"/>
          </a:xfrm>
          <a:prstGeom prst="rect">
            <a:avLst/>
          </a:prstGeom>
          <a:noFill/>
          <a:ln/>
        </p:spPr>
        <p:txBody>
          <a:bodyPr wrap="square" lIns="0" tIns="0" rIns="0" bIns="0" rtlCol="0" anchor="ctr"/>
          <a:lstStyle/>
          <a:p>
            <a:pPr indent="0" marL="0">
              <a:buNone/>
            </a:pPr>
            <a:r>
              <a:rPr lang="en-US" sz="4000" b="1" dirty="0">
                <a:solidFill>
                  <a:srgbClr val="1B2A41"/>
                </a:solidFill>
                <a:latin typeface="Cambria" pitchFamily="34" charset="0"/>
                <a:ea typeface="Cambria" pitchFamily="34" charset="-122"/>
                <a:cs typeface="Cambria" pitchFamily="34" charset="-120"/>
              </a:rPr>
              <a:t>The Basic Text</a:t>
            </a:r>
            <a:endParaRPr lang="en-US" sz="4000" dirty="0"/>
          </a:p>
        </p:txBody>
      </p:sp>
      <p:sp>
        <p:nvSpPr>
          <p:cNvPr id="3" name="Text 1"/>
          <p:cNvSpPr/>
          <p:nvPr/>
        </p:nvSpPr>
        <p:spPr>
          <a:xfrm>
            <a:off x="548640" y="914400"/>
            <a:ext cx="786384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“…the basic text for our Society.”</a:t>
            </a:r>
            <a:endParaRPr lang="en-US" sz="1700" dirty="0"/>
          </a:p>
        </p:txBody>
      </p:sp>
      <p:sp>
        <p:nvSpPr>
          <p:cNvPr id="4" name="Shape 2"/>
          <p:cNvSpPr/>
          <p:nvPr/>
        </p:nvSpPr>
        <p:spPr>
          <a:xfrm>
            <a:off x="8778240" y="320040"/>
            <a:ext cx="2862072" cy="960120"/>
          </a:xfrm>
          <a:prstGeom prst="roundRect">
            <a:avLst>
              <a:gd name="adj" fmla="val 9524"/>
            </a:avLst>
          </a:prstGeom>
          <a:solidFill>
            <a:srgbClr val="065A82"/>
          </a:solidFill>
          <a:ln/>
        </p:spPr>
      </p:sp>
      <p:sp>
        <p:nvSpPr>
          <p:cNvPr id="5" name="Text 3"/>
          <p:cNvSpPr/>
          <p:nvPr/>
        </p:nvSpPr>
        <p:spPr>
          <a:xfrm>
            <a:off x="8778240" y="320040"/>
            <a:ext cx="2862072" cy="960120"/>
          </a:xfrm>
          <a:prstGeom prst="rect">
            <a:avLst/>
          </a:prstGeom>
          <a:noFill/>
          <a:ln/>
        </p:spPr>
        <p:txBody>
          <a:bodyPr wrap="square" lIns="0" tIns="0" rIns="0" bIns="0" rtlCol="0" anchor="ctr"/>
          <a:lstStyle/>
          <a:p>
            <a:pPr algn="ctr" indent="0" marL="0">
              <a:buNone/>
            </a:pPr>
            <a:r>
              <a:rPr lang="en-US" sz="1900" b="1" spc="200" kern="0" dirty="0">
                <a:solidFill>
                  <a:srgbClr val="FFFFFF"/>
                </a:solidFill>
                <a:latin typeface="Cambria" pitchFamily="34" charset="0"/>
                <a:ea typeface="Cambria" pitchFamily="34" charset="-122"/>
                <a:cs typeface="Cambria" pitchFamily="34" charset="-120"/>
              </a:rPr>
              <a:t>PREFACE</a:t>
            </a:r>
            <a:endParaRPr lang="en-US" sz="1900" dirty="0"/>
          </a:p>
          <a:p>
            <a:pPr algn="ctr" indent="0" marL="0">
              <a:buNone/>
            </a:pPr>
            <a:r>
              <a:rPr lang="en-US" sz="1400" dirty="0">
                <a:solidFill>
                  <a:srgbClr val="C7DEEC"/>
                </a:solidFill>
                <a:latin typeface="Calibri" pitchFamily="34" charset="0"/>
                <a:ea typeface="Calibri" pitchFamily="34" charset="-122"/>
                <a:cs typeface="Calibri" pitchFamily="34" charset="-120"/>
              </a:rPr>
              <a:t>Page vii</a:t>
            </a:r>
            <a:endParaRPr lang="en-US" sz="1900" dirty="0"/>
          </a:p>
        </p:txBody>
      </p:sp>
      <p:sp>
        <p:nvSpPr>
          <p:cNvPr id="6" name="Shape 4"/>
          <p:cNvSpPr/>
          <p:nvPr/>
        </p:nvSpPr>
        <p:spPr>
          <a:xfrm>
            <a:off x="548640" y="1463040"/>
            <a:ext cx="11091672" cy="1737360"/>
          </a:xfrm>
          <a:prstGeom prst="roundRect">
            <a:avLst>
              <a:gd name="adj" fmla="val 4211"/>
            </a:avLst>
          </a:prstGeom>
          <a:solidFill>
            <a:srgbClr val="E2EDF4"/>
          </a:solidFill>
          <a:ln/>
        </p:spPr>
      </p:sp>
      <p:sp>
        <p:nvSpPr>
          <p:cNvPr id="7" name="Text 5"/>
          <p:cNvSpPr/>
          <p:nvPr/>
        </p:nvSpPr>
        <p:spPr>
          <a:xfrm>
            <a:off x="914400" y="1463040"/>
            <a:ext cx="10360152" cy="173736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Because this book has become the </a:t>
            </a:r>
            <a:pPr indent="0" marL="0">
              <a:lnSpc>
                <a:spcPct val="115000"/>
              </a:lnSpc>
              <a:buNone/>
            </a:pPr>
            <a:r>
              <a:rPr lang="en-US" sz="1900" b="1" dirty="0">
                <a:solidFill>
                  <a:srgbClr val="1B2A41"/>
                </a:solidFill>
                <a:latin typeface="Calibri" pitchFamily="34" charset="0"/>
                <a:ea typeface="Calibri" pitchFamily="34" charset="-122"/>
                <a:cs typeface="Calibri" pitchFamily="34" charset="-120"/>
              </a:rPr>
              <a:t>basic text</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for our Society and has helped such large numbers of alcoholic men and women to recovery, there exists strong sentiment against any radical changes being made in it. Therefore, the first portion of this volume, describing the A.A. recovery program, has been left largely untouched in the course of revisions made for the second, third, and fourth editions.</a:t>
            </a:r>
            <a:endParaRPr lang="en-US" sz="1900" dirty="0"/>
          </a:p>
        </p:txBody>
      </p:sp>
      <p:sp>
        <p:nvSpPr>
          <p:cNvPr id="8" name="Shape 6"/>
          <p:cNvSpPr/>
          <p:nvPr/>
        </p:nvSpPr>
        <p:spPr>
          <a:xfrm>
            <a:off x="548640" y="3383280"/>
            <a:ext cx="11091672" cy="1097280"/>
          </a:xfrm>
          <a:prstGeom prst="roundRect">
            <a:avLst>
              <a:gd name="adj" fmla="val 6667"/>
            </a:avLst>
          </a:prstGeom>
          <a:solidFill>
            <a:srgbClr val="E2EDF4"/>
          </a:solidFill>
          <a:ln/>
        </p:spPr>
      </p:sp>
      <p:sp>
        <p:nvSpPr>
          <p:cNvPr id="9" name="Text 7"/>
          <p:cNvSpPr/>
          <p:nvPr/>
        </p:nvSpPr>
        <p:spPr>
          <a:xfrm>
            <a:off x="914400" y="3383280"/>
            <a:ext cx="10360152" cy="109728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The section called “The Doctor’s Opinion” has been kept intact, just as it was originally written in 1939 by the late Dr. William D. Silkworth, our Society’s great medical benefactor.</a:t>
            </a:r>
            <a:endParaRPr lang="en-US" sz="1900" dirty="0"/>
          </a:p>
        </p:txBody>
      </p:sp>
      <p:sp>
        <p:nvSpPr>
          <p:cNvPr id="10" name="Shape 8"/>
          <p:cNvSpPr/>
          <p:nvPr/>
        </p:nvSpPr>
        <p:spPr>
          <a:xfrm>
            <a:off x="548640" y="4709160"/>
            <a:ext cx="11091672" cy="914400"/>
          </a:xfrm>
          <a:prstGeom prst="roundRect">
            <a:avLst>
              <a:gd name="adj" fmla="val 8000"/>
            </a:avLst>
          </a:prstGeom>
          <a:solidFill>
            <a:srgbClr val="1B2A41"/>
          </a:solidFill>
          <a:ln/>
        </p:spPr>
      </p:sp>
      <p:sp>
        <p:nvSpPr>
          <p:cNvPr id="11" name="Text 9"/>
          <p:cNvSpPr/>
          <p:nvPr/>
        </p:nvSpPr>
        <p:spPr>
          <a:xfrm>
            <a:off x="914400" y="4828032"/>
            <a:ext cx="10360152"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MARGIN NOTE</a:t>
            </a:r>
            <a:endParaRPr lang="en-US" sz="1100" dirty="0"/>
          </a:p>
        </p:txBody>
      </p:sp>
      <p:sp>
        <p:nvSpPr>
          <p:cNvPr id="12" name="Text 10"/>
          <p:cNvSpPr/>
          <p:nvPr/>
        </p:nvSpPr>
        <p:spPr>
          <a:xfrm>
            <a:off x="914400" y="5084064"/>
            <a:ext cx="10360152"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 book for transferring knowledge.</a:t>
            </a:r>
            <a:endParaRPr lang="en-US" sz="2400" dirty="0"/>
          </a:p>
        </p:txBody>
      </p:sp>
      <p:sp>
        <p:nvSpPr>
          <p:cNvPr id="13" name="Text 11"/>
          <p:cNvSpPr/>
          <p:nvPr/>
        </p:nvSpPr>
        <p:spPr>
          <a:xfrm>
            <a:off x="548640" y="576072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Preface, p. vii.</a:t>
            </a:r>
            <a:endParaRPr lang="en-US" sz="1200" dirty="0"/>
          </a:p>
        </p:txBody>
      </p:sp>
      <p:sp>
        <p:nvSpPr>
          <p:cNvPr id="14" name="Text 12"/>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Precisely How We Have Recovered</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The main purpose of this book.</a:t>
            </a:r>
            <a:endParaRPr lang="en-US" sz="1700" dirty="0"/>
          </a:p>
        </p:txBody>
      </p:sp>
      <p:sp>
        <p:nvSpPr>
          <p:cNvPr id="4" name="Shape 2"/>
          <p:cNvSpPr/>
          <p:nvPr/>
        </p:nvSpPr>
        <p:spPr>
          <a:xfrm>
            <a:off x="8869680" y="320040"/>
            <a:ext cx="2770632" cy="960120"/>
          </a:xfrm>
          <a:prstGeom prst="roundRect">
            <a:avLst>
              <a:gd name="adj" fmla="val 9524"/>
            </a:avLst>
          </a:prstGeom>
          <a:solidFill>
            <a:srgbClr val="2C5F2D"/>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FOREWORD</a:t>
            </a:r>
            <a:endParaRPr lang="en-US" sz="1700" dirty="0"/>
          </a:p>
          <a:p>
            <a:pPr algn="ctr" indent="0" marL="0">
              <a:buNone/>
            </a:pPr>
            <a:r>
              <a:rPr lang="en-US" sz="1300" dirty="0">
                <a:solidFill>
                  <a:srgbClr val="D5E3CE"/>
                </a:solidFill>
                <a:latin typeface="Calibri" pitchFamily="34" charset="0"/>
                <a:ea typeface="Calibri" pitchFamily="34" charset="-122"/>
                <a:cs typeface="Calibri" pitchFamily="34" charset="-120"/>
              </a:rPr>
              <a:t>First Edition  ·  p. ix</a:t>
            </a:r>
            <a:endParaRPr lang="en-US" sz="1700" dirty="0"/>
          </a:p>
        </p:txBody>
      </p:sp>
      <p:sp>
        <p:nvSpPr>
          <p:cNvPr id="6" name="Shape 4"/>
          <p:cNvSpPr/>
          <p:nvPr/>
        </p:nvSpPr>
        <p:spPr>
          <a:xfrm>
            <a:off x="548640" y="1417320"/>
            <a:ext cx="11091672" cy="1371600"/>
          </a:xfrm>
          <a:prstGeom prst="roundRect">
            <a:avLst>
              <a:gd name="adj" fmla="val 5333"/>
            </a:avLst>
          </a:prstGeom>
          <a:solidFill>
            <a:srgbClr val="EAF1E6"/>
          </a:solidFill>
          <a:ln/>
        </p:spPr>
      </p:sp>
      <p:sp>
        <p:nvSpPr>
          <p:cNvPr id="7" name="Text 5"/>
          <p:cNvSpPr/>
          <p:nvPr/>
        </p:nvSpPr>
        <p:spPr>
          <a:xfrm>
            <a:off x="914400" y="1417320"/>
            <a:ext cx="10360152" cy="137160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We, of Alcoholics Anonymous, are more than </a:t>
            </a:r>
            <a:pPr indent="0" marL="0">
              <a:lnSpc>
                <a:spcPct val="115000"/>
              </a:lnSpc>
              <a:buNone/>
            </a:pPr>
            <a:r>
              <a:rPr lang="en-US" sz="1900" b="1" dirty="0">
                <a:solidFill>
                  <a:srgbClr val="2C5F2D"/>
                </a:solidFill>
                <a:latin typeface="Calibri" pitchFamily="34" charset="0"/>
                <a:ea typeface="Calibri" pitchFamily="34" charset="-122"/>
                <a:cs typeface="Calibri" pitchFamily="34" charset="-120"/>
              </a:rPr>
              <a:t>one hundred men and women</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who have recovered from a seemingly hopeless state of mind and body. To show other alcoholics </a:t>
            </a:r>
            <a:pPr indent="0" marL="0">
              <a:lnSpc>
                <a:spcPct val="115000"/>
              </a:lnSpc>
              <a:buNone/>
            </a:pPr>
            <a:r>
              <a:rPr lang="en-US" sz="1900" b="1" i="1" u="sng" dirty="0">
                <a:solidFill>
                  <a:srgbClr val="1B2A41"/>
                </a:solidFill>
                <a:latin typeface="Calibri" pitchFamily="34" charset="0"/>
                <a:ea typeface="Calibri" pitchFamily="34" charset="-122"/>
                <a:cs typeface="Calibri" pitchFamily="34" charset="-120"/>
              </a:rPr>
              <a:t>precisely how we have recovered</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is the main purpose of this book. For…</a:t>
            </a:r>
            <a:endParaRPr lang="en-US" sz="1900" dirty="0"/>
          </a:p>
        </p:txBody>
      </p:sp>
      <p:sp>
        <p:nvSpPr>
          <p:cNvPr id="8" name="Shape 6"/>
          <p:cNvSpPr/>
          <p:nvPr/>
        </p:nvSpPr>
        <p:spPr>
          <a:xfrm>
            <a:off x="548640" y="3017520"/>
            <a:ext cx="11091672" cy="1371600"/>
          </a:xfrm>
          <a:prstGeom prst="roundRect">
            <a:avLst>
              <a:gd name="adj" fmla="val 5333"/>
            </a:avLst>
          </a:prstGeom>
          <a:solidFill>
            <a:srgbClr val="E2EDF4"/>
          </a:solidFill>
          <a:ln/>
        </p:spPr>
      </p:sp>
      <p:sp>
        <p:nvSpPr>
          <p:cNvPr id="9" name="Text 7"/>
          <p:cNvSpPr/>
          <p:nvPr/>
        </p:nvSpPr>
        <p:spPr>
          <a:xfrm>
            <a:off x="914400" y="3017520"/>
            <a:ext cx="10360152" cy="137160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…them, we hope these pages will prove so convincing that no further authentication will be necessary. We think this account of our experiences will help everyone to better understand the alcoholic.</a:t>
            </a:r>
            <a:endParaRPr lang="en-US" sz="1900" dirty="0"/>
          </a:p>
        </p:txBody>
      </p:sp>
      <p:sp>
        <p:nvSpPr>
          <p:cNvPr id="10" name="Shape 8"/>
          <p:cNvSpPr/>
          <p:nvPr/>
        </p:nvSpPr>
        <p:spPr>
          <a:xfrm>
            <a:off x="548640" y="4617720"/>
            <a:ext cx="11091672" cy="1051560"/>
          </a:xfrm>
          <a:prstGeom prst="roundRect">
            <a:avLst>
              <a:gd name="adj" fmla="val 6957"/>
            </a:avLst>
          </a:prstGeom>
          <a:solidFill>
            <a:srgbClr val="1B2A41"/>
          </a:solidFill>
          <a:ln/>
        </p:spPr>
      </p:sp>
      <p:sp>
        <p:nvSpPr>
          <p:cNvPr id="11" name="Text 9"/>
          <p:cNvSpPr/>
          <p:nvPr/>
        </p:nvSpPr>
        <p:spPr>
          <a:xfrm>
            <a:off x="914400" y="4736592"/>
            <a:ext cx="10360152"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MARGIN NOTE</a:t>
            </a:r>
            <a:endParaRPr lang="en-US" sz="1100" dirty="0"/>
          </a:p>
        </p:txBody>
      </p:sp>
      <p:sp>
        <p:nvSpPr>
          <p:cNvPr id="12" name="Text 10"/>
          <p:cNvSpPr/>
          <p:nvPr/>
        </p:nvSpPr>
        <p:spPr>
          <a:xfrm>
            <a:off x="914400" y="5010912"/>
            <a:ext cx="10360152"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Authored this book — originally 87, raised to one hundred at printing time.</a:t>
            </a:r>
            <a:endParaRPr lang="en-US" sz="2200" dirty="0"/>
          </a:p>
        </p:txBody>
      </p:sp>
      <p:sp>
        <p:nvSpPr>
          <p:cNvPr id="13" name="Text 11"/>
          <p:cNvSpPr/>
          <p:nvPr/>
        </p:nvSpPr>
        <p:spPr>
          <a:xfrm>
            <a:off x="548640" y="585216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Foreword to the First Edition, p. ix.</a:t>
            </a:r>
            <a:endParaRPr lang="en-US" sz="1200" dirty="0"/>
          </a:p>
        </p:txBody>
      </p:sp>
      <p:sp>
        <p:nvSpPr>
          <p:cNvPr id="14" name="Text 12"/>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The Spark</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Akron, Ohio — June 1935.</a:t>
            </a:r>
            <a:endParaRPr lang="en-US" sz="1700" dirty="0"/>
          </a:p>
        </p:txBody>
      </p:sp>
      <p:sp>
        <p:nvSpPr>
          <p:cNvPr id="4" name="Shape 2"/>
          <p:cNvSpPr/>
          <p:nvPr/>
        </p:nvSpPr>
        <p:spPr>
          <a:xfrm>
            <a:off x="8869680" y="320040"/>
            <a:ext cx="2770632" cy="960120"/>
          </a:xfrm>
          <a:prstGeom prst="roundRect">
            <a:avLst>
              <a:gd name="adj" fmla="val 9524"/>
            </a:avLst>
          </a:prstGeom>
          <a:solidFill>
            <a:srgbClr val="065A82"/>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FOREWORD</a:t>
            </a:r>
            <a:endParaRPr lang="en-US" sz="1700" dirty="0"/>
          </a:p>
          <a:p>
            <a:pPr algn="ctr" indent="0" marL="0">
              <a:buNone/>
            </a:pPr>
            <a:r>
              <a:rPr lang="en-US" sz="1300" dirty="0">
                <a:solidFill>
                  <a:srgbClr val="C7DEEC"/>
                </a:solidFill>
                <a:latin typeface="Calibri" pitchFamily="34" charset="0"/>
                <a:ea typeface="Calibri" pitchFamily="34" charset="-122"/>
                <a:cs typeface="Calibri" pitchFamily="34" charset="-120"/>
              </a:rPr>
              <a:t>Second Ed.  ·  p. xi</a:t>
            </a:r>
            <a:endParaRPr lang="en-US" sz="1700" dirty="0"/>
          </a:p>
        </p:txBody>
      </p:sp>
      <p:sp>
        <p:nvSpPr>
          <p:cNvPr id="6" name="Shape 4"/>
          <p:cNvSpPr/>
          <p:nvPr/>
        </p:nvSpPr>
        <p:spPr>
          <a:xfrm>
            <a:off x="548640" y="1463040"/>
            <a:ext cx="11091672" cy="2103120"/>
          </a:xfrm>
          <a:prstGeom prst="roundRect">
            <a:avLst>
              <a:gd name="adj" fmla="val 3478"/>
            </a:avLst>
          </a:prstGeom>
          <a:solidFill>
            <a:srgbClr val="E2EDF4"/>
          </a:solidFill>
          <a:ln/>
        </p:spPr>
      </p:sp>
      <p:sp>
        <p:nvSpPr>
          <p:cNvPr id="7" name="Text 5"/>
          <p:cNvSpPr/>
          <p:nvPr/>
        </p:nvSpPr>
        <p:spPr>
          <a:xfrm>
            <a:off x="914400" y="1463040"/>
            <a:ext cx="10360152" cy="2103120"/>
          </a:xfrm>
          <a:prstGeom prst="rect">
            <a:avLst/>
          </a:prstGeom>
          <a:noFill/>
          <a:ln/>
        </p:spPr>
        <p:txBody>
          <a:bodyPr wrap="square" lIns="0" tIns="0" rIns="0" bIns="0" rtlCol="0" anchor="ctr"/>
          <a:lstStyle/>
          <a:p>
            <a:pPr indent="0" marL="0">
              <a:lnSpc>
                <a:spcPct val="115000"/>
              </a:lnSpc>
              <a:buNone/>
            </a:pPr>
            <a:r>
              <a:rPr lang="en-US" sz="2100" dirty="0">
                <a:solidFill>
                  <a:srgbClr val="1B2A41"/>
                </a:solidFill>
                <a:latin typeface="Calibri" pitchFamily="34" charset="0"/>
                <a:ea typeface="Calibri" pitchFamily="34" charset="-122"/>
                <a:cs typeface="Calibri" pitchFamily="34" charset="-120"/>
              </a:rPr>
              <a:t>The spark that was to flare into the first A.A. group was struck at Akron, Ohio, in June 1935, during a talk between a New York stockbroker and an Akron physician. Six months earlier, the broker had been relieved of his drink obsession by a sudden spiritual experience, following a meeting with an alcoholic friend who had been in contact with the Oxford Groups of that day.</a:t>
            </a:r>
            <a:endParaRPr lang="en-US" sz="2100" dirty="0"/>
          </a:p>
        </p:txBody>
      </p:sp>
      <p:sp>
        <p:nvSpPr>
          <p:cNvPr id="8" name="Shape 6"/>
          <p:cNvSpPr/>
          <p:nvPr/>
        </p:nvSpPr>
        <p:spPr>
          <a:xfrm>
            <a:off x="548640" y="3840480"/>
            <a:ext cx="11091672" cy="1234440"/>
          </a:xfrm>
          <a:prstGeom prst="roundRect">
            <a:avLst>
              <a:gd name="adj" fmla="val 5926"/>
            </a:avLst>
          </a:prstGeom>
          <a:solidFill>
            <a:srgbClr val="1B2A41"/>
          </a:solidFill>
          <a:ln/>
        </p:spPr>
      </p:sp>
      <p:sp>
        <p:nvSpPr>
          <p:cNvPr id="9" name="Text 7"/>
          <p:cNvSpPr/>
          <p:nvPr/>
        </p:nvSpPr>
        <p:spPr>
          <a:xfrm>
            <a:off x="914400" y="3959352"/>
            <a:ext cx="10360152"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MARGIN NOTE</a:t>
            </a:r>
            <a:endParaRPr lang="en-US" sz="1100" dirty="0"/>
          </a:p>
        </p:txBody>
      </p:sp>
      <p:sp>
        <p:nvSpPr>
          <p:cNvPr id="10" name="Text 8"/>
          <p:cNvSpPr/>
          <p:nvPr/>
        </p:nvSpPr>
        <p:spPr>
          <a:xfrm>
            <a:off x="914400" y="4233672"/>
            <a:ext cx="10360152" cy="72237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Tell the history from Roland.</a:t>
            </a:r>
            <a:endParaRPr lang="en-US" sz="2200" dirty="0"/>
          </a:p>
        </p:txBody>
      </p:sp>
      <p:sp>
        <p:nvSpPr>
          <p:cNvPr id="11" name="Text 9"/>
          <p:cNvSpPr/>
          <p:nvPr/>
        </p:nvSpPr>
        <p:spPr>
          <a:xfrm>
            <a:off x="548640" y="525780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Foreword to the Second Edition, pp. xi–xii.</a:t>
            </a:r>
            <a:endParaRPr lang="en-US" sz="1200" dirty="0"/>
          </a:p>
        </p:txBody>
      </p:sp>
      <p:sp>
        <p:nvSpPr>
          <p:cNvPr id="12" name="Text 10"/>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The Grave Nature of Alcoholism</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What the broker had already learned.</a:t>
            </a:r>
            <a:endParaRPr lang="en-US" sz="1700" dirty="0"/>
          </a:p>
        </p:txBody>
      </p:sp>
      <p:sp>
        <p:nvSpPr>
          <p:cNvPr id="4" name="Shape 2"/>
          <p:cNvSpPr/>
          <p:nvPr/>
        </p:nvSpPr>
        <p:spPr>
          <a:xfrm>
            <a:off x="8869680" y="320040"/>
            <a:ext cx="2770632" cy="960120"/>
          </a:xfrm>
          <a:prstGeom prst="roundRect">
            <a:avLst>
              <a:gd name="adj" fmla="val 9524"/>
            </a:avLst>
          </a:prstGeom>
          <a:solidFill>
            <a:srgbClr val="065A82"/>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FOREWORD</a:t>
            </a:r>
            <a:endParaRPr lang="en-US" sz="1700" dirty="0"/>
          </a:p>
          <a:p>
            <a:pPr algn="ctr" indent="0" marL="0">
              <a:buNone/>
            </a:pPr>
            <a:r>
              <a:rPr lang="en-US" sz="1300" dirty="0">
                <a:solidFill>
                  <a:srgbClr val="C7DEEC"/>
                </a:solidFill>
                <a:latin typeface="Calibri" pitchFamily="34" charset="0"/>
                <a:ea typeface="Calibri" pitchFamily="34" charset="-122"/>
                <a:cs typeface="Calibri" pitchFamily="34" charset="-120"/>
              </a:rPr>
              <a:t>Second Ed.  ·  p. xii</a:t>
            </a:r>
            <a:endParaRPr lang="en-US" sz="1700" dirty="0"/>
          </a:p>
        </p:txBody>
      </p:sp>
      <p:sp>
        <p:nvSpPr>
          <p:cNvPr id="6" name="Shape 4"/>
          <p:cNvSpPr/>
          <p:nvPr/>
        </p:nvSpPr>
        <p:spPr>
          <a:xfrm>
            <a:off x="548640" y="1417320"/>
            <a:ext cx="11091672" cy="1783080"/>
          </a:xfrm>
          <a:prstGeom prst="roundRect">
            <a:avLst>
              <a:gd name="adj" fmla="val 4103"/>
            </a:avLst>
          </a:prstGeom>
          <a:solidFill>
            <a:srgbClr val="E2EDF4"/>
          </a:solidFill>
          <a:ln/>
        </p:spPr>
      </p:sp>
      <p:sp>
        <p:nvSpPr>
          <p:cNvPr id="7" name="Text 5"/>
          <p:cNvSpPr/>
          <p:nvPr/>
        </p:nvSpPr>
        <p:spPr>
          <a:xfrm>
            <a:off x="914400" y="1417320"/>
            <a:ext cx="10360152" cy="178308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He had also been greatly helped by the late Dr. William D. Silkworth, a New York specialist in alcoholism who is now accounted no less than a medical saint by A.A. members, and whose story of the early days of our Society appears in the next pages. From this doctor, the broker had learned the grave nature of alcoholism.</a:t>
            </a:r>
            <a:endParaRPr lang="en-US" sz="1900" dirty="0"/>
          </a:p>
        </p:txBody>
      </p:sp>
      <p:sp>
        <p:nvSpPr>
          <p:cNvPr id="8" name="Shape 6"/>
          <p:cNvSpPr/>
          <p:nvPr/>
        </p:nvSpPr>
        <p:spPr>
          <a:xfrm>
            <a:off x="548640" y="3383280"/>
            <a:ext cx="11091672" cy="1828800"/>
          </a:xfrm>
          <a:prstGeom prst="roundRect">
            <a:avLst>
              <a:gd name="adj" fmla="val 4000"/>
            </a:avLst>
          </a:prstGeom>
          <a:solidFill>
            <a:srgbClr val="E2EDF4"/>
          </a:solidFill>
          <a:ln/>
        </p:spPr>
      </p:sp>
      <p:sp>
        <p:nvSpPr>
          <p:cNvPr id="9" name="Text 7"/>
          <p:cNvSpPr/>
          <p:nvPr/>
        </p:nvSpPr>
        <p:spPr>
          <a:xfrm>
            <a:off x="914400" y="3383280"/>
            <a:ext cx="10360152" cy="182880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Though he could not accept all the tenets of the Oxford Groups, he was convinced of the need for </a:t>
            </a:r>
            <a:pPr indent="0" marL="0">
              <a:lnSpc>
                <a:spcPct val="115000"/>
              </a:lnSpc>
              <a:buNone/>
            </a:pPr>
            <a:r>
              <a:rPr lang="en-US" sz="1900" b="1" dirty="0">
                <a:solidFill>
                  <a:srgbClr val="065A82"/>
                </a:solidFill>
                <a:latin typeface="Calibri" pitchFamily="34" charset="0"/>
                <a:ea typeface="Calibri" pitchFamily="34" charset="-122"/>
                <a:cs typeface="Calibri" pitchFamily="34" charset="-120"/>
              </a:rPr>
              <a:t>moral inventory</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a:t>
            </a:r>
            <a:pPr indent="0" marL="0">
              <a:lnSpc>
                <a:spcPct val="115000"/>
              </a:lnSpc>
              <a:buNone/>
            </a:pPr>
            <a:r>
              <a:rPr lang="en-US" sz="1900" b="1" dirty="0">
                <a:solidFill>
                  <a:srgbClr val="065A82"/>
                </a:solidFill>
                <a:latin typeface="Calibri" pitchFamily="34" charset="0"/>
                <a:ea typeface="Calibri" pitchFamily="34" charset="-122"/>
                <a:cs typeface="Calibri" pitchFamily="34" charset="-120"/>
              </a:rPr>
              <a:t>confession of personality defects</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a:t>
            </a:r>
            <a:pPr indent="0" marL="0">
              <a:lnSpc>
                <a:spcPct val="115000"/>
              </a:lnSpc>
              <a:buNone/>
            </a:pPr>
            <a:r>
              <a:rPr lang="en-US" sz="1900" b="1" dirty="0">
                <a:solidFill>
                  <a:srgbClr val="065A82"/>
                </a:solidFill>
                <a:latin typeface="Calibri" pitchFamily="34" charset="0"/>
                <a:ea typeface="Calibri" pitchFamily="34" charset="-122"/>
                <a:cs typeface="Calibri" pitchFamily="34" charset="-120"/>
              </a:rPr>
              <a:t>restitution to those harmed</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a:t>
            </a:r>
            <a:pPr indent="0" marL="0">
              <a:lnSpc>
                <a:spcPct val="115000"/>
              </a:lnSpc>
              <a:buNone/>
            </a:pPr>
            <a:r>
              <a:rPr lang="en-US" sz="1900" b="1" dirty="0">
                <a:solidFill>
                  <a:srgbClr val="065A82"/>
                </a:solidFill>
                <a:latin typeface="Calibri" pitchFamily="34" charset="0"/>
                <a:ea typeface="Calibri" pitchFamily="34" charset="-122"/>
                <a:cs typeface="Calibri" pitchFamily="34" charset="-120"/>
              </a:rPr>
              <a:t>helpfulness to others</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and the necessity of </a:t>
            </a:r>
            <a:pPr indent="0" marL="0">
              <a:lnSpc>
                <a:spcPct val="115000"/>
              </a:lnSpc>
              <a:buNone/>
            </a:pPr>
            <a:r>
              <a:rPr lang="en-US" sz="1900" b="1" dirty="0">
                <a:solidFill>
                  <a:srgbClr val="065A82"/>
                </a:solidFill>
                <a:latin typeface="Calibri" pitchFamily="34" charset="0"/>
                <a:ea typeface="Calibri" pitchFamily="34" charset="-122"/>
                <a:cs typeface="Calibri" pitchFamily="34" charset="-120"/>
              </a:rPr>
              <a:t>belief in and dependence upon God</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a:t>
            </a:r>
            <a:endParaRPr lang="en-US" sz="1900" dirty="0"/>
          </a:p>
        </p:txBody>
      </p:sp>
      <p:sp>
        <p:nvSpPr>
          <p:cNvPr id="10" name="Text 8"/>
          <p:cNvSpPr/>
          <p:nvPr/>
        </p:nvSpPr>
        <p:spPr>
          <a:xfrm>
            <a:off x="548640" y="544068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Foreword to the Second Edition, p. xii.</a:t>
            </a:r>
            <a:endParaRPr lang="en-US" sz="1200" dirty="0"/>
          </a:p>
        </p:txBody>
      </p:sp>
      <p:sp>
        <p:nvSpPr>
          <p:cNvPr id="11" name="Text 9"/>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He Must Carry His Message</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In order to save himself.</a:t>
            </a:r>
            <a:endParaRPr lang="en-US" sz="1700" dirty="0"/>
          </a:p>
        </p:txBody>
      </p:sp>
      <p:sp>
        <p:nvSpPr>
          <p:cNvPr id="4" name="Shape 2"/>
          <p:cNvSpPr/>
          <p:nvPr/>
        </p:nvSpPr>
        <p:spPr>
          <a:xfrm>
            <a:off x="8869680" y="320040"/>
            <a:ext cx="2770632" cy="960120"/>
          </a:xfrm>
          <a:prstGeom prst="roundRect">
            <a:avLst>
              <a:gd name="adj" fmla="val 9524"/>
            </a:avLst>
          </a:prstGeom>
          <a:solidFill>
            <a:srgbClr val="2C5F2D"/>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FOREWORD</a:t>
            </a:r>
            <a:endParaRPr lang="en-US" sz="1700" dirty="0"/>
          </a:p>
          <a:p>
            <a:pPr algn="ctr" indent="0" marL="0">
              <a:buNone/>
            </a:pPr>
            <a:r>
              <a:rPr lang="en-US" sz="1300" dirty="0">
                <a:solidFill>
                  <a:srgbClr val="D5E3CE"/>
                </a:solidFill>
                <a:latin typeface="Calibri" pitchFamily="34" charset="0"/>
                <a:ea typeface="Calibri" pitchFamily="34" charset="-122"/>
                <a:cs typeface="Calibri" pitchFamily="34" charset="-120"/>
              </a:rPr>
              <a:t>Second Ed.  ·  p. xii</a:t>
            </a:r>
            <a:endParaRPr lang="en-US" sz="1700" dirty="0"/>
          </a:p>
        </p:txBody>
      </p:sp>
      <p:sp>
        <p:nvSpPr>
          <p:cNvPr id="6" name="Shape 4"/>
          <p:cNvSpPr/>
          <p:nvPr/>
        </p:nvSpPr>
        <p:spPr>
          <a:xfrm>
            <a:off x="548640" y="1417320"/>
            <a:ext cx="11091672" cy="2286000"/>
          </a:xfrm>
          <a:prstGeom prst="roundRect">
            <a:avLst>
              <a:gd name="adj" fmla="val 3200"/>
            </a:avLst>
          </a:prstGeom>
          <a:solidFill>
            <a:srgbClr val="EAF1E6"/>
          </a:solidFill>
          <a:ln/>
        </p:spPr>
      </p:sp>
      <p:sp>
        <p:nvSpPr>
          <p:cNvPr id="7" name="Text 5"/>
          <p:cNvSpPr/>
          <p:nvPr/>
        </p:nvSpPr>
        <p:spPr>
          <a:xfrm>
            <a:off x="914400" y="1417320"/>
            <a:ext cx="10360152" cy="228600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Prior to his journey to Akron, the broker had worked hard with many alcoholics on the theory that only an alcoholic could help an alcoholic, but he had succeeded only in keeping sober himself. The broker had gone to Akron on a business venture which had collapsed, leaving him greatly in fear that he might start drinking again. He suddenly realized that in order to save himself </a:t>
            </a:r>
            <a:pPr indent="0" marL="0">
              <a:lnSpc>
                <a:spcPct val="115000"/>
              </a:lnSpc>
              <a:buNone/>
            </a:pPr>
            <a:r>
              <a:rPr lang="en-US" sz="1900" b="1" dirty="0">
                <a:solidFill>
                  <a:srgbClr val="9E1B60"/>
                </a:solidFill>
                <a:latin typeface="Calibri" pitchFamily="34" charset="0"/>
                <a:ea typeface="Calibri" pitchFamily="34" charset="-122"/>
                <a:cs typeface="Calibri" pitchFamily="34" charset="-120"/>
              </a:rPr>
              <a:t>he must carry his message to another alcoholic</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That alcoholic turned out to be the Akron physician.</a:t>
            </a:r>
            <a:endParaRPr lang="en-US" sz="1900" dirty="0"/>
          </a:p>
        </p:txBody>
      </p:sp>
      <p:sp>
        <p:nvSpPr>
          <p:cNvPr id="8" name="Shape 6"/>
          <p:cNvSpPr/>
          <p:nvPr/>
        </p:nvSpPr>
        <p:spPr>
          <a:xfrm>
            <a:off x="548640" y="3931920"/>
            <a:ext cx="11091672" cy="1234440"/>
          </a:xfrm>
          <a:prstGeom prst="roundRect">
            <a:avLst>
              <a:gd name="adj" fmla="val 5926"/>
            </a:avLst>
          </a:prstGeom>
          <a:solidFill>
            <a:srgbClr val="9E1B60"/>
          </a:solidFill>
          <a:ln/>
        </p:spPr>
      </p:sp>
      <p:sp>
        <p:nvSpPr>
          <p:cNvPr id="9" name="Text 7"/>
          <p:cNvSpPr/>
          <p:nvPr/>
        </p:nvSpPr>
        <p:spPr>
          <a:xfrm>
            <a:off x="914400" y="4050792"/>
            <a:ext cx="10360152" cy="256032"/>
          </a:xfrm>
          <a:prstGeom prst="rect">
            <a:avLst/>
          </a:prstGeom>
          <a:noFill/>
          <a:ln/>
        </p:spPr>
        <p:txBody>
          <a:bodyPr wrap="square" lIns="0" tIns="0" rIns="0" bIns="0" rtlCol="0" anchor="ctr"/>
          <a:lstStyle/>
          <a:p>
            <a:pPr indent="0" marL="0">
              <a:buNone/>
            </a:pPr>
            <a:r>
              <a:rPr lang="en-US" sz="1100" b="1" spc="200" kern="0" dirty="0">
                <a:solidFill>
                  <a:srgbClr val="F7D9E8"/>
                </a:solidFill>
                <a:latin typeface="Calibri" pitchFamily="34" charset="0"/>
                <a:ea typeface="Calibri" pitchFamily="34" charset="-122"/>
                <a:cs typeface="Calibri" pitchFamily="34" charset="-120"/>
              </a:rPr>
              <a:t>A “MUST”</a:t>
            </a:r>
            <a:endParaRPr lang="en-US" sz="1100" dirty="0"/>
          </a:p>
        </p:txBody>
      </p:sp>
      <p:sp>
        <p:nvSpPr>
          <p:cNvPr id="10" name="Text 8"/>
          <p:cNvSpPr/>
          <p:nvPr/>
        </p:nvSpPr>
        <p:spPr>
          <a:xfrm>
            <a:off x="914400" y="4325112"/>
            <a:ext cx="10360152" cy="6858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…he must carry his message to another alcoholic.</a:t>
            </a:r>
            <a:endParaRPr lang="en-US" sz="2400" dirty="0"/>
          </a:p>
        </p:txBody>
      </p:sp>
      <p:sp>
        <p:nvSpPr>
          <p:cNvPr id="11" name="Text 9"/>
          <p:cNvSpPr/>
          <p:nvPr/>
        </p:nvSpPr>
        <p:spPr>
          <a:xfrm>
            <a:off x="548640" y="539496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Foreword to the Second Edition, p. xii.</a:t>
            </a:r>
            <a:endParaRPr lang="en-US" sz="1200" dirty="0"/>
          </a:p>
        </p:txBody>
      </p:sp>
      <p:sp>
        <p:nvSpPr>
          <p:cNvPr id="12" name="Text 10"/>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Two Things We Learned</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From the first talk between the broker and the physician.</a:t>
            </a:r>
            <a:endParaRPr lang="en-US" sz="1700" dirty="0"/>
          </a:p>
        </p:txBody>
      </p:sp>
      <p:sp>
        <p:nvSpPr>
          <p:cNvPr id="4" name="Shape 2"/>
          <p:cNvSpPr/>
          <p:nvPr/>
        </p:nvSpPr>
        <p:spPr>
          <a:xfrm>
            <a:off x="8869680" y="320040"/>
            <a:ext cx="2770632" cy="960120"/>
          </a:xfrm>
          <a:prstGeom prst="roundRect">
            <a:avLst>
              <a:gd name="adj" fmla="val 9524"/>
            </a:avLst>
          </a:prstGeom>
          <a:solidFill>
            <a:srgbClr val="1B2A41"/>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FOREWORD</a:t>
            </a:r>
            <a:endParaRPr lang="en-US" sz="1700" dirty="0"/>
          </a:p>
          <a:p>
            <a:pPr algn="ctr" indent="0" marL="0">
              <a:buNone/>
            </a:pPr>
            <a:r>
              <a:rPr lang="en-US" sz="1300" dirty="0">
                <a:solidFill>
                  <a:srgbClr val="A9B8CC"/>
                </a:solidFill>
                <a:latin typeface="Calibri" pitchFamily="34" charset="0"/>
                <a:ea typeface="Calibri" pitchFamily="34" charset="-122"/>
                <a:cs typeface="Calibri" pitchFamily="34" charset="-120"/>
              </a:rPr>
              <a:t>Second Ed.  ·  pp. xii–xiii</a:t>
            </a:r>
            <a:endParaRPr lang="en-US" sz="1700" dirty="0"/>
          </a:p>
        </p:txBody>
      </p:sp>
      <p:sp>
        <p:nvSpPr>
          <p:cNvPr id="6" name="Shape 4"/>
          <p:cNvSpPr/>
          <p:nvPr/>
        </p:nvSpPr>
        <p:spPr>
          <a:xfrm>
            <a:off x="548640" y="1600200"/>
            <a:ext cx="11091672" cy="1554480"/>
          </a:xfrm>
          <a:prstGeom prst="roundRect">
            <a:avLst>
              <a:gd name="adj" fmla="val 4706"/>
            </a:avLst>
          </a:prstGeom>
          <a:solidFill>
            <a:srgbClr val="E2EDF4"/>
          </a:solidFill>
          <a:ln/>
        </p:spPr>
      </p:sp>
      <p:sp>
        <p:nvSpPr>
          <p:cNvPr id="7" name="Shape 5"/>
          <p:cNvSpPr/>
          <p:nvPr/>
        </p:nvSpPr>
        <p:spPr>
          <a:xfrm>
            <a:off x="914400" y="2084832"/>
            <a:ext cx="585216" cy="585216"/>
          </a:xfrm>
          <a:prstGeom prst="ellipse">
            <a:avLst/>
          </a:prstGeom>
          <a:solidFill>
            <a:srgbClr val="065A82"/>
          </a:solidFill>
          <a:ln/>
        </p:spPr>
      </p:sp>
      <p:sp>
        <p:nvSpPr>
          <p:cNvPr id="8" name="Text 6"/>
          <p:cNvSpPr/>
          <p:nvPr/>
        </p:nvSpPr>
        <p:spPr>
          <a:xfrm>
            <a:off x="914400" y="2084832"/>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7"/>
          <p:cNvSpPr/>
          <p:nvPr/>
        </p:nvSpPr>
        <p:spPr>
          <a:xfrm>
            <a:off x="1783080" y="1600200"/>
            <a:ext cx="9509760" cy="1554480"/>
          </a:xfrm>
          <a:prstGeom prst="rect">
            <a:avLst/>
          </a:prstGeom>
          <a:noFill/>
          <a:ln/>
        </p:spPr>
        <p:txBody>
          <a:bodyPr wrap="square" lIns="0" tIns="0" rIns="0" bIns="0" rtlCol="0" anchor="ctr"/>
          <a:lstStyle/>
          <a:p>
            <a:pPr indent="0" marL="0">
              <a:lnSpc>
                <a:spcPct val="115000"/>
              </a:lnSpc>
              <a:buNone/>
            </a:pPr>
            <a:r>
              <a:rPr lang="en-US" sz="2200" dirty="0">
                <a:solidFill>
                  <a:srgbClr val="1B2A41"/>
                </a:solidFill>
                <a:latin typeface="Calibri" pitchFamily="34" charset="0"/>
                <a:ea typeface="Calibri" pitchFamily="34" charset="-122"/>
                <a:cs typeface="Calibri" pitchFamily="34" charset="-120"/>
              </a:rPr>
              <a:t>This seemed to prove that one alcoholic could affect another as no nonalcoholic could.</a:t>
            </a:r>
            <a:endParaRPr lang="en-US" sz="2200" dirty="0"/>
          </a:p>
        </p:txBody>
      </p:sp>
      <p:sp>
        <p:nvSpPr>
          <p:cNvPr id="10" name="Shape 8"/>
          <p:cNvSpPr/>
          <p:nvPr/>
        </p:nvSpPr>
        <p:spPr>
          <a:xfrm>
            <a:off x="548640" y="3383280"/>
            <a:ext cx="11091672" cy="1554480"/>
          </a:xfrm>
          <a:prstGeom prst="roundRect">
            <a:avLst>
              <a:gd name="adj" fmla="val 4706"/>
            </a:avLst>
          </a:prstGeom>
          <a:solidFill>
            <a:srgbClr val="EAF1E6"/>
          </a:solidFill>
          <a:ln/>
        </p:spPr>
      </p:sp>
      <p:sp>
        <p:nvSpPr>
          <p:cNvPr id="11" name="Shape 9"/>
          <p:cNvSpPr/>
          <p:nvPr/>
        </p:nvSpPr>
        <p:spPr>
          <a:xfrm>
            <a:off x="914400" y="3867912"/>
            <a:ext cx="585216" cy="585216"/>
          </a:xfrm>
          <a:prstGeom prst="ellipse">
            <a:avLst/>
          </a:prstGeom>
          <a:solidFill>
            <a:srgbClr val="2C5F2D"/>
          </a:solidFill>
          <a:ln/>
        </p:spPr>
      </p:sp>
      <p:sp>
        <p:nvSpPr>
          <p:cNvPr id="12" name="Text 10"/>
          <p:cNvSpPr/>
          <p:nvPr/>
        </p:nvSpPr>
        <p:spPr>
          <a:xfrm>
            <a:off x="914400" y="3867912"/>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1783080" y="3383280"/>
            <a:ext cx="9509760" cy="1554480"/>
          </a:xfrm>
          <a:prstGeom prst="rect">
            <a:avLst/>
          </a:prstGeom>
          <a:noFill/>
          <a:ln/>
        </p:spPr>
        <p:txBody>
          <a:bodyPr wrap="square" lIns="0" tIns="0" rIns="0" bIns="0" rtlCol="0" anchor="ctr"/>
          <a:lstStyle/>
          <a:p>
            <a:pPr indent="0" marL="0">
              <a:lnSpc>
                <a:spcPct val="115000"/>
              </a:lnSpc>
              <a:buNone/>
            </a:pPr>
            <a:r>
              <a:rPr lang="en-US" sz="2200" dirty="0">
                <a:solidFill>
                  <a:srgbClr val="1B2A41"/>
                </a:solidFill>
                <a:latin typeface="Calibri" pitchFamily="34" charset="0"/>
                <a:ea typeface="Calibri" pitchFamily="34" charset="-122"/>
                <a:cs typeface="Calibri" pitchFamily="34" charset="-120"/>
              </a:rPr>
              <a:t>It also indicated that strenuous work, one alcoholic with another, was vital to permanent recovery.</a:t>
            </a:r>
            <a:endParaRPr lang="en-US" sz="2200" dirty="0"/>
          </a:p>
        </p:txBody>
      </p:sp>
      <p:sp>
        <p:nvSpPr>
          <p:cNvPr id="14" name="Text 12"/>
          <p:cNvSpPr/>
          <p:nvPr/>
        </p:nvSpPr>
        <p:spPr>
          <a:xfrm>
            <a:off x="548640" y="516636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Foreword to the Second Edition, pp. xii–xiii.</a:t>
            </a:r>
            <a:endParaRPr lang="en-US" sz="1200" dirty="0"/>
          </a:p>
        </p:txBody>
      </p:sp>
      <p:sp>
        <p:nvSpPr>
          <p:cNvPr id="15" name="Text 13"/>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A.A. Number Three</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Their very first case.</a:t>
            </a:r>
            <a:endParaRPr lang="en-US" sz="1700" dirty="0"/>
          </a:p>
        </p:txBody>
      </p:sp>
      <p:sp>
        <p:nvSpPr>
          <p:cNvPr id="4" name="Shape 2"/>
          <p:cNvSpPr/>
          <p:nvPr/>
        </p:nvSpPr>
        <p:spPr>
          <a:xfrm>
            <a:off x="8869680" y="320040"/>
            <a:ext cx="2770632" cy="960120"/>
          </a:xfrm>
          <a:prstGeom prst="roundRect">
            <a:avLst>
              <a:gd name="adj" fmla="val 9524"/>
            </a:avLst>
          </a:prstGeom>
          <a:solidFill>
            <a:srgbClr val="2C5F2D"/>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FOREWORD</a:t>
            </a:r>
            <a:endParaRPr lang="en-US" sz="1700" dirty="0"/>
          </a:p>
          <a:p>
            <a:pPr algn="ctr" indent="0" marL="0">
              <a:buNone/>
            </a:pPr>
            <a:r>
              <a:rPr lang="en-US" sz="1300" dirty="0">
                <a:solidFill>
                  <a:srgbClr val="D5E3CE"/>
                </a:solidFill>
                <a:latin typeface="Calibri" pitchFamily="34" charset="0"/>
                <a:ea typeface="Calibri" pitchFamily="34" charset="-122"/>
                <a:cs typeface="Calibri" pitchFamily="34" charset="-120"/>
              </a:rPr>
              <a:t>Second Ed.  ·  p. xiii</a:t>
            </a:r>
            <a:endParaRPr lang="en-US" sz="1700" dirty="0"/>
          </a:p>
        </p:txBody>
      </p:sp>
      <p:sp>
        <p:nvSpPr>
          <p:cNvPr id="6" name="Shape 4"/>
          <p:cNvSpPr/>
          <p:nvPr/>
        </p:nvSpPr>
        <p:spPr>
          <a:xfrm>
            <a:off x="548640" y="1463040"/>
            <a:ext cx="4892040" cy="3657600"/>
          </a:xfrm>
          <a:prstGeom prst="roundRect">
            <a:avLst>
              <a:gd name="adj" fmla="val 2000"/>
            </a:avLst>
          </a:prstGeom>
          <a:solidFill>
            <a:srgbClr val="F1F4F7"/>
          </a:solidFill>
          <a:ln w="19050">
            <a:solidFill>
              <a:srgbClr val="AEBBC9"/>
            </a:solidFill>
            <a:prstDash val="dash"/>
          </a:ln>
        </p:spPr>
      </p:sp>
      <p:sp>
        <p:nvSpPr>
          <p:cNvPr id="7" name="Text 5"/>
          <p:cNvSpPr/>
          <p:nvPr/>
        </p:nvSpPr>
        <p:spPr>
          <a:xfrm>
            <a:off x="822960" y="1463040"/>
            <a:ext cx="4343400" cy="3657600"/>
          </a:xfrm>
          <a:prstGeom prst="rect">
            <a:avLst/>
          </a:prstGeom>
          <a:noFill/>
          <a:ln/>
        </p:spPr>
        <p:txBody>
          <a:bodyPr wrap="square" lIns="0" tIns="0" rIns="0" bIns="0" rtlCol="0" anchor="ctr"/>
          <a:lstStyle/>
          <a:p>
            <a:pPr algn="ctr" indent="0" marL="0">
              <a:buNone/>
            </a:pPr>
            <a:r>
              <a:rPr lang="en-US" sz="1100" b="1" spc="200" kern="0" dirty="0">
                <a:solidFill>
                  <a:srgbClr val="6B7A8C"/>
                </a:solidFill>
                <a:latin typeface="Calibri" pitchFamily="34" charset="0"/>
                <a:ea typeface="Calibri" pitchFamily="34" charset="-122"/>
                <a:cs typeface="Calibri" pitchFamily="34" charset="-120"/>
              </a:rPr>
              <a:t>PHOTOGRAPH</a:t>
            </a:r>
            <a:endParaRPr lang="en-US" sz="1100" dirty="0"/>
          </a:p>
          <a:p>
            <a:pPr algn="ctr" indent="0" marL="0">
              <a:buNone/>
            </a:pPr>
            <a:r>
              <a:rPr lang="en-US" sz="800" dirty="0">
                <a:solidFill>
                  <a:srgbClr val="000000"/>
                </a:solidFill>
                <a:latin typeface="Calibri" pitchFamily="34" charset="0"/>
                <a:ea typeface="Calibri" pitchFamily="34" charset="-122"/>
                <a:cs typeface="Calibri" pitchFamily="34" charset="-120"/>
              </a:rPr>
              <a:t>
</a:t>
            </a:r>
            <a:endParaRPr lang="en-US" sz="1100" dirty="0"/>
          </a:p>
          <a:p>
            <a:pPr algn="ctr" indent="0" marL="0">
              <a:buNone/>
            </a:pPr>
            <a:r>
              <a:rPr lang="en-US" sz="1700" b="1" dirty="0">
                <a:solidFill>
                  <a:srgbClr val="1B2A41"/>
                </a:solidFill>
                <a:latin typeface="Calibri" pitchFamily="34" charset="0"/>
                <a:ea typeface="Calibri" pitchFamily="34" charset="-122"/>
                <a:cs typeface="Calibri" pitchFamily="34" charset="-120"/>
              </a:rPr>
              <a:t>Bill D. in the hospital bed</a:t>
            </a:r>
            <a:endParaRPr lang="en-US" sz="1100" dirty="0"/>
          </a:p>
          <a:p>
            <a:pPr algn="ctr" indent="0" marL="0">
              <a:buNone/>
            </a:pPr>
            <a:r>
              <a:rPr lang="en-US" sz="1500" dirty="0">
                <a:solidFill>
                  <a:srgbClr val="6B7A8C"/>
                </a:solidFill>
                <a:latin typeface="Calibri" pitchFamily="34" charset="0"/>
                <a:ea typeface="Calibri" pitchFamily="34" charset="-122"/>
                <a:cs typeface="Calibri" pitchFamily="34" charset="-120"/>
              </a:rPr>
              <a:t>Akron City Hospital, 1935</a:t>
            </a:r>
            <a:endParaRPr lang="en-US" sz="1100" dirty="0"/>
          </a:p>
          <a:p>
            <a:pPr algn="ctr" indent="0" marL="0">
              <a:buNone/>
            </a:pPr>
            <a:r>
              <a:rPr lang="en-US" sz="800" dirty="0">
                <a:solidFill>
                  <a:srgbClr val="000000"/>
                </a:solidFill>
                <a:latin typeface="Calibri" pitchFamily="34" charset="0"/>
                <a:ea typeface="Calibri" pitchFamily="34" charset="-122"/>
                <a:cs typeface="Calibri" pitchFamily="34" charset="-120"/>
              </a:rPr>
              <a:t>
</a:t>
            </a:r>
            <a:endParaRPr lang="en-US" sz="1100" dirty="0"/>
          </a:p>
          <a:p>
            <a:pPr algn="ctr" indent="0" marL="0">
              <a:buNone/>
            </a:pPr>
            <a:r>
              <a:rPr lang="en-US" sz="1300" i="1" dirty="0">
                <a:solidFill>
                  <a:srgbClr val="6B7A8C"/>
                </a:solidFill>
                <a:latin typeface="Calibri" pitchFamily="34" charset="0"/>
                <a:ea typeface="Calibri" pitchFamily="34" charset="-122"/>
                <a:cs typeface="Calibri" pitchFamily="34" charset="-120"/>
              </a:rPr>
              <a:t>Drop the image into this frame in PowerPoint.</a:t>
            </a:r>
            <a:endParaRPr lang="en-US" sz="1100" dirty="0"/>
          </a:p>
        </p:txBody>
      </p:sp>
      <p:sp>
        <p:nvSpPr>
          <p:cNvPr id="8" name="Shape 6"/>
          <p:cNvSpPr/>
          <p:nvPr/>
        </p:nvSpPr>
        <p:spPr>
          <a:xfrm>
            <a:off x="5760720" y="1463040"/>
            <a:ext cx="5879592" cy="2057400"/>
          </a:xfrm>
          <a:prstGeom prst="roundRect">
            <a:avLst>
              <a:gd name="adj" fmla="val 3556"/>
            </a:avLst>
          </a:prstGeom>
          <a:solidFill>
            <a:srgbClr val="EAF1E6"/>
          </a:solidFill>
          <a:ln/>
        </p:spPr>
      </p:sp>
      <p:sp>
        <p:nvSpPr>
          <p:cNvPr id="9" name="Text 7"/>
          <p:cNvSpPr/>
          <p:nvPr/>
        </p:nvSpPr>
        <p:spPr>
          <a:xfrm>
            <a:off x="6126480" y="1463040"/>
            <a:ext cx="5148072" cy="2057400"/>
          </a:xfrm>
          <a:prstGeom prst="rect">
            <a:avLst/>
          </a:prstGeom>
          <a:noFill/>
          <a:ln/>
        </p:spPr>
        <p:txBody>
          <a:bodyPr wrap="square" lIns="0" tIns="0" rIns="0" bIns="0" rtlCol="0" anchor="ctr"/>
          <a:lstStyle/>
          <a:p>
            <a:pPr indent="0" marL="0">
              <a:lnSpc>
                <a:spcPct val="115000"/>
              </a:lnSpc>
              <a:buNone/>
            </a:pPr>
            <a:r>
              <a:rPr lang="en-US" sz="1900" b="1" u="sng" dirty="0">
                <a:solidFill>
                  <a:srgbClr val="1B2A41"/>
                </a:solidFill>
                <a:latin typeface="Calibri" pitchFamily="34" charset="0"/>
                <a:ea typeface="Calibri" pitchFamily="34" charset="-122"/>
                <a:cs typeface="Calibri" pitchFamily="34" charset="-120"/>
              </a:rPr>
              <a:t>Their very first case, a desperate one, recovered immediately and became A.A. number three.</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He never had another drink.</a:t>
            </a:r>
            <a:endParaRPr lang="en-US" sz="1900" dirty="0"/>
          </a:p>
        </p:txBody>
      </p:sp>
      <p:sp>
        <p:nvSpPr>
          <p:cNvPr id="10" name="Shape 8"/>
          <p:cNvSpPr/>
          <p:nvPr/>
        </p:nvSpPr>
        <p:spPr>
          <a:xfrm>
            <a:off x="5760720" y="3703320"/>
            <a:ext cx="5879592" cy="1417320"/>
          </a:xfrm>
          <a:prstGeom prst="roundRect">
            <a:avLst>
              <a:gd name="adj" fmla="val 5161"/>
            </a:avLst>
          </a:prstGeom>
          <a:solidFill>
            <a:srgbClr val="1B2A41"/>
          </a:solidFill>
          <a:ln/>
        </p:spPr>
      </p:sp>
      <p:sp>
        <p:nvSpPr>
          <p:cNvPr id="11" name="Text 9"/>
          <p:cNvSpPr/>
          <p:nvPr/>
        </p:nvSpPr>
        <p:spPr>
          <a:xfrm>
            <a:off x="6126480" y="3840480"/>
            <a:ext cx="5148072"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MARGIN NOTE</a:t>
            </a:r>
            <a:endParaRPr lang="en-US" sz="1100" dirty="0"/>
          </a:p>
        </p:txBody>
      </p:sp>
      <p:sp>
        <p:nvSpPr>
          <p:cNvPr id="12" name="Text 10"/>
          <p:cNvSpPr/>
          <p:nvPr/>
        </p:nvSpPr>
        <p:spPr>
          <a:xfrm>
            <a:off x="6126480" y="4133088"/>
            <a:ext cx="5148072" cy="7772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Bill D. — A.A. Number Three</a:t>
            </a:r>
            <a:endParaRPr lang="en-US" sz="2200" dirty="0"/>
          </a:p>
        </p:txBody>
      </p:sp>
      <p:sp>
        <p:nvSpPr>
          <p:cNvPr id="13" name="Text 11"/>
          <p:cNvSpPr/>
          <p:nvPr/>
        </p:nvSpPr>
        <p:spPr>
          <a:xfrm>
            <a:off x="548640" y="534924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Foreword to the Second Edition, p. xiii.</a:t>
            </a:r>
            <a:endParaRPr lang="en-US" sz="1200" dirty="0"/>
          </a:p>
        </p:txBody>
      </p:sp>
      <p:sp>
        <p:nvSpPr>
          <p:cNvPr id="14" name="Text 12"/>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Hang Together or Die Separately</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The adolescent period, and the test it faced.</a:t>
            </a:r>
            <a:endParaRPr lang="en-US" sz="1700" dirty="0"/>
          </a:p>
        </p:txBody>
      </p:sp>
      <p:sp>
        <p:nvSpPr>
          <p:cNvPr id="4" name="Shape 2"/>
          <p:cNvSpPr/>
          <p:nvPr/>
        </p:nvSpPr>
        <p:spPr>
          <a:xfrm>
            <a:off x="8869680" y="320040"/>
            <a:ext cx="2770632" cy="960120"/>
          </a:xfrm>
          <a:prstGeom prst="roundRect">
            <a:avLst>
              <a:gd name="adj" fmla="val 9524"/>
            </a:avLst>
          </a:prstGeom>
          <a:solidFill>
            <a:srgbClr val="065A82"/>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FOREWORD</a:t>
            </a:r>
            <a:endParaRPr lang="en-US" sz="1700" dirty="0"/>
          </a:p>
          <a:p>
            <a:pPr algn="ctr" indent="0" marL="0">
              <a:buNone/>
            </a:pPr>
            <a:r>
              <a:rPr lang="en-US" sz="1300" dirty="0">
                <a:solidFill>
                  <a:srgbClr val="C7DEEC"/>
                </a:solidFill>
                <a:latin typeface="Calibri" pitchFamily="34" charset="0"/>
                <a:ea typeface="Calibri" pitchFamily="34" charset="-122"/>
                <a:cs typeface="Calibri" pitchFamily="34" charset="-120"/>
              </a:rPr>
              <a:t>Second Ed.  ·  pp. xiv–xv</a:t>
            </a:r>
            <a:endParaRPr lang="en-US" sz="1700" dirty="0"/>
          </a:p>
        </p:txBody>
      </p:sp>
      <p:sp>
        <p:nvSpPr>
          <p:cNvPr id="6" name="Shape 4"/>
          <p:cNvSpPr/>
          <p:nvPr/>
        </p:nvSpPr>
        <p:spPr>
          <a:xfrm>
            <a:off x="548640" y="1417320"/>
            <a:ext cx="11091672" cy="1645920"/>
          </a:xfrm>
          <a:prstGeom prst="roundRect">
            <a:avLst>
              <a:gd name="adj" fmla="val 4444"/>
            </a:avLst>
          </a:prstGeom>
          <a:solidFill>
            <a:srgbClr val="E2EDF4"/>
          </a:solidFill>
          <a:ln/>
        </p:spPr>
      </p:sp>
      <p:sp>
        <p:nvSpPr>
          <p:cNvPr id="7" name="Text 5"/>
          <p:cNvSpPr/>
          <p:nvPr/>
        </p:nvSpPr>
        <p:spPr>
          <a:xfrm>
            <a:off x="914400" y="1417320"/>
            <a:ext cx="10360152" cy="164592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Our Society then entered a fearsome and exciting adolescent period. The test that it faced was this: Could these large numbers of erstwhile erratic alcoholics successfully meet and work together? Would there be quarrels over membership, leadership, and money? Would there be strivings for power and prestige? Would there be schisms which would split A.A. apart?</a:t>
            </a:r>
            <a:endParaRPr lang="en-US" sz="1900" dirty="0"/>
          </a:p>
        </p:txBody>
      </p:sp>
      <p:sp>
        <p:nvSpPr>
          <p:cNvPr id="8" name="Shape 6"/>
          <p:cNvSpPr/>
          <p:nvPr/>
        </p:nvSpPr>
        <p:spPr>
          <a:xfrm>
            <a:off x="548640" y="3246120"/>
            <a:ext cx="11091672" cy="1325880"/>
          </a:xfrm>
          <a:prstGeom prst="roundRect">
            <a:avLst>
              <a:gd name="adj" fmla="val 5517"/>
            </a:avLst>
          </a:prstGeom>
          <a:solidFill>
            <a:srgbClr val="E2EDF4"/>
          </a:solidFill>
          <a:ln/>
        </p:spPr>
      </p:sp>
      <p:sp>
        <p:nvSpPr>
          <p:cNvPr id="9" name="Text 7"/>
          <p:cNvSpPr/>
          <p:nvPr/>
        </p:nvSpPr>
        <p:spPr>
          <a:xfrm>
            <a:off x="914400" y="3246120"/>
            <a:ext cx="10360152" cy="132588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Soon A.A. was beset by these very problems on every side and in every group. But out of this frightening and at first disrupting experience the conviction grew that </a:t>
            </a:r>
            <a:pPr indent="0" marL="0">
              <a:lnSpc>
                <a:spcPct val="115000"/>
              </a:lnSpc>
              <a:buNone/>
            </a:pPr>
            <a:r>
              <a:rPr lang="en-US" sz="1900" b="1" dirty="0">
                <a:solidFill>
                  <a:srgbClr val="065A82"/>
                </a:solidFill>
                <a:latin typeface="Calibri" pitchFamily="34" charset="0"/>
                <a:ea typeface="Calibri" pitchFamily="34" charset="-122"/>
                <a:cs typeface="Calibri" pitchFamily="34" charset="-120"/>
              </a:rPr>
              <a:t>A.A.’s had to hang together or die separately</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We had to unify our Fellowship or pass off the scene.</a:t>
            </a:r>
            <a:endParaRPr lang="en-US" sz="1900" dirty="0"/>
          </a:p>
        </p:txBody>
      </p:sp>
      <p:sp>
        <p:nvSpPr>
          <p:cNvPr id="10" name="Shape 8"/>
          <p:cNvSpPr/>
          <p:nvPr/>
        </p:nvSpPr>
        <p:spPr>
          <a:xfrm>
            <a:off x="548640" y="4846320"/>
            <a:ext cx="11091672" cy="914400"/>
          </a:xfrm>
          <a:prstGeom prst="roundRect">
            <a:avLst>
              <a:gd name="adj" fmla="val 8000"/>
            </a:avLst>
          </a:prstGeom>
          <a:solidFill>
            <a:srgbClr val="1B2A41"/>
          </a:solidFill>
          <a:ln/>
        </p:spPr>
      </p:sp>
      <p:sp>
        <p:nvSpPr>
          <p:cNvPr id="11" name="Text 9"/>
          <p:cNvSpPr/>
          <p:nvPr/>
        </p:nvSpPr>
        <p:spPr>
          <a:xfrm>
            <a:off x="914400" y="4965192"/>
            <a:ext cx="10360152"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MARGIN NOTE</a:t>
            </a:r>
            <a:endParaRPr lang="en-US" sz="1100" dirty="0"/>
          </a:p>
        </p:txBody>
      </p:sp>
      <p:sp>
        <p:nvSpPr>
          <p:cNvPr id="12" name="Text 10"/>
          <p:cNvSpPr/>
          <p:nvPr/>
        </p:nvSpPr>
        <p:spPr>
          <a:xfrm>
            <a:off x="914400" y="5239512"/>
            <a:ext cx="10360152" cy="40233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Fellowship was named by the book — Alcoholics Anonymous.</a:t>
            </a:r>
            <a:endParaRPr lang="en-US" sz="2200" dirty="0"/>
          </a:p>
        </p:txBody>
      </p:sp>
      <p:sp>
        <p:nvSpPr>
          <p:cNvPr id="13" name="Text 11"/>
          <p:cNvSpPr/>
          <p:nvPr/>
        </p:nvSpPr>
        <p:spPr>
          <a:xfrm>
            <a:off x="548640" y="589788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Foreword to the Second Edition, pp. xiv–xv.</a:t>
            </a:r>
            <a:endParaRPr lang="en-US" sz="1200" dirty="0"/>
          </a:p>
        </p:txBody>
      </p:sp>
      <p:sp>
        <p:nvSpPr>
          <p:cNvPr id="14" name="Text 12"/>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Came to A.A. and Really Tried</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Why public acceptance grew.</a:t>
            </a:r>
            <a:endParaRPr lang="en-US" sz="1700" dirty="0"/>
          </a:p>
        </p:txBody>
      </p:sp>
      <p:sp>
        <p:nvSpPr>
          <p:cNvPr id="4" name="Shape 2"/>
          <p:cNvSpPr/>
          <p:nvPr/>
        </p:nvSpPr>
        <p:spPr>
          <a:xfrm>
            <a:off x="8869680" y="320040"/>
            <a:ext cx="2770632" cy="960120"/>
          </a:xfrm>
          <a:prstGeom prst="roundRect">
            <a:avLst>
              <a:gd name="adj" fmla="val 9524"/>
            </a:avLst>
          </a:prstGeom>
          <a:solidFill>
            <a:srgbClr val="2C5F2D"/>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FOREWORD</a:t>
            </a:r>
            <a:endParaRPr lang="en-US" sz="1700" dirty="0"/>
          </a:p>
          <a:p>
            <a:pPr algn="ctr" indent="0" marL="0">
              <a:buNone/>
            </a:pPr>
            <a:r>
              <a:rPr lang="en-US" sz="1300" dirty="0">
                <a:solidFill>
                  <a:srgbClr val="D5E3CE"/>
                </a:solidFill>
                <a:latin typeface="Calibri" pitchFamily="34" charset="0"/>
                <a:ea typeface="Calibri" pitchFamily="34" charset="-122"/>
                <a:cs typeface="Calibri" pitchFamily="34" charset="-120"/>
              </a:rPr>
              <a:t>Second Ed.  ·  pp. xv–xvi</a:t>
            </a:r>
            <a:endParaRPr lang="en-US" sz="1700" dirty="0"/>
          </a:p>
        </p:txBody>
      </p:sp>
      <p:sp>
        <p:nvSpPr>
          <p:cNvPr id="6" name="Shape 4"/>
          <p:cNvSpPr/>
          <p:nvPr/>
        </p:nvSpPr>
        <p:spPr>
          <a:xfrm>
            <a:off x="548640" y="1417320"/>
            <a:ext cx="11091672" cy="1371600"/>
          </a:xfrm>
          <a:prstGeom prst="roundRect">
            <a:avLst>
              <a:gd name="adj" fmla="val 5333"/>
            </a:avLst>
          </a:prstGeom>
          <a:solidFill>
            <a:srgbClr val="EAF1E6"/>
          </a:solidFill>
          <a:ln/>
        </p:spPr>
      </p:sp>
      <p:sp>
        <p:nvSpPr>
          <p:cNvPr id="7" name="Text 5"/>
          <p:cNvSpPr/>
          <p:nvPr/>
        </p:nvSpPr>
        <p:spPr>
          <a:xfrm>
            <a:off x="914400" y="1417320"/>
            <a:ext cx="10360152" cy="137160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While the internal difficulties of our adolescent period were being ironed out, public acceptance of A.A. grew by leaps and bounds. For this there were two principal reasons: the large numbers of recoveries, and reunited homes. These made their impressions everywhere.</a:t>
            </a:r>
            <a:endParaRPr lang="en-US" sz="1900" dirty="0"/>
          </a:p>
        </p:txBody>
      </p:sp>
      <p:sp>
        <p:nvSpPr>
          <p:cNvPr id="8" name="Shape 6"/>
          <p:cNvSpPr/>
          <p:nvPr/>
        </p:nvSpPr>
        <p:spPr>
          <a:xfrm>
            <a:off x="548640" y="2971800"/>
            <a:ext cx="11091672" cy="2011680"/>
          </a:xfrm>
          <a:prstGeom prst="roundRect">
            <a:avLst>
              <a:gd name="adj" fmla="val 3636"/>
            </a:avLst>
          </a:prstGeom>
          <a:solidFill>
            <a:srgbClr val="EAF1E6"/>
          </a:solidFill>
          <a:ln/>
        </p:spPr>
      </p:sp>
      <p:sp>
        <p:nvSpPr>
          <p:cNvPr id="9" name="Text 7"/>
          <p:cNvSpPr/>
          <p:nvPr/>
        </p:nvSpPr>
        <p:spPr>
          <a:xfrm>
            <a:off x="914400" y="2971800"/>
            <a:ext cx="10360152" cy="201168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Of alcoholics who came to A.A. and </a:t>
            </a:r>
            <a:pPr indent="0" marL="0">
              <a:lnSpc>
                <a:spcPct val="115000"/>
              </a:lnSpc>
              <a:buNone/>
            </a:pPr>
            <a:r>
              <a:rPr lang="en-US" sz="1900" b="1" i="1" dirty="0">
                <a:solidFill>
                  <a:srgbClr val="1B2A41"/>
                </a:solidFill>
                <a:latin typeface="Calibri" pitchFamily="34" charset="0"/>
                <a:ea typeface="Calibri" pitchFamily="34" charset="-122"/>
                <a:cs typeface="Calibri" pitchFamily="34" charset="-120"/>
              </a:rPr>
              <a:t>really tried</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a:t>
            </a:r>
            <a:pPr indent="0" marL="0">
              <a:lnSpc>
                <a:spcPct val="115000"/>
              </a:lnSpc>
              <a:buNone/>
            </a:pPr>
            <a:r>
              <a:rPr lang="en-US" sz="1900" b="1" dirty="0">
                <a:solidFill>
                  <a:srgbClr val="2C5F2D"/>
                </a:solidFill>
                <a:latin typeface="Calibri" pitchFamily="34" charset="0"/>
                <a:ea typeface="Calibri" pitchFamily="34" charset="-122"/>
                <a:cs typeface="Calibri" pitchFamily="34" charset="-120"/>
              </a:rPr>
              <a:t>50%</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got sober at once and remained that way; </a:t>
            </a:r>
            <a:pPr indent="0" marL="0">
              <a:lnSpc>
                <a:spcPct val="115000"/>
              </a:lnSpc>
              <a:buNone/>
            </a:pPr>
            <a:r>
              <a:rPr lang="en-US" sz="1900" b="1" dirty="0">
                <a:solidFill>
                  <a:srgbClr val="2C5F2D"/>
                </a:solidFill>
                <a:latin typeface="Calibri" pitchFamily="34" charset="0"/>
                <a:ea typeface="Calibri" pitchFamily="34" charset="-122"/>
                <a:cs typeface="Calibri" pitchFamily="34" charset="-120"/>
              </a:rPr>
              <a:t>25%</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sobered up after some relapses, and among the remainder, those who stayed on with A.A. showed improvement. Other thousands came to a few A.A. meetings and at first decided they didn’t want the program. But great numbers of these—</a:t>
            </a:r>
            <a:pPr indent="0" marL="0">
              <a:lnSpc>
                <a:spcPct val="115000"/>
              </a:lnSpc>
              <a:buNone/>
            </a:pPr>
            <a:r>
              <a:rPr lang="en-US" sz="1900" b="1" dirty="0">
                <a:solidFill>
                  <a:srgbClr val="2C5F2D"/>
                </a:solidFill>
                <a:latin typeface="Calibri" pitchFamily="34" charset="0"/>
                <a:ea typeface="Calibri" pitchFamily="34" charset="-122"/>
                <a:cs typeface="Calibri" pitchFamily="34" charset="-120"/>
              </a:rPr>
              <a:t>about two out of three</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—began to return as time passed.</a:t>
            </a:r>
            <a:endParaRPr lang="en-US" sz="1900" dirty="0"/>
          </a:p>
        </p:txBody>
      </p:sp>
      <p:sp>
        <p:nvSpPr>
          <p:cNvPr id="10" name="Text 8"/>
          <p:cNvSpPr/>
          <p:nvPr/>
        </p:nvSpPr>
        <p:spPr>
          <a:xfrm>
            <a:off x="548640" y="525780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Foreword to the Second Edition, pp. xv–xvi.</a:t>
            </a:r>
            <a:endParaRPr lang="en-US" sz="1200" dirty="0"/>
          </a:p>
        </p:txBody>
      </p:sp>
      <p:sp>
        <p:nvSpPr>
          <p:cNvPr id="11" name="Text 9"/>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Not a Religious Organization</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What A.A. is not.</a:t>
            </a:r>
            <a:endParaRPr lang="en-US" sz="1700" dirty="0"/>
          </a:p>
        </p:txBody>
      </p:sp>
      <p:sp>
        <p:nvSpPr>
          <p:cNvPr id="4" name="Shape 2"/>
          <p:cNvSpPr/>
          <p:nvPr/>
        </p:nvSpPr>
        <p:spPr>
          <a:xfrm>
            <a:off x="8869680" y="320040"/>
            <a:ext cx="2770632" cy="960120"/>
          </a:xfrm>
          <a:prstGeom prst="roundRect">
            <a:avLst>
              <a:gd name="adj" fmla="val 9524"/>
            </a:avLst>
          </a:prstGeom>
          <a:solidFill>
            <a:srgbClr val="065A82"/>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FOREWORD</a:t>
            </a:r>
            <a:endParaRPr lang="en-US" sz="1700" dirty="0"/>
          </a:p>
          <a:p>
            <a:pPr algn="ctr" indent="0" marL="0">
              <a:buNone/>
            </a:pPr>
            <a:r>
              <a:rPr lang="en-US" sz="1300" dirty="0">
                <a:solidFill>
                  <a:srgbClr val="C7DEEC"/>
                </a:solidFill>
                <a:latin typeface="Calibri" pitchFamily="34" charset="0"/>
                <a:ea typeface="Calibri" pitchFamily="34" charset="-122"/>
                <a:cs typeface="Calibri" pitchFamily="34" charset="-120"/>
              </a:rPr>
              <a:t>Second Ed.  ·  p. xvi</a:t>
            </a:r>
            <a:endParaRPr lang="en-US" sz="1700" dirty="0"/>
          </a:p>
        </p:txBody>
      </p:sp>
      <p:sp>
        <p:nvSpPr>
          <p:cNvPr id="6" name="Shape 4"/>
          <p:cNvSpPr/>
          <p:nvPr/>
        </p:nvSpPr>
        <p:spPr>
          <a:xfrm>
            <a:off x="548640" y="1737360"/>
            <a:ext cx="11091672" cy="2194560"/>
          </a:xfrm>
          <a:prstGeom prst="roundRect">
            <a:avLst>
              <a:gd name="adj" fmla="val 3333"/>
            </a:avLst>
          </a:prstGeom>
          <a:solidFill>
            <a:srgbClr val="E2EDF4"/>
          </a:solidFill>
          <a:ln/>
        </p:spPr>
      </p:sp>
      <p:sp>
        <p:nvSpPr>
          <p:cNvPr id="7" name="Text 5"/>
          <p:cNvSpPr/>
          <p:nvPr/>
        </p:nvSpPr>
        <p:spPr>
          <a:xfrm>
            <a:off x="914400" y="1737360"/>
            <a:ext cx="10360152" cy="2194560"/>
          </a:xfrm>
          <a:prstGeom prst="rect">
            <a:avLst/>
          </a:prstGeom>
          <a:noFill/>
          <a:ln/>
        </p:spPr>
        <p:txBody>
          <a:bodyPr wrap="square" lIns="0" tIns="0" rIns="0" bIns="0" rtlCol="0" anchor="ctr"/>
          <a:lstStyle/>
          <a:p>
            <a:pPr indent="0" marL="0">
              <a:lnSpc>
                <a:spcPct val="115000"/>
              </a:lnSpc>
              <a:buNone/>
            </a:pPr>
            <a:r>
              <a:rPr lang="en-US" sz="2600" b="1" dirty="0">
                <a:solidFill>
                  <a:srgbClr val="1B2A41"/>
                </a:solidFill>
                <a:latin typeface="Calibri" pitchFamily="34" charset="0"/>
                <a:ea typeface="Calibri" pitchFamily="34" charset="-122"/>
                <a:cs typeface="Calibri" pitchFamily="34" charset="-120"/>
              </a:rPr>
              <a:t>Alcoholics Anonymous is not a religious organization.</a:t>
            </a:r>
            <a:pPr indent="0" marL="0">
              <a:lnSpc>
                <a:spcPct val="115000"/>
              </a:lnSpc>
              <a:buNone/>
            </a:pPr>
            <a:r>
              <a:rPr lang="en-US" sz="2600" dirty="0">
                <a:solidFill>
                  <a:srgbClr val="1B2A41"/>
                </a:solidFill>
                <a:latin typeface="Calibri" pitchFamily="34" charset="0"/>
                <a:ea typeface="Calibri" pitchFamily="34" charset="-122"/>
                <a:cs typeface="Calibri" pitchFamily="34" charset="-120"/>
              </a:rPr>
              <a:t> Neither does A.A. take any particular medical point of view, though we cooperate widely with the men of medicine as well as with the men of religion.</a:t>
            </a:r>
            <a:endParaRPr lang="en-US" sz="2600" dirty="0"/>
          </a:p>
        </p:txBody>
      </p:sp>
      <p:sp>
        <p:nvSpPr>
          <p:cNvPr id="8" name="Shape 6"/>
          <p:cNvSpPr/>
          <p:nvPr/>
        </p:nvSpPr>
        <p:spPr>
          <a:xfrm>
            <a:off x="548640" y="4251960"/>
            <a:ext cx="11091672" cy="914400"/>
          </a:xfrm>
          <a:prstGeom prst="roundRect">
            <a:avLst>
              <a:gd name="adj" fmla="val 8000"/>
            </a:avLst>
          </a:prstGeom>
          <a:solidFill>
            <a:srgbClr val="1B2A41"/>
          </a:solidFill>
          <a:ln/>
        </p:spPr>
      </p:sp>
      <p:sp>
        <p:nvSpPr>
          <p:cNvPr id="9" name="Text 7"/>
          <p:cNvSpPr/>
          <p:nvPr/>
        </p:nvSpPr>
        <p:spPr>
          <a:xfrm>
            <a:off x="914400" y="4370832"/>
            <a:ext cx="10360152"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MARGIN NOTE</a:t>
            </a:r>
            <a:endParaRPr lang="en-US" sz="1100" dirty="0"/>
          </a:p>
        </p:txBody>
      </p:sp>
      <p:sp>
        <p:nvSpPr>
          <p:cNvPr id="10" name="Text 8"/>
          <p:cNvSpPr/>
          <p:nvPr/>
        </p:nvSpPr>
        <p:spPr>
          <a:xfrm>
            <a:off x="914400" y="4645152"/>
            <a:ext cx="10360152" cy="40233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Newcomers.</a:t>
            </a:r>
            <a:endParaRPr lang="en-US" sz="2200" dirty="0"/>
          </a:p>
        </p:txBody>
      </p:sp>
      <p:sp>
        <p:nvSpPr>
          <p:cNvPr id="11" name="Text 9"/>
          <p:cNvSpPr/>
          <p:nvPr/>
        </p:nvSpPr>
        <p:spPr>
          <a:xfrm>
            <a:off x="548640" y="553212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Foreword to the Second Edition, p. xvi.</a:t>
            </a:r>
            <a:endParaRPr lang="en-US" sz="1200" dirty="0"/>
          </a:p>
        </p:txBody>
      </p:sp>
      <p:sp>
        <p:nvSpPr>
          <p:cNvPr id="12" name="Text 10"/>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December 1941</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National Directory — members by city.</a:t>
            </a:r>
            <a:endParaRPr lang="en-US" sz="1700" dirty="0"/>
          </a:p>
        </p:txBody>
      </p:sp>
      <p:sp>
        <p:nvSpPr>
          <p:cNvPr id="4" name="Shape 2"/>
          <p:cNvSpPr/>
          <p:nvPr/>
        </p:nvSpPr>
        <p:spPr>
          <a:xfrm>
            <a:off x="8869680" y="320040"/>
            <a:ext cx="2770632" cy="960120"/>
          </a:xfrm>
          <a:prstGeom prst="roundRect">
            <a:avLst>
              <a:gd name="adj" fmla="val 9524"/>
            </a:avLst>
          </a:prstGeom>
          <a:solidFill>
            <a:srgbClr val="1B2A41"/>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FOREWORD</a:t>
            </a:r>
            <a:endParaRPr lang="en-US" sz="1700" dirty="0"/>
          </a:p>
          <a:p>
            <a:pPr algn="ctr" indent="0" marL="0">
              <a:buNone/>
            </a:pPr>
            <a:r>
              <a:rPr lang="en-US" sz="1300" dirty="0">
                <a:solidFill>
                  <a:srgbClr val="A9B8CC"/>
                </a:solidFill>
                <a:latin typeface="Calibri" pitchFamily="34" charset="0"/>
                <a:ea typeface="Calibri" pitchFamily="34" charset="-122"/>
                <a:cs typeface="Calibri" pitchFamily="34" charset="-120"/>
              </a:rPr>
              <a:t>Second Ed.  ·  p. xvii</a:t>
            </a:r>
            <a:endParaRPr lang="en-US" sz="1700" dirty="0"/>
          </a:p>
        </p:txBody>
      </p:sp>
      <p:sp>
        <p:nvSpPr>
          <p:cNvPr id="6" name="Shape 4"/>
          <p:cNvSpPr/>
          <p:nvPr/>
        </p:nvSpPr>
        <p:spPr>
          <a:xfrm>
            <a:off x="548640" y="1371600"/>
            <a:ext cx="11091672" cy="694944"/>
          </a:xfrm>
          <a:prstGeom prst="roundRect">
            <a:avLst>
              <a:gd name="adj" fmla="val 10526"/>
            </a:avLst>
          </a:prstGeom>
          <a:solidFill>
            <a:srgbClr val="F1F4F7"/>
          </a:solidFill>
          <a:ln/>
        </p:spPr>
      </p:sp>
      <p:sp>
        <p:nvSpPr>
          <p:cNvPr id="7" name="Text 5"/>
          <p:cNvSpPr/>
          <p:nvPr/>
        </p:nvSpPr>
        <p:spPr>
          <a:xfrm>
            <a:off x="914400" y="1371600"/>
            <a:ext cx="6400800" cy="694944"/>
          </a:xfrm>
          <a:prstGeom prst="rect">
            <a:avLst/>
          </a:prstGeom>
          <a:noFill/>
          <a:ln/>
        </p:spPr>
        <p:txBody>
          <a:bodyPr wrap="square" lIns="0" tIns="0" rIns="0" bIns="0" rtlCol="0" anchor="ctr"/>
          <a:lstStyle/>
          <a:p>
            <a:pPr indent="0" marL="0">
              <a:buNone/>
            </a:pPr>
            <a:r>
              <a:rPr lang="en-US" sz="2200" dirty="0">
                <a:solidFill>
                  <a:srgbClr val="1B2A41"/>
                </a:solidFill>
                <a:latin typeface="Calibri" pitchFamily="34" charset="0"/>
                <a:ea typeface="Calibri" pitchFamily="34" charset="-122"/>
                <a:cs typeface="Calibri" pitchFamily="34" charset="-120"/>
              </a:rPr>
              <a:t>New York City</a:t>
            </a:r>
            <a:endParaRPr lang="en-US" sz="2200" dirty="0"/>
          </a:p>
        </p:txBody>
      </p:sp>
      <p:sp>
        <p:nvSpPr>
          <p:cNvPr id="8" name="Text 6"/>
          <p:cNvSpPr/>
          <p:nvPr/>
        </p:nvSpPr>
        <p:spPr>
          <a:xfrm>
            <a:off x="7498080" y="1371600"/>
            <a:ext cx="3776472" cy="694944"/>
          </a:xfrm>
          <a:prstGeom prst="rect">
            <a:avLst/>
          </a:prstGeom>
          <a:noFill/>
          <a:ln/>
        </p:spPr>
        <p:txBody>
          <a:bodyPr wrap="square" lIns="0" tIns="0" rIns="0" bIns="0" rtlCol="0" anchor="ctr"/>
          <a:lstStyle/>
          <a:p>
            <a:pPr algn="r" indent="0" marL="0">
              <a:buNone/>
            </a:pPr>
            <a:r>
              <a:rPr lang="en-US" sz="2800" b="1" dirty="0">
                <a:solidFill>
                  <a:srgbClr val="1B2A41"/>
                </a:solidFill>
                <a:latin typeface="Cambria" pitchFamily="34" charset="0"/>
                <a:ea typeface="Cambria" pitchFamily="34" charset="-122"/>
                <a:cs typeface="Cambria" pitchFamily="34" charset="-120"/>
              </a:rPr>
              <a:t>450</a:t>
            </a:r>
            <a:endParaRPr lang="en-US" sz="2800" dirty="0"/>
          </a:p>
        </p:txBody>
      </p:sp>
      <p:sp>
        <p:nvSpPr>
          <p:cNvPr id="9" name="Shape 7"/>
          <p:cNvSpPr/>
          <p:nvPr/>
        </p:nvSpPr>
        <p:spPr>
          <a:xfrm>
            <a:off x="548640" y="2157984"/>
            <a:ext cx="11091672" cy="694944"/>
          </a:xfrm>
          <a:prstGeom prst="roundRect">
            <a:avLst>
              <a:gd name="adj" fmla="val 10526"/>
            </a:avLst>
          </a:prstGeom>
          <a:solidFill>
            <a:srgbClr val="F1F4F7"/>
          </a:solidFill>
          <a:ln/>
        </p:spPr>
      </p:sp>
      <p:sp>
        <p:nvSpPr>
          <p:cNvPr id="10" name="Text 8"/>
          <p:cNvSpPr/>
          <p:nvPr/>
        </p:nvSpPr>
        <p:spPr>
          <a:xfrm>
            <a:off x="914400" y="2157984"/>
            <a:ext cx="6400800" cy="694944"/>
          </a:xfrm>
          <a:prstGeom prst="rect">
            <a:avLst/>
          </a:prstGeom>
          <a:noFill/>
          <a:ln/>
        </p:spPr>
        <p:txBody>
          <a:bodyPr wrap="square" lIns="0" tIns="0" rIns="0" bIns="0" rtlCol="0" anchor="ctr"/>
          <a:lstStyle/>
          <a:p>
            <a:pPr indent="0" marL="0">
              <a:buNone/>
            </a:pPr>
            <a:r>
              <a:rPr lang="en-US" sz="2200" dirty="0">
                <a:solidFill>
                  <a:srgbClr val="1B2A41"/>
                </a:solidFill>
                <a:latin typeface="Calibri" pitchFamily="34" charset="0"/>
                <a:ea typeface="Calibri" pitchFamily="34" charset="-122"/>
                <a:cs typeface="Calibri" pitchFamily="34" charset="-120"/>
              </a:rPr>
              <a:t>Akron</a:t>
            </a:r>
            <a:endParaRPr lang="en-US" sz="2200" dirty="0"/>
          </a:p>
        </p:txBody>
      </p:sp>
      <p:sp>
        <p:nvSpPr>
          <p:cNvPr id="11" name="Text 9"/>
          <p:cNvSpPr/>
          <p:nvPr/>
        </p:nvSpPr>
        <p:spPr>
          <a:xfrm>
            <a:off x="7498080" y="2157984"/>
            <a:ext cx="3776472" cy="694944"/>
          </a:xfrm>
          <a:prstGeom prst="rect">
            <a:avLst/>
          </a:prstGeom>
          <a:noFill/>
          <a:ln/>
        </p:spPr>
        <p:txBody>
          <a:bodyPr wrap="square" lIns="0" tIns="0" rIns="0" bIns="0" rtlCol="0" anchor="ctr"/>
          <a:lstStyle/>
          <a:p>
            <a:pPr algn="r" indent="0" marL="0">
              <a:buNone/>
            </a:pPr>
            <a:r>
              <a:rPr lang="en-US" sz="2800" b="1" dirty="0">
                <a:solidFill>
                  <a:srgbClr val="1B2A41"/>
                </a:solidFill>
                <a:latin typeface="Cambria" pitchFamily="34" charset="0"/>
                <a:ea typeface="Cambria" pitchFamily="34" charset="-122"/>
                <a:cs typeface="Cambria" pitchFamily="34" charset="-120"/>
              </a:rPr>
              <a:t>225</a:t>
            </a:r>
            <a:endParaRPr lang="en-US" sz="2800" dirty="0"/>
          </a:p>
        </p:txBody>
      </p:sp>
      <p:sp>
        <p:nvSpPr>
          <p:cNvPr id="12" name="Shape 10"/>
          <p:cNvSpPr/>
          <p:nvPr/>
        </p:nvSpPr>
        <p:spPr>
          <a:xfrm>
            <a:off x="548640" y="2944368"/>
            <a:ext cx="11091672" cy="694944"/>
          </a:xfrm>
          <a:prstGeom prst="roundRect">
            <a:avLst>
              <a:gd name="adj" fmla="val 10526"/>
            </a:avLst>
          </a:prstGeom>
          <a:solidFill>
            <a:srgbClr val="F1F4F7"/>
          </a:solidFill>
          <a:ln/>
        </p:spPr>
      </p:sp>
      <p:sp>
        <p:nvSpPr>
          <p:cNvPr id="13" name="Text 11"/>
          <p:cNvSpPr/>
          <p:nvPr/>
        </p:nvSpPr>
        <p:spPr>
          <a:xfrm>
            <a:off x="914400" y="2944368"/>
            <a:ext cx="6400800" cy="694944"/>
          </a:xfrm>
          <a:prstGeom prst="rect">
            <a:avLst/>
          </a:prstGeom>
          <a:noFill/>
          <a:ln/>
        </p:spPr>
        <p:txBody>
          <a:bodyPr wrap="square" lIns="0" tIns="0" rIns="0" bIns="0" rtlCol="0" anchor="ctr"/>
          <a:lstStyle/>
          <a:p>
            <a:pPr indent="0" marL="0">
              <a:buNone/>
            </a:pPr>
            <a:r>
              <a:rPr lang="en-US" sz="2200" dirty="0">
                <a:solidFill>
                  <a:srgbClr val="1B2A41"/>
                </a:solidFill>
                <a:latin typeface="Calibri" pitchFamily="34" charset="0"/>
                <a:ea typeface="Calibri" pitchFamily="34" charset="-122"/>
                <a:cs typeface="Calibri" pitchFamily="34" charset="-120"/>
              </a:rPr>
              <a:t>Detroit</a:t>
            </a:r>
            <a:endParaRPr lang="en-US" sz="2200" dirty="0"/>
          </a:p>
        </p:txBody>
      </p:sp>
      <p:sp>
        <p:nvSpPr>
          <p:cNvPr id="14" name="Text 12"/>
          <p:cNvSpPr/>
          <p:nvPr/>
        </p:nvSpPr>
        <p:spPr>
          <a:xfrm>
            <a:off x="7498080" y="2944368"/>
            <a:ext cx="3776472" cy="694944"/>
          </a:xfrm>
          <a:prstGeom prst="rect">
            <a:avLst/>
          </a:prstGeom>
          <a:noFill/>
          <a:ln/>
        </p:spPr>
        <p:txBody>
          <a:bodyPr wrap="square" lIns="0" tIns="0" rIns="0" bIns="0" rtlCol="0" anchor="ctr"/>
          <a:lstStyle/>
          <a:p>
            <a:pPr algn="r" indent="0" marL="0">
              <a:buNone/>
            </a:pPr>
            <a:r>
              <a:rPr lang="en-US" sz="2800" b="1" dirty="0">
                <a:solidFill>
                  <a:srgbClr val="1B2A41"/>
                </a:solidFill>
                <a:latin typeface="Cambria" pitchFamily="34" charset="0"/>
                <a:ea typeface="Cambria" pitchFamily="34" charset="-122"/>
                <a:cs typeface="Cambria" pitchFamily="34" charset="-120"/>
              </a:rPr>
              <a:t>175</a:t>
            </a:r>
            <a:endParaRPr lang="en-US" sz="2800" dirty="0"/>
          </a:p>
        </p:txBody>
      </p:sp>
      <p:sp>
        <p:nvSpPr>
          <p:cNvPr id="15" name="Shape 13"/>
          <p:cNvSpPr/>
          <p:nvPr/>
        </p:nvSpPr>
        <p:spPr>
          <a:xfrm>
            <a:off x="548640" y="3730752"/>
            <a:ext cx="11091672" cy="694944"/>
          </a:xfrm>
          <a:prstGeom prst="roundRect">
            <a:avLst>
              <a:gd name="adj" fmla="val 10526"/>
            </a:avLst>
          </a:prstGeom>
          <a:solidFill>
            <a:srgbClr val="2C5F2D"/>
          </a:solidFill>
          <a:ln/>
        </p:spPr>
      </p:sp>
      <p:sp>
        <p:nvSpPr>
          <p:cNvPr id="16" name="Text 14"/>
          <p:cNvSpPr/>
          <p:nvPr/>
        </p:nvSpPr>
        <p:spPr>
          <a:xfrm>
            <a:off x="914400" y="3730752"/>
            <a:ext cx="6400800" cy="69494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Cleveland</a:t>
            </a:r>
            <a:endParaRPr lang="en-US" sz="2200" dirty="0"/>
          </a:p>
        </p:txBody>
      </p:sp>
      <p:sp>
        <p:nvSpPr>
          <p:cNvPr id="17" name="Text 15"/>
          <p:cNvSpPr/>
          <p:nvPr/>
        </p:nvSpPr>
        <p:spPr>
          <a:xfrm>
            <a:off x="7498080" y="3730752"/>
            <a:ext cx="3776472" cy="694944"/>
          </a:xfrm>
          <a:prstGeom prst="rect">
            <a:avLst/>
          </a:prstGeom>
          <a:noFill/>
          <a:ln/>
        </p:spPr>
        <p:txBody>
          <a:bodyPr wrap="square" lIns="0" tIns="0" rIns="0" bIns="0" rtlCol="0" anchor="ctr"/>
          <a:lstStyle/>
          <a:p>
            <a:pPr algn="r" indent="0" marL="0">
              <a:buNone/>
            </a:pPr>
            <a:r>
              <a:rPr lang="en-US" sz="2800" b="1" dirty="0">
                <a:solidFill>
                  <a:srgbClr val="FFFFFF"/>
                </a:solidFill>
                <a:latin typeface="Cambria" pitchFamily="34" charset="0"/>
                <a:ea typeface="Cambria" pitchFamily="34" charset="-122"/>
                <a:cs typeface="Cambria" pitchFamily="34" charset="-120"/>
              </a:rPr>
              <a:t>1,100</a:t>
            </a:r>
            <a:endParaRPr lang="en-US" sz="2800" dirty="0"/>
          </a:p>
        </p:txBody>
      </p:sp>
      <p:sp>
        <p:nvSpPr>
          <p:cNvPr id="18" name="Shape 16"/>
          <p:cNvSpPr/>
          <p:nvPr/>
        </p:nvSpPr>
        <p:spPr>
          <a:xfrm>
            <a:off x="548640" y="4800600"/>
            <a:ext cx="11091672" cy="960120"/>
          </a:xfrm>
          <a:prstGeom prst="roundRect">
            <a:avLst>
              <a:gd name="adj" fmla="val 7619"/>
            </a:avLst>
          </a:prstGeom>
          <a:solidFill>
            <a:srgbClr val="1B2A41"/>
          </a:solidFill>
          <a:ln/>
        </p:spPr>
      </p:sp>
      <p:sp>
        <p:nvSpPr>
          <p:cNvPr id="19" name="Text 17"/>
          <p:cNvSpPr/>
          <p:nvPr/>
        </p:nvSpPr>
        <p:spPr>
          <a:xfrm>
            <a:off x="914400" y="4919472"/>
            <a:ext cx="10360152"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MARGIN NOTE</a:t>
            </a:r>
            <a:endParaRPr lang="en-US" sz="1100" dirty="0"/>
          </a:p>
        </p:txBody>
      </p:sp>
      <p:sp>
        <p:nvSpPr>
          <p:cNvPr id="20" name="Text 18"/>
          <p:cNvSpPr/>
          <p:nvPr/>
        </p:nvSpPr>
        <p:spPr>
          <a:xfrm>
            <a:off x="914400" y="5193792"/>
            <a:ext cx="10360152" cy="44805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Clarence Snyder was using the book — is why the #’s were higher.</a:t>
            </a:r>
            <a:endParaRPr lang="en-US" sz="2200" dirty="0"/>
          </a:p>
        </p:txBody>
      </p:sp>
      <p:sp>
        <p:nvSpPr>
          <p:cNvPr id="21" name="Text 19"/>
          <p:cNvSpPr/>
          <p:nvPr/>
        </p:nvSpPr>
        <p:spPr>
          <a:xfrm>
            <a:off x="548640" y="5897880"/>
            <a:ext cx="11091672" cy="274320"/>
          </a:xfrm>
          <a:prstGeom prst="rect">
            <a:avLst/>
          </a:prstGeom>
          <a:noFill/>
          <a:ln/>
        </p:spPr>
        <p:txBody>
          <a:bodyPr wrap="square" lIns="0" tIns="0" rIns="0" bIns="0" rtlCol="0" anchor="ctr"/>
          <a:lstStyle/>
          <a:p>
            <a:pPr indent="0" marL="0">
              <a:buNone/>
            </a:pPr>
            <a:r>
              <a:rPr lang="en-US" sz="1200" dirty="0">
                <a:solidFill>
                  <a:srgbClr val="6B7A8C"/>
                </a:solidFill>
                <a:latin typeface="Calibri" pitchFamily="34" charset="0"/>
                <a:ea typeface="Calibri" pitchFamily="34" charset="-122"/>
                <a:cs typeface="Calibri" pitchFamily="34" charset="-120"/>
              </a:rPr>
              <a:t>Handwritten margin note, Foreword to the Second Edition, p. xvii.</a:t>
            </a:r>
            <a:endParaRPr lang="en-US" sz="1200" dirty="0"/>
          </a:p>
        </p:txBody>
      </p:sp>
      <p:sp>
        <p:nvSpPr>
          <p:cNvPr id="22" name="Text 20"/>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The Doctor’s Opinion</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“Just an opinion.”</a:t>
            </a:r>
            <a:endParaRPr lang="en-US" sz="1700" dirty="0"/>
          </a:p>
        </p:txBody>
      </p:sp>
      <p:sp>
        <p:nvSpPr>
          <p:cNvPr id="4" name="Shape 2"/>
          <p:cNvSpPr/>
          <p:nvPr/>
        </p:nvSpPr>
        <p:spPr>
          <a:xfrm>
            <a:off x="8869680" y="320040"/>
            <a:ext cx="2770632" cy="960120"/>
          </a:xfrm>
          <a:prstGeom prst="roundRect">
            <a:avLst>
              <a:gd name="adj" fmla="val 9524"/>
            </a:avLst>
          </a:prstGeom>
          <a:solidFill>
            <a:srgbClr val="065A82"/>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THE BIG BOOK</a:t>
            </a:r>
            <a:endParaRPr lang="en-US" sz="1700" dirty="0"/>
          </a:p>
          <a:p>
            <a:pPr algn="ctr" indent="0" marL="0">
              <a:buNone/>
            </a:pPr>
            <a:r>
              <a:rPr lang="en-US" sz="1300" dirty="0">
                <a:solidFill>
                  <a:srgbClr val="C7DEEC"/>
                </a:solidFill>
                <a:latin typeface="Calibri" pitchFamily="34" charset="0"/>
                <a:ea typeface="Calibri" pitchFamily="34" charset="-122"/>
                <a:cs typeface="Calibri" pitchFamily="34" charset="-120"/>
              </a:rPr>
              <a:t>p. xxi</a:t>
            </a:r>
            <a:endParaRPr lang="en-US" sz="1700" dirty="0"/>
          </a:p>
        </p:txBody>
      </p:sp>
      <p:sp>
        <p:nvSpPr>
          <p:cNvPr id="6" name="Shape 4"/>
          <p:cNvSpPr/>
          <p:nvPr/>
        </p:nvSpPr>
        <p:spPr>
          <a:xfrm>
            <a:off x="548640" y="1554480"/>
            <a:ext cx="5440680" cy="2651760"/>
          </a:xfrm>
          <a:prstGeom prst="roundRect">
            <a:avLst>
              <a:gd name="adj" fmla="val 2759"/>
            </a:avLst>
          </a:prstGeom>
          <a:solidFill>
            <a:srgbClr val="E2EDF4"/>
          </a:solidFill>
          <a:ln/>
        </p:spPr>
      </p:sp>
      <p:sp>
        <p:nvSpPr>
          <p:cNvPr id="7" name="Text 5"/>
          <p:cNvSpPr/>
          <p:nvPr/>
        </p:nvSpPr>
        <p:spPr>
          <a:xfrm>
            <a:off x="868680" y="1828800"/>
            <a:ext cx="4800600" cy="41148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Dr. Benjamin Rush</a:t>
            </a:r>
            <a:endParaRPr lang="en-US" sz="2400" dirty="0"/>
          </a:p>
        </p:txBody>
      </p:sp>
      <p:sp>
        <p:nvSpPr>
          <p:cNvPr id="8" name="Text 6"/>
          <p:cNvSpPr/>
          <p:nvPr/>
        </p:nvSpPr>
        <p:spPr>
          <a:xfrm>
            <a:off x="868680" y="2240280"/>
            <a:ext cx="4800600" cy="274320"/>
          </a:xfrm>
          <a:prstGeom prst="rect">
            <a:avLst/>
          </a:prstGeom>
          <a:noFill/>
          <a:ln/>
        </p:spPr>
        <p:txBody>
          <a:bodyPr wrap="square" lIns="0" tIns="0" rIns="0" bIns="0" rtlCol="0" anchor="ctr"/>
          <a:lstStyle/>
          <a:p>
            <a:pPr indent="0" marL="0">
              <a:buNone/>
            </a:pPr>
            <a:r>
              <a:rPr lang="en-US" sz="1400" b="1" spc="100" kern="0" dirty="0">
                <a:solidFill>
                  <a:srgbClr val="065A82"/>
                </a:solidFill>
                <a:latin typeface="Calibri" pitchFamily="34" charset="0"/>
                <a:ea typeface="Calibri" pitchFamily="34" charset="-122"/>
                <a:cs typeface="Calibri" pitchFamily="34" charset="-120"/>
              </a:rPr>
              <a:t>Surgeon General of the Continental Army</a:t>
            </a:r>
            <a:endParaRPr lang="en-US" sz="1400" dirty="0"/>
          </a:p>
        </p:txBody>
      </p:sp>
      <p:sp>
        <p:nvSpPr>
          <p:cNvPr id="9" name="Text 7"/>
          <p:cNvSpPr/>
          <p:nvPr/>
        </p:nvSpPr>
        <p:spPr>
          <a:xfrm>
            <a:off x="868680" y="2606040"/>
            <a:ext cx="4800600" cy="1371600"/>
          </a:xfrm>
          <a:prstGeom prst="rect">
            <a:avLst/>
          </a:prstGeom>
          <a:noFill/>
          <a:ln/>
        </p:spPr>
        <p:txBody>
          <a:bodyPr wrap="square" lIns="0" tIns="0" rIns="0" bIns="0" rtlCol="0" anchor="t"/>
          <a:lstStyle/>
          <a:p>
            <a:pPr indent="0" marL="0">
              <a:lnSpc>
                <a:spcPct val="115000"/>
              </a:lnSpc>
              <a:buNone/>
            </a:pPr>
            <a:r>
              <a:rPr lang="en-US" sz="1700" dirty="0">
                <a:solidFill>
                  <a:srgbClr val="1B2A41"/>
                </a:solidFill>
                <a:latin typeface="Calibri" pitchFamily="34" charset="0"/>
                <a:ea typeface="Calibri" pitchFamily="34" charset="-122"/>
                <a:cs typeface="Calibri" pitchFamily="34" charset="-120"/>
              </a:rPr>
              <a:t>In 1784 he published </a:t>
            </a:r>
            <a:pPr indent="0" marL="0">
              <a:lnSpc>
                <a:spcPct val="115000"/>
              </a:lnSpc>
              <a:buNone/>
            </a:pPr>
            <a:r>
              <a:rPr lang="en-US" sz="1700" i="1" dirty="0">
                <a:solidFill>
                  <a:srgbClr val="1B2A41"/>
                </a:solidFill>
                <a:latin typeface="Calibri" pitchFamily="34" charset="0"/>
                <a:ea typeface="Calibri" pitchFamily="34" charset="-122"/>
                <a:cs typeface="Calibri" pitchFamily="34" charset="-120"/>
              </a:rPr>
              <a:t>An Inquiry into the Effects of Ardent Spirits upon the Human Body and Mind</a:t>
            </a:r>
            <a:pPr indent="0" marL="0">
              <a:lnSpc>
                <a:spcPct val="115000"/>
              </a:lnSpc>
              <a:buNone/>
            </a:pPr>
            <a:r>
              <a:rPr lang="en-US" sz="1700" dirty="0">
                <a:solidFill>
                  <a:srgbClr val="1B2A41"/>
                </a:solidFill>
                <a:latin typeface="Calibri" pitchFamily="34" charset="0"/>
                <a:ea typeface="Calibri" pitchFamily="34" charset="-122"/>
                <a:cs typeface="Calibri" pitchFamily="34" charset="-120"/>
              </a:rPr>
              <a:t> — the first American physician to argue in print that alcoholism is a disease.</a:t>
            </a:r>
            <a:endParaRPr lang="en-US" sz="1700" dirty="0"/>
          </a:p>
        </p:txBody>
      </p:sp>
      <p:sp>
        <p:nvSpPr>
          <p:cNvPr id="10" name="Shape 8"/>
          <p:cNvSpPr/>
          <p:nvPr/>
        </p:nvSpPr>
        <p:spPr>
          <a:xfrm>
            <a:off x="6199632" y="1554480"/>
            <a:ext cx="5440680" cy="2651760"/>
          </a:xfrm>
          <a:prstGeom prst="roundRect">
            <a:avLst>
              <a:gd name="adj" fmla="val 2759"/>
            </a:avLst>
          </a:prstGeom>
          <a:solidFill>
            <a:srgbClr val="E2EDF4"/>
          </a:solidFill>
          <a:ln/>
        </p:spPr>
      </p:sp>
      <p:sp>
        <p:nvSpPr>
          <p:cNvPr id="11" name="Text 9"/>
          <p:cNvSpPr/>
          <p:nvPr/>
        </p:nvSpPr>
        <p:spPr>
          <a:xfrm>
            <a:off x="6519672" y="1828800"/>
            <a:ext cx="4800600" cy="41148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Dr. Thomas Trotter</a:t>
            </a:r>
            <a:endParaRPr lang="en-US" sz="2400" dirty="0"/>
          </a:p>
        </p:txBody>
      </p:sp>
      <p:sp>
        <p:nvSpPr>
          <p:cNvPr id="12" name="Text 10"/>
          <p:cNvSpPr/>
          <p:nvPr/>
        </p:nvSpPr>
        <p:spPr>
          <a:xfrm>
            <a:off x="6519672" y="2240280"/>
            <a:ext cx="4800600" cy="274320"/>
          </a:xfrm>
          <a:prstGeom prst="rect">
            <a:avLst/>
          </a:prstGeom>
          <a:noFill/>
          <a:ln/>
        </p:spPr>
        <p:txBody>
          <a:bodyPr wrap="square" lIns="0" tIns="0" rIns="0" bIns="0" rtlCol="0" anchor="ctr"/>
          <a:lstStyle/>
          <a:p>
            <a:pPr indent="0" marL="0">
              <a:buNone/>
            </a:pPr>
            <a:r>
              <a:rPr lang="en-US" sz="1400" b="1" spc="100" kern="0" dirty="0">
                <a:solidFill>
                  <a:srgbClr val="065A82"/>
                </a:solidFill>
                <a:latin typeface="Calibri" pitchFamily="34" charset="0"/>
                <a:ea typeface="Calibri" pitchFamily="34" charset="-122"/>
                <a:cs typeface="Calibri" pitchFamily="34" charset="-120"/>
              </a:rPr>
              <a:t>Physician to the British Fleet</a:t>
            </a:r>
            <a:endParaRPr lang="en-US" sz="1400" dirty="0"/>
          </a:p>
        </p:txBody>
      </p:sp>
      <p:sp>
        <p:nvSpPr>
          <p:cNvPr id="13" name="Text 11"/>
          <p:cNvSpPr/>
          <p:nvPr/>
        </p:nvSpPr>
        <p:spPr>
          <a:xfrm>
            <a:off x="6519672" y="2606040"/>
            <a:ext cx="4800600" cy="1371600"/>
          </a:xfrm>
          <a:prstGeom prst="rect">
            <a:avLst/>
          </a:prstGeom>
          <a:noFill/>
          <a:ln/>
        </p:spPr>
        <p:txBody>
          <a:bodyPr wrap="square" lIns="0" tIns="0" rIns="0" bIns="0" rtlCol="0" anchor="t"/>
          <a:lstStyle/>
          <a:p>
            <a:pPr indent="0" marL="0">
              <a:lnSpc>
                <a:spcPct val="115000"/>
              </a:lnSpc>
              <a:buNone/>
            </a:pPr>
            <a:r>
              <a:rPr lang="en-US" sz="1700" dirty="0">
                <a:solidFill>
                  <a:srgbClr val="1B2A41"/>
                </a:solidFill>
                <a:latin typeface="Calibri" pitchFamily="34" charset="0"/>
                <a:ea typeface="Calibri" pitchFamily="34" charset="-122"/>
                <a:cs typeface="Calibri" pitchFamily="34" charset="-120"/>
              </a:rPr>
              <a:t>His </a:t>
            </a:r>
            <a:pPr indent="0" marL="0">
              <a:lnSpc>
                <a:spcPct val="115000"/>
              </a:lnSpc>
              <a:buNone/>
            </a:pPr>
            <a:r>
              <a:rPr lang="en-US" sz="1700" i="1" dirty="0">
                <a:solidFill>
                  <a:srgbClr val="1B2A41"/>
                </a:solidFill>
                <a:latin typeface="Calibri" pitchFamily="34" charset="0"/>
                <a:ea typeface="Calibri" pitchFamily="34" charset="-122"/>
                <a:cs typeface="Calibri" pitchFamily="34" charset="-120"/>
              </a:rPr>
              <a:t>Essay on Drunkenness, and its Effects on the Human Body</a:t>
            </a:r>
            <a:pPr indent="0" marL="0">
              <a:lnSpc>
                <a:spcPct val="115000"/>
              </a:lnSpc>
              <a:buNone/>
            </a:pPr>
            <a:r>
              <a:rPr lang="en-US" sz="1700" dirty="0">
                <a:solidFill>
                  <a:srgbClr val="1B2A41"/>
                </a:solidFill>
                <a:latin typeface="Calibri" pitchFamily="34" charset="0"/>
                <a:ea typeface="Calibri" pitchFamily="34" charset="-122"/>
                <a:cs typeface="Calibri" pitchFamily="34" charset="-120"/>
              </a:rPr>
              <a:t>, published in 1804, was the first book-length medical study of alcohol dependence.</a:t>
            </a:r>
            <a:endParaRPr lang="en-US" sz="1700" dirty="0"/>
          </a:p>
        </p:txBody>
      </p:sp>
      <p:sp>
        <p:nvSpPr>
          <p:cNvPr id="14" name="Shape 12"/>
          <p:cNvSpPr/>
          <p:nvPr/>
        </p:nvSpPr>
        <p:spPr>
          <a:xfrm>
            <a:off x="548640" y="4480560"/>
            <a:ext cx="11091672" cy="1005840"/>
          </a:xfrm>
          <a:prstGeom prst="roundRect">
            <a:avLst>
              <a:gd name="adj" fmla="val 7273"/>
            </a:avLst>
          </a:prstGeom>
          <a:solidFill>
            <a:srgbClr val="1B2A41"/>
          </a:solidFill>
          <a:ln/>
        </p:spPr>
      </p:sp>
      <p:sp>
        <p:nvSpPr>
          <p:cNvPr id="15" name="Text 13"/>
          <p:cNvSpPr/>
          <p:nvPr/>
        </p:nvSpPr>
        <p:spPr>
          <a:xfrm>
            <a:off x="914400" y="4599432"/>
            <a:ext cx="10360152"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MARGIN NOTE</a:t>
            </a:r>
            <a:endParaRPr lang="en-US" sz="1100" dirty="0"/>
          </a:p>
        </p:txBody>
      </p:sp>
      <p:sp>
        <p:nvSpPr>
          <p:cNvPr id="16" name="Text 14"/>
          <p:cNvSpPr/>
          <p:nvPr/>
        </p:nvSpPr>
        <p:spPr>
          <a:xfrm>
            <a:off x="914400" y="4873752"/>
            <a:ext cx="10360152" cy="49377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Page 1 in every first edition. Moved to the front matter in the second.</a:t>
            </a:r>
            <a:endParaRPr lang="en-US" sz="2200" dirty="0"/>
          </a:p>
        </p:txBody>
      </p:sp>
      <p:sp>
        <p:nvSpPr>
          <p:cNvPr id="17" name="Text 15"/>
          <p:cNvSpPr/>
          <p:nvPr/>
        </p:nvSpPr>
        <p:spPr>
          <a:xfrm>
            <a:off x="548640" y="566928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“The Doctor’s Opinion,” p. xxi.</a:t>
            </a:r>
            <a:endParaRPr lang="en-US" sz="1200" dirty="0"/>
          </a:p>
        </p:txBody>
      </p:sp>
      <p:sp>
        <p:nvSpPr>
          <p:cNvPr id="18" name="Text 16"/>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Two Musts</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The Doctor’s Opinion.</a:t>
            </a:r>
            <a:endParaRPr lang="en-US" sz="1700" dirty="0"/>
          </a:p>
        </p:txBody>
      </p:sp>
      <p:sp>
        <p:nvSpPr>
          <p:cNvPr id="4" name="Shape 2"/>
          <p:cNvSpPr/>
          <p:nvPr/>
        </p:nvSpPr>
        <p:spPr>
          <a:xfrm>
            <a:off x="8869680" y="320040"/>
            <a:ext cx="2770632" cy="960120"/>
          </a:xfrm>
          <a:prstGeom prst="roundRect">
            <a:avLst>
              <a:gd name="adj" fmla="val 9524"/>
            </a:avLst>
          </a:prstGeom>
          <a:solidFill>
            <a:srgbClr val="9E1B60"/>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THE “MUSTS”</a:t>
            </a:r>
            <a:endParaRPr lang="en-US" sz="1700" dirty="0"/>
          </a:p>
          <a:p>
            <a:pPr algn="ctr" indent="0" marL="0">
              <a:buNone/>
            </a:pPr>
            <a:r>
              <a:rPr lang="en-US" sz="1300" dirty="0">
                <a:solidFill>
                  <a:srgbClr val="F7D9E8"/>
                </a:solidFill>
                <a:latin typeface="Calibri" pitchFamily="34" charset="0"/>
                <a:ea typeface="Calibri" pitchFamily="34" charset="-122"/>
                <a:cs typeface="Calibri" pitchFamily="34" charset="-120"/>
              </a:rPr>
              <a:t>p. xxi</a:t>
            </a:r>
            <a:endParaRPr lang="en-US" sz="1700" dirty="0"/>
          </a:p>
        </p:txBody>
      </p:sp>
      <p:sp>
        <p:nvSpPr>
          <p:cNvPr id="6" name="Shape 4"/>
          <p:cNvSpPr/>
          <p:nvPr/>
        </p:nvSpPr>
        <p:spPr>
          <a:xfrm>
            <a:off x="548640" y="1554480"/>
            <a:ext cx="11091672" cy="1508760"/>
          </a:xfrm>
          <a:prstGeom prst="roundRect">
            <a:avLst>
              <a:gd name="adj" fmla="val 4848"/>
            </a:avLst>
          </a:prstGeom>
          <a:solidFill>
            <a:srgbClr val="F9E3EE"/>
          </a:solidFill>
          <a:ln/>
        </p:spPr>
      </p:sp>
      <p:sp>
        <p:nvSpPr>
          <p:cNvPr id="7" name="Shape 5"/>
          <p:cNvSpPr/>
          <p:nvPr/>
        </p:nvSpPr>
        <p:spPr>
          <a:xfrm>
            <a:off x="914400" y="2034540"/>
            <a:ext cx="548640" cy="548640"/>
          </a:xfrm>
          <a:prstGeom prst="ellipse">
            <a:avLst/>
          </a:prstGeom>
          <a:solidFill>
            <a:srgbClr val="9E1B60"/>
          </a:solidFill>
          <a:ln/>
        </p:spPr>
      </p:sp>
      <p:sp>
        <p:nvSpPr>
          <p:cNvPr id="8" name="Text 6"/>
          <p:cNvSpPr/>
          <p:nvPr/>
        </p:nvSpPr>
        <p:spPr>
          <a:xfrm>
            <a:off x="914400" y="2034540"/>
            <a:ext cx="548640" cy="54864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1</a:t>
            </a:r>
            <a:endParaRPr lang="en-US" sz="2100" dirty="0"/>
          </a:p>
        </p:txBody>
      </p:sp>
      <p:sp>
        <p:nvSpPr>
          <p:cNvPr id="9" name="Text 7"/>
          <p:cNvSpPr/>
          <p:nvPr/>
        </p:nvSpPr>
        <p:spPr>
          <a:xfrm>
            <a:off x="1737360" y="1554480"/>
            <a:ext cx="9555480" cy="1508760"/>
          </a:xfrm>
          <a:prstGeom prst="rect">
            <a:avLst/>
          </a:prstGeom>
          <a:noFill/>
          <a:ln/>
        </p:spPr>
        <p:txBody>
          <a:bodyPr wrap="square" lIns="0" tIns="0" rIns="0" bIns="0" rtlCol="0" anchor="ctr"/>
          <a:lstStyle/>
          <a:p>
            <a:pPr indent="0" marL="0">
              <a:lnSpc>
                <a:spcPct val="115000"/>
              </a:lnSpc>
              <a:buNone/>
            </a:pPr>
            <a:r>
              <a:rPr lang="en-US" sz="2100" dirty="0">
                <a:solidFill>
                  <a:srgbClr val="1B2A41"/>
                </a:solidFill>
                <a:latin typeface="Calibri" pitchFamily="34" charset="0"/>
                <a:ea typeface="Calibri" pitchFamily="34" charset="-122"/>
                <a:cs typeface="Calibri" pitchFamily="34" charset="-120"/>
              </a:rPr>
              <a:t>Convincing testimony must surely come from medical men who have had experience with the sufferings of our members and have witnessed our return to health.</a:t>
            </a:r>
            <a:endParaRPr lang="en-US" sz="2100" dirty="0"/>
          </a:p>
        </p:txBody>
      </p:sp>
      <p:sp>
        <p:nvSpPr>
          <p:cNvPr id="10" name="Shape 8"/>
          <p:cNvSpPr/>
          <p:nvPr/>
        </p:nvSpPr>
        <p:spPr>
          <a:xfrm>
            <a:off x="548640" y="3291840"/>
            <a:ext cx="11091672" cy="1508760"/>
          </a:xfrm>
          <a:prstGeom prst="roundRect">
            <a:avLst>
              <a:gd name="adj" fmla="val 4848"/>
            </a:avLst>
          </a:prstGeom>
          <a:solidFill>
            <a:srgbClr val="F9E3EE"/>
          </a:solidFill>
          <a:ln/>
        </p:spPr>
      </p:sp>
      <p:sp>
        <p:nvSpPr>
          <p:cNvPr id="11" name="Shape 9"/>
          <p:cNvSpPr/>
          <p:nvPr/>
        </p:nvSpPr>
        <p:spPr>
          <a:xfrm>
            <a:off x="914400" y="3771900"/>
            <a:ext cx="548640" cy="548640"/>
          </a:xfrm>
          <a:prstGeom prst="ellipse">
            <a:avLst/>
          </a:prstGeom>
          <a:solidFill>
            <a:srgbClr val="9E1B60"/>
          </a:solidFill>
          <a:ln/>
        </p:spPr>
      </p:sp>
      <p:sp>
        <p:nvSpPr>
          <p:cNvPr id="12" name="Text 10"/>
          <p:cNvSpPr/>
          <p:nvPr/>
        </p:nvSpPr>
        <p:spPr>
          <a:xfrm>
            <a:off x="914400" y="3771900"/>
            <a:ext cx="548640" cy="54864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2</a:t>
            </a:r>
            <a:endParaRPr lang="en-US" sz="2100" dirty="0"/>
          </a:p>
        </p:txBody>
      </p:sp>
      <p:sp>
        <p:nvSpPr>
          <p:cNvPr id="13" name="Text 11"/>
          <p:cNvSpPr/>
          <p:nvPr/>
        </p:nvSpPr>
        <p:spPr>
          <a:xfrm>
            <a:off x="1737360" y="3291840"/>
            <a:ext cx="9555480" cy="1508760"/>
          </a:xfrm>
          <a:prstGeom prst="rect">
            <a:avLst/>
          </a:prstGeom>
          <a:noFill/>
          <a:ln/>
        </p:spPr>
        <p:txBody>
          <a:bodyPr wrap="square" lIns="0" tIns="0" rIns="0" bIns="0" rtlCol="0" anchor="ctr"/>
          <a:lstStyle/>
          <a:p>
            <a:pPr indent="0" marL="0">
              <a:lnSpc>
                <a:spcPct val="115000"/>
              </a:lnSpc>
              <a:buNone/>
            </a:pPr>
            <a:r>
              <a:rPr lang="en-US" sz="2100" dirty="0">
                <a:solidFill>
                  <a:srgbClr val="1B2A41"/>
                </a:solidFill>
                <a:latin typeface="Calibri" pitchFamily="34" charset="0"/>
                <a:ea typeface="Calibri" pitchFamily="34" charset="-122"/>
                <a:cs typeface="Calibri" pitchFamily="34" charset="-120"/>
              </a:rPr>
              <a:t>As part of his rehabilitation he commenced to present his conceptions to other alcoholics, impressing upon them that they must do likewise with still others.</a:t>
            </a:r>
            <a:endParaRPr lang="en-US" sz="2100" dirty="0"/>
          </a:p>
        </p:txBody>
      </p:sp>
      <p:sp>
        <p:nvSpPr>
          <p:cNvPr id="14" name="Text 12"/>
          <p:cNvSpPr/>
          <p:nvPr/>
        </p:nvSpPr>
        <p:spPr>
          <a:xfrm>
            <a:off x="548640" y="507492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“The Doctor’s Opinion,” p. xxi.</a:t>
            </a:r>
            <a:endParaRPr lang="en-US" sz="1200" dirty="0"/>
          </a:p>
        </p:txBody>
      </p:sp>
      <p:sp>
        <p:nvSpPr>
          <p:cNvPr id="15" name="Text 13"/>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William D. Silkworth, M.D.</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The letter is signed.</a:t>
            </a:r>
            <a:endParaRPr lang="en-US" sz="1700" dirty="0"/>
          </a:p>
        </p:txBody>
      </p:sp>
      <p:sp>
        <p:nvSpPr>
          <p:cNvPr id="4" name="Shape 2"/>
          <p:cNvSpPr/>
          <p:nvPr/>
        </p:nvSpPr>
        <p:spPr>
          <a:xfrm>
            <a:off x="8869680" y="320040"/>
            <a:ext cx="2770632" cy="960120"/>
          </a:xfrm>
          <a:prstGeom prst="roundRect">
            <a:avLst>
              <a:gd name="adj" fmla="val 9524"/>
            </a:avLst>
          </a:prstGeom>
          <a:solidFill>
            <a:srgbClr val="065A82"/>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THE BIG BOOK</a:t>
            </a:r>
            <a:endParaRPr lang="en-US" sz="1700" dirty="0"/>
          </a:p>
          <a:p>
            <a:pPr algn="ctr" indent="0" marL="0">
              <a:buNone/>
            </a:pPr>
            <a:r>
              <a:rPr lang="en-US" sz="1300" dirty="0">
                <a:solidFill>
                  <a:srgbClr val="C7DEEC"/>
                </a:solidFill>
                <a:latin typeface="Calibri" pitchFamily="34" charset="0"/>
                <a:ea typeface="Calibri" pitchFamily="34" charset="-122"/>
                <a:cs typeface="Calibri" pitchFamily="34" charset="-120"/>
              </a:rPr>
              <a:t>p. xxii</a:t>
            </a:r>
            <a:endParaRPr lang="en-US" sz="1700" dirty="0"/>
          </a:p>
        </p:txBody>
      </p:sp>
      <p:sp>
        <p:nvSpPr>
          <p:cNvPr id="6" name="Shape 4"/>
          <p:cNvSpPr/>
          <p:nvPr/>
        </p:nvSpPr>
        <p:spPr>
          <a:xfrm>
            <a:off x="548640" y="1645920"/>
            <a:ext cx="11091672" cy="2103120"/>
          </a:xfrm>
          <a:prstGeom prst="roundRect">
            <a:avLst>
              <a:gd name="adj" fmla="val 3478"/>
            </a:avLst>
          </a:prstGeom>
          <a:solidFill>
            <a:srgbClr val="E2EDF4"/>
          </a:solidFill>
          <a:ln/>
        </p:spPr>
      </p:sp>
      <p:sp>
        <p:nvSpPr>
          <p:cNvPr id="7" name="Text 5"/>
          <p:cNvSpPr/>
          <p:nvPr/>
        </p:nvSpPr>
        <p:spPr>
          <a:xfrm>
            <a:off x="914400" y="2011680"/>
            <a:ext cx="10360152" cy="457200"/>
          </a:xfrm>
          <a:prstGeom prst="rect">
            <a:avLst/>
          </a:prstGeom>
          <a:noFill/>
          <a:ln/>
        </p:spPr>
        <p:txBody>
          <a:bodyPr wrap="square" lIns="0" tIns="0" rIns="0" bIns="0" rtlCol="0" anchor="ctr"/>
          <a:lstStyle/>
          <a:p>
            <a:pPr algn="r" indent="0" marL="0">
              <a:buNone/>
            </a:pPr>
            <a:r>
              <a:rPr lang="en-US" sz="2200" i="1" dirty="0">
                <a:solidFill>
                  <a:srgbClr val="1B2A41"/>
                </a:solidFill>
                <a:latin typeface="Calibri" pitchFamily="34" charset="0"/>
                <a:ea typeface="Calibri" pitchFamily="34" charset="-122"/>
                <a:cs typeface="Calibri" pitchFamily="34" charset="-120"/>
              </a:rPr>
              <a:t>Very truly yours,</a:t>
            </a:r>
            <a:endParaRPr lang="en-US" sz="2200" dirty="0"/>
          </a:p>
        </p:txBody>
      </p:sp>
      <p:sp>
        <p:nvSpPr>
          <p:cNvPr id="8" name="Text 6"/>
          <p:cNvSpPr/>
          <p:nvPr/>
        </p:nvSpPr>
        <p:spPr>
          <a:xfrm>
            <a:off x="914400" y="2560320"/>
            <a:ext cx="10360152" cy="685800"/>
          </a:xfrm>
          <a:prstGeom prst="rect">
            <a:avLst/>
          </a:prstGeom>
          <a:noFill/>
          <a:ln/>
        </p:spPr>
        <p:txBody>
          <a:bodyPr wrap="square" lIns="0" tIns="0" rIns="0" bIns="0" rtlCol="0" anchor="ctr"/>
          <a:lstStyle/>
          <a:p>
            <a:pPr algn="r" indent="0" marL="0">
              <a:buNone/>
            </a:pPr>
            <a:r>
              <a:rPr lang="en-US" sz="3400" b="1" dirty="0">
                <a:solidFill>
                  <a:srgbClr val="065A82"/>
                </a:solidFill>
                <a:latin typeface="Cambria" pitchFamily="34" charset="0"/>
                <a:ea typeface="Cambria" pitchFamily="34" charset="-122"/>
                <a:cs typeface="Cambria" pitchFamily="34" charset="-120"/>
              </a:rPr>
              <a:t>William D. Silkworth, M.D.</a:t>
            </a:r>
            <a:endParaRPr lang="en-US" sz="3400" dirty="0"/>
          </a:p>
        </p:txBody>
      </p:sp>
      <p:sp>
        <p:nvSpPr>
          <p:cNvPr id="9" name="Shape 7"/>
          <p:cNvSpPr/>
          <p:nvPr/>
        </p:nvSpPr>
        <p:spPr>
          <a:xfrm>
            <a:off x="548640" y="4023360"/>
            <a:ext cx="11091672" cy="1005840"/>
          </a:xfrm>
          <a:prstGeom prst="roundRect">
            <a:avLst>
              <a:gd name="adj" fmla="val 7273"/>
            </a:avLst>
          </a:prstGeom>
          <a:solidFill>
            <a:srgbClr val="1B2A41"/>
          </a:solidFill>
          <a:ln/>
        </p:spPr>
      </p:sp>
      <p:sp>
        <p:nvSpPr>
          <p:cNvPr id="10" name="Text 8"/>
          <p:cNvSpPr/>
          <p:nvPr/>
        </p:nvSpPr>
        <p:spPr>
          <a:xfrm>
            <a:off x="914400" y="4142232"/>
            <a:ext cx="10360152"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MARGIN NOTE</a:t>
            </a:r>
            <a:endParaRPr lang="en-US" sz="1100" dirty="0"/>
          </a:p>
        </p:txBody>
      </p:sp>
      <p:sp>
        <p:nvSpPr>
          <p:cNvPr id="11" name="Text 9"/>
          <p:cNvSpPr/>
          <p:nvPr/>
        </p:nvSpPr>
        <p:spPr>
          <a:xfrm>
            <a:off x="914400" y="4416552"/>
            <a:ext cx="10360152" cy="49377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Signed “Anonymous” in the first editions.</a:t>
            </a:r>
            <a:endParaRPr lang="en-US" sz="2200" dirty="0"/>
          </a:p>
        </p:txBody>
      </p:sp>
      <p:sp>
        <p:nvSpPr>
          <p:cNvPr id="12" name="Text 10"/>
          <p:cNvSpPr/>
          <p:nvPr/>
        </p:nvSpPr>
        <p:spPr>
          <a:xfrm>
            <a:off x="548640" y="521208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“The Doctor’s Opinion,” p. xxii.</a:t>
            </a:r>
            <a:endParaRPr lang="en-US" sz="1200" dirty="0"/>
          </a:p>
        </p:txBody>
      </p:sp>
      <p:sp>
        <p:nvSpPr>
          <p:cNvPr id="13" name="Text 11"/>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As Abnormal as His Mind</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What we who have suffered must believe.</a:t>
            </a:r>
            <a:endParaRPr lang="en-US" sz="1700" dirty="0"/>
          </a:p>
        </p:txBody>
      </p:sp>
      <p:sp>
        <p:nvSpPr>
          <p:cNvPr id="4" name="Shape 2"/>
          <p:cNvSpPr/>
          <p:nvPr/>
        </p:nvSpPr>
        <p:spPr>
          <a:xfrm>
            <a:off x="8869680" y="320040"/>
            <a:ext cx="2770632" cy="960120"/>
          </a:xfrm>
          <a:prstGeom prst="roundRect">
            <a:avLst>
              <a:gd name="adj" fmla="val 9524"/>
            </a:avLst>
          </a:prstGeom>
          <a:solidFill>
            <a:srgbClr val="9E1B60"/>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THE “MUSTS”</a:t>
            </a:r>
            <a:endParaRPr lang="en-US" sz="1700" dirty="0"/>
          </a:p>
          <a:p>
            <a:pPr algn="ctr" indent="0" marL="0">
              <a:buNone/>
            </a:pPr>
            <a:r>
              <a:rPr lang="en-US" sz="1300" dirty="0">
                <a:solidFill>
                  <a:srgbClr val="F7D9E8"/>
                </a:solidFill>
                <a:latin typeface="Calibri" pitchFamily="34" charset="0"/>
                <a:ea typeface="Calibri" pitchFamily="34" charset="-122"/>
                <a:cs typeface="Calibri" pitchFamily="34" charset="-120"/>
              </a:rPr>
              <a:t>p. xxii</a:t>
            </a:r>
            <a:endParaRPr lang="en-US" sz="1700" dirty="0"/>
          </a:p>
        </p:txBody>
      </p:sp>
      <p:sp>
        <p:nvSpPr>
          <p:cNvPr id="6" name="Shape 4"/>
          <p:cNvSpPr/>
          <p:nvPr/>
        </p:nvSpPr>
        <p:spPr>
          <a:xfrm>
            <a:off x="548640" y="1463040"/>
            <a:ext cx="11091672" cy="2103120"/>
          </a:xfrm>
          <a:prstGeom prst="roundRect">
            <a:avLst>
              <a:gd name="adj" fmla="val 3478"/>
            </a:avLst>
          </a:prstGeom>
          <a:solidFill>
            <a:srgbClr val="EAF1E6"/>
          </a:solidFill>
          <a:ln/>
        </p:spPr>
      </p:sp>
      <p:sp>
        <p:nvSpPr>
          <p:cNvPr id="7" name="Text 5"/>
          <p:cNvSpPr/>
          <p:nvPr/>
        </p:nvSpPr>
        <p:spPr>
          <a:xfrm>
            <a:off x="914400" y="1463040"/>
            <a:ext cx="10360152" cy="210312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The physician who, at our request, gave us this letter, has been kind enough to enlarge upon his views in another statement which follows. In this statement he </a:t>
            </a:r>
            <a:pPr indent="0" marL="0">
              <a:lnSpc>
                <a:spcPct val="115000"/>
              </a:lnSpc>
              <a:buNone/>
            </a:pPr>
            <a:r>
              <a:rPr lang="en-US" sz="1900" b="1" dirty="0">
                <a:solidFill>
                  <a:srgbClr val="9E1B60"/>
                </a:solidFill>
                <a:latin typeface="Calibri" pitchFamily="34" charset="0"/>
                <a:ea typeface="Calibri" pitchFamily="34" charset="-122"/>
                <a:cs typeface="Calibri" pitchFamily="34" charset="-120"/>
              </a:rPr>
              <a:t>confirms what we who have suffered alcoholic torture must believe—</a:t>
            </a:r>
            <a:pPr indent="0" marL="0">
              <a:lnSpc>
                <a:spcPct val="115000"/>
              </a:lnSpc>
              <a:buNone/>
            </a:pPr>
            <a:r>
              <a:rPr lang="en-US" sz="1900" b="1" u="sng" dirty="0">
                <a:solidFill>
                  <a:srgbClr val="9E1B60"/>
                </a:solidFill>
                <a:latin typeface="Calibri" pitchFamily="34" charset="0"/>
                <a:ea typeface="Calibri" pitchFamily="34" charset="-122"/>
                <a:cs typeface="Calibri" pitchFamily="34" charset="-120"/>
              </a:rPr>
              <a:t>that the body of the alcoholic is quite as abnormal as his mind.</a:t>
            </a:r>
            <a:endParaRPr lang="en-US" sz="1900" dirty="0"/>
          </a:p>
        </p:txBody>
      </p:sp>
      <p:sp>
        <p:nvSpPr>
          <p:cNvPr id="8" name="Shape 6"/>
          <p:cNvSpPr/>
          <p:nvPr/>
        </p:nvSpPr>
        <p:spPr>
          <a:xfrm>
            <a:off x="548640" y="3840480"/>
            <a:ext cx="11091672" cy="1234440"/>
          </a:xfrm>
          <a:prstGeom prst="roundRect">
            <a:avLst>
              <a:gd name="adj" fmla="val 5926"/>
            </a:avLst>
          </a:prstGeom>
          <a:solidFill>
            <a:srgbClr val="9E1B60"/>
          </a:solidFill>
          <a:ln/>
        </p:spPr>
      </p:sp>
      <p:sp>
        <p:nvSpPr>
          <p:cNvPr id="9" name="Text 7"/>
          <p:cNvSpPr/>
          <p:nvPr/>
        </p:nvSpPr>
        <p:spPr>
          <a:xfrm>
            <a:off x="914400" y="3959352"/>
            <a:ext cx="10360152" cy="256032"/>
          </a:xfrm>
          <a:prstGeom prst="rect">
            <a:avLst/>
          </a:prstGeom>
          <a:noFill/>
          <a:ln/>
        </p:spPr>
        <p:txBody>
          <a:bodyPr wrap="square" lIns="0" tIns="0" rIns="0" bIns="0" rtlCol="0" anchor="ctr"/>
          <a:lstStyle/>
          <a:p>
            <a:pPr indent="0" marL="0">
              <a:buNone/>
            </a:pPr>
            <a:r>
              <a:rPr lang="en-US" sz="1100" b="1" spc="200" kern="0" dirty="0">
                <a:solidFill>
                  <a:srgbClr val="F7D9E8"/>
                </a:solidFill>
                <a:latin typeface="Calibri" pitchFamily="34" charset="0"/>
                <a:ea typeface="Calibri" pitchFamily="34" charset="-122"/>
                <a:cs typeface="Calibri" pitchFamily="34" charset="-120"/>
              </a:rPr>
              <a:t>A “MUST”</a:t>
            </a:r>
            <a:endParaRPr lang="en-US" sz="1100" dirty="0"/>
          </a:p>
        </p:txBody>
      </p:sp>
      <p:sp>
        <p:nvSpPr>
          <p:cNvPr id="10" name="Text 8"/>
          <p:cNvSpPr/>
          <p:nvPr/>
        </p:nvSpPr>
        <p:spPr>
          <a:xfrm>
            <a:off x="914400" y="4233672"/>
            <a:ext cx="10360152" cy="6858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…the body of the alcoholic is quite as abnormal as his mind.</a:t>
            </a:r>
            <a:endParaRPr lang="en-US" sz="2400" dirty="0"/>
          </a:p>
        </p:txBody>
      </p:sp>
      <p:sp>
        <p:nvSpPr>
          <p:cNvPr id="11" name="Text 9"/>
          <p:cNvSpPr/>
          <p:nvPr/>
        </p:nvSpPr>
        <p:spPr>
          <a:xfrm>
            <a:off x="548640" y="530352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“The Doctor’s Opinion,” p. xxii.</a:t>
            </a:r>
            <a:endParaRPr lang="en-US" sz="1200" dirty="0"/>
          </a:p>
        </p:txBody>
      </p:sp>
      <p:sp>
        <p:nvSpPr>
          <p:cNvPr id="12" name="Text 10"/>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The Physical Factor</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It did not satisfy us to be told…</a:t>
            </a:r>
            <a:endParaRPr lang="en-US" sz="1700" dirty="0"/>
          </a:p>
        </p:txBody>
      </p:sp>
      <p:sp>
        <p:nvSpPr>
          <p:cNvPr id="4" name="Shape 2"/>
          <p:cNvSpPr/>
          <p:nvPr/>
        </p:nvSpPr>
        <p:spPr>
          <a:xfrm>
            <a:off x="8869680" y="320040"/>
            <a:ext cx="2770632" cy="960120"/>
          </a:xfrm>
          <a:prstGeom prst="roundRect">
            <a:avLst>
              <a:gd name="adj" fmla="val 9524"/>
            </a:avLst>
          </a:prstGeom>
          <a:solidFill>
            <a:srgbClr val="2C5F2D"/>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THE BIG BOOK</a:t>
            </a:r>
            <a:endParaRPr lang="en-US" sz="1700" dirty="0"/>
          </a:p>
          <a:p>
            <a:pPr algn="ctr" indent="0" marL="0">
              <a:buNone/>
            </a:pPr>
            <a:r>
              <a:rPr lang="en-US" sz="1300" dirty="0">
                <a:solidFill>
                  <a:srgbClr val="D5E3CE"/>
                </a:solidFill>
                <a:latin typeface="Calibri" pitchFamily="34" charset="0"/>
                <a:ea typeface="Calibri" pitchFamily="34" charset="-122"/>
                <a:cs typeface="Calibri" pitchFamily="34" charset="-120"/>
              </a:rPr>
              <a:t>p. xxii</a:t>
            </a:r>
            <a:endParaRPr lang="en-US" sz="1700" dirty="0"/>
          </a:p>
        </p:txBody>
      </p:sp>
      <p:sp>
        <p:nvSpPr>
          <p:cNvPr id="6" name="Shape 4"/>
          <p:cNvSpPr/>
          <p:nvPr/>
        </p:nvSpPr>
        <p:spPr>
          <a:xfrm>
            <a:off x="548640" y="1691640"/>
            <a:ext cx="11091672" cy="2788920"/>
          </a:xfrm>
          <a:prstGeom prst="roundRect">
            <a:avLst>
              <a:gd name="adj" fmla="val 2623"/>
            </a:avLst>
          </a:prstGeom>
          <a:solidFill>
            <a:srgbClr val="EAF1E6"/>
          </a:solidFill>
          <a:ln/>
        </p:spPr>
      </p:sp>
      <p:sp>
        <p:nvSpPr>
          <p:cNvPr id="7" name="Text 5"/>
          <p:cNvSpPr/>
          <p:nvPr/>
        </p:nvSpPr>
        <p:spPr>
          <a:xfrm>
            <a:off x="914400" y="1691640"/>
            <a:ext cx="10360152" cy="278892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It did not satisfy us to be told that we could not </a:t>
            </a:r>
            <a:pPr indent="0" marL="0">
              <a:lnSpc>
                <a:spcPct val="115000"/>
              </a:lnSpc>
              <a:buNone/>
            </a:pPr>
            <a:r>
              <a:rPr lang="en-US" sz="1900" b="1" u="dbl" dirty="0">
                <a:solidFill>
                  <a:srgbClr val="1B2A41"/>
                </a:solidFill>
                <a:latin typeface="Calibri" pitchFamily="34" charset="0"/>
                <a:ea typeface="Calibri" pitchFamily="34" charset="-122"/>
                <a:cs typeface="Calibri" pitchFamily="34" charset="-120"/>
              </a:rPr>
              <a:t>control</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our drinking just because we were maladjusted to life, that we were in full flight from reality, or were outright mental defectives. These things were true to some extent, in fact, to a considerable extent with some of us. But we are sure that our bodies were sickened as well. </a:t>
            </a:r>
            <a:pPr indent="0" marL="0">
              <a:lnSpc>
                <a:spcPct val="115000"/>
              </a:lnSpc>
              <a:buNone/>
            </a:pPr>
            <a:r>
              <a:rPr lang="en-US" sz="1900" b="1" u="sng" dirty="0">
                <a:solidFill>
                  <a:srgbClr val="2C5F2D"/>
                </a:solidFill>
                <a:latin typeface="Calibri" pitchFamily="34" charset="0"/>
                <a:ea typeface="Calibri" pitchFamily="34" charset="-122"/>
                <a:cs typeface="Calibri" pitchFamily="34" charset="-120"/>
              </a:rPr>
              <a:t>In our belief, any picture of the alcoholic which leaves out this physical factor is incomplete.</a:t>
            </a:r>
            <a:endParaRPr lang="en-US" sz="1900" dirty="0"/>
          </a:p>
        </p:txBody>
      </p:sp>
      <p:sp>
        <p:nvSpPr>
          <p:cNvPr id="8" name="Text 6"/>
          <p:cNvSpPr/>
          <p:nvPr/>
        </p:nvSpPr>
        <p:spPr>
          <a:xfrm>
            <a:off x="548640" y="475488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“The Doctor’s Opinion,” p. xxii.</a:t>
            </a:r>
            <a:endParaRPr lang="en-US" sz="1200" dirty="0"/>
          </a:p>
        </p:txBody>
      </p:sp>
      <p:sp>
        <p:nvSpPr>
          <p:cNvPr id="9" name="Text 7"/>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An Allergy to Alcohol</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The doctor’s theory.</a:t>
            </a:r>
            <a:endParaRPr lang="en-US" sz="1700" dirty="0"/>
          </a:p>
        </p:txBody>
      </p:sp>
      <p:sp>
        <p:nvSpPr>
          <p:cNvPr id="4" name="Shape 2"/>
          <p:cNvSpPr/>
          <p:nvPr/>
        </p:nvSpPr>
        <p:spPr>
          <a:xfrm>
            <a:off x="8869680" y="320040"/>
            <a:ext cx="2770632" cy="960120"/>
          </a:xfrm>
          <a:prstGeom prst="roundRect">
            <a:avLst>
              <a:gd name="adj" fmla="val 9524"/>
            </a:avLst>
          </a:prstGeom>
          <a:solidFill>
            <a:srgbClr val="065A82"/>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THE BIG BOOK</a:t>
            </a:r>
            <a:endParaRPr lang="en-US" sz="1700" dirty="0"/>
          </a:p>
          <a:p>
            <a:pPr algn="ctr" indent="0" marL="0">
              <a:buNone/>
            </a:pPr>
            <a:r>
              <a:rPr lang="en-US" sz="1300" dirty="0">
                <a:solidFill>
                  <a:srgbClr val="C7DEEC"/>
                </a:solidFill>
                <a:latin typeface="Calibri" pitchFamily="34" charset="0"/>
                <a:ea typeface="Calibri" pitchFamily="34" charset="-122"/>
                <a:cs typeface="Calibri" pitchFamily="34" charset="-120"/>
              </a:rPr>
              <a:t>p. xxii</a:t>
            </a:r>
            <a:endParaRPr lang="en-US" sz="1700" dirty="0"/>
          </a:p>
        </p:txBody>
      </p:sp>
      <p:sp>
        <p:nvSpPr>
          <p:cNvPr id="6" name="Shape 4"/>
          <p:cNvSpPr/>
          <p:nvPr/>
        </p:nvSpPr>
        <p:spPr>
          <a:xfrm>
            <a:off x="548640" y="1600200"/>
            <a:ext cx="11091672" cy="2377440"/>
          </a:xfrm>
          <a:prstGeom prst="roundRect">
            <a:avLst>
              <a:gd name="adj" fmla="val 3077"/>
            </a:avLst>
          </a:prstGeom>
          <a:solidFill>
            <a:srgbClr val="E2EDF4"/>
          </a:solidFill>
          <a:ln/>
        </p:spPr>
      </p:sp>
      <p:sp>
        <p:nvSpPr>
          <p:cNvPr id="7" name="Text 5"/>
          <p:cNvSpPr/>
          <p:nvPr/>
        </p:nvSpPr>
        <p:spPr>
          <a:xfrm>
            <a:off x="914400" y="1600200"/>
            <a:ext cx="10360152" cy="2377440"/>
          </a:xfrm>
          <a:prstGeom prst="rect">
            <a:avLst/>
          </a:prstGeom>
          <a:noFill/>
          <a:ln/>
        </p:spPr>
        <p:txBody>
          <a:bodyPr wrap="square" lIns="0" tIns="0" rIns="0" bIns="0" rtlCol="0" anchor="ctr"/>
          <a:lstStyle/>
          <a:p>
            <a:pPr indent="0" marL="0">
              <a:lnSpc>
                <a:spcPct val="115000"/>
              </a:lnSpc>
              <a:buNone/>
            </a:pPr>
            <a:r>
              <a:rPr lang="en-US" sz="2100" b="1" u="sng" dirty="0">
                <a:solidFill>
                  <a:srgbClr val="065A82"/>
                </a:solidFill>
                <a:latin typeface="Calibri" pitchFamily="34" charset="0"/>
                <a:ea typeface="Calibri" pitchFamily="34" charset="-122"/>
                <a:cs typeface="Calibri" pitchFamily="34" charset="-120"/>
              </a:rPr>
              <a:t>The doctor’s theory that we have an allergy to alcohol interests us.</a:t>
            </a:r>
            <a:pPr indent="0" marL="0">
              <a:lnSpc>
                <a:spcPct val="115000"/>
              </a:lnSpc>
              <a:buNone/>
            </a:pPr>
            <a:r>
              <a:rPr lang="en-US" sz="2100" dirty="0">
                <a:solidFill>
                  <a:srgbClr val="1B2A41"/>
                </a:solidFill>
                <a:latin typeface="Calibri" pitchFamily="34" charset="0"/>
                <a:ea typeface="Calibri" pitchFamily="34" charset="-122"/>
                <a:cs typeface="Calibri" pitchFamily="34" charset="-120"/>
              </a:rPr>
              <a:t> As laymen, our opinion as to its soundness may, of course, mean little. But as ex-problem drinkers, we can say that his explanation makes good sense. It explains many things for which we cannot otherwise account.</a:t>
            </a:r>
            <a:endParaRPr lang="en-US" sz="2100" dirty="0"/>
          </a:p>
        </p:txBody>
      </p:sp>
      <p:sp>
        <p:nvSpPr>
          <p:cNvPr id="8" name="Shape 6"/>
          <p:cNvSpPr/>
          <p:nvPr/>
        </p:nvSpPr>
        <p:spPr>
          <a:xfrm>
            <a:off x="548640" y="4251960"/>
            <a:ext cx="11091672" cy="960120"/>
          </a:xfrm>
          <a:prstGeom prst="roundRect">
            <a:avLst>
              <a:gd name="adj" fmla="val 7619"/>
            </a:avLst>
          </a:prstGeom>
          <a:solidFill>
            <a:srgbClr val="1B2A41"/>
          </a:solidFill>
          <a:ln/>
        </p:spPr>
      </p:sp>
      <p:sp>
        <p:nvSpPr>
          <p:cNvPr id="9" name="Text 7"/>
          <p:cNvSpPr/>
          <p:nvPr/>
        </p:nvSpPr>
        <p:spPr>
          <a:xfrm>
            <a:off x="914400" y="4370832"/>
            <a:ext cx="10360152"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MARGIN NOTE</a:t>
            </a:r>
            <a:endParaRPr lang="en-US" sz="1100" dirty="0"/>
          </a:p>
        </p:txBody>
      </p:sp>
      <p:sp>
        <p:nvSpPr>
          <p:cNvPr id="10" name="Text 8"/>
          <p:cNvSpPr/>
          <p:nvPr/>
        </p:nvSpPr>
        <p:spPr>
          <a:xfrm>
            <a:off x="914400" y="4645152"/>
            <a:ext cx="10360152" cy="44805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Allergy = abnormal reaction.</a:t>
            </a:r>
            <a:endParaRPr lang="en-US" sz="2200" dirty="0"/>
          </a:p>
        </p:txBody>
      </p:sp>
      <p:sp>
        <p:nvSpPr>
          <p:cNvPr id="11" name="Text 9"/>
          <p:cNvSpPr/>
          <p:nvPr/>
        </p:nvSpPr>
        <p:spPr>
          <a:xfrm>
            <a:off x="548640" y="539496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“The Doctor’s Opinion,” p. xxii.</a:t>
            </a:r>
            <a:endParaRPr lang="en-US" sz="1200" dirty="0"/>
          </a:p>
        </p:txBody>
      </p:sp>
      <p:sp>
        <p:nvSpPr>
          <p:cNvPr id="12" name="Text 10"/>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Of Paramount Importance</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The doctor writes:</a:t>
            </a:r>
            <a:endParaRPr lang="en-US" sz="1700" dirty="0"/>
          </a:p>
        </p:txBody>
      </p:sp>
      <p:sp>
        <p:nvSpPr>
          <p:cNvPr id="4" name="Shape 2"/>
          <p:cNvSpPr/>
          <p:nvPr/>
        </p:nvSpPr>
        <p:spPr>
          <a:xfrm>
            <a:off x="8869680" y="320040"/>
            <a:ext cx="2770632" cy="960120"/>
          </a:xfrm>
          <a:prstGeom prst="roundRect">
            <a:avLst>
              <a:gd name="adj" fmla="val 9524"/>
            </a:avLst>
          </a:prstGeom>
          <a:solidFill>
            <a:srgbClr val="2C5F2D"/>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THE BIG BOOK</a:t>
            </a:r>
            <a:endParaRPr lang="en-US" sz="1700" dirty="0"/>
          </a:p>
          <a:p>
            <a:pPr algn="ctr" indent="0" marL="0">
              <a:buNone/>
            </a:pPr>
            <a:r>
              <a:rPr lang="en-US" sz="1300" dirty="0">
                <a:solidFill>
                  <a:srgbClr val="D5E3CE"/>
                </a:solidFill>
                <a:latin typeface="Calibri" pitchFamily="34" charset="0"/>
                <a:ea typeface="Calibri" pitchFamily="34" charset="-122"/>
                <a:cs typeface="Calibri" pitchFamily="34" charset="-120"/>
              </a:rPr>
              <a:t>p. xxiii</a:t>
            </a:r>
            <a:endParaRPr lang="en-US" sz="1700" dirty="0"/>
          </a:p>
        </p:txBody>
      </p:sp>
      <p:sp>
        <p:nvSpPr>
          <p:cNvPr id="6" name="Shape 4"/>
          <p:cNvSpPr/>
          <p:nvPr/>
        </p:nvSpPr>
        <p:spPr>
          <a:xfrm>
            <a:off x="548640" y="1463040"/>
            <a:ext cx="11091672" cy="2651760"/>
          </a:xfrm>
          <a:prstGeom prst="roundRect">
            <a:avLst>
              <a:gd name="adj" fmla="val 2759"/>
            </a:avLst>
          </a:prstGeom>
          <a:solidFill>
            <a:srgbClr val="EAF1E6"/>
          </a:solidFill>
          <a:ln/>
        </p:spPr>
      </p:sp>
      <p:sp>
        <p:nvSpPr>
          <p:cNvPr id="7" name="Text 5"/>
          <p:cNvSpPr/>
          <p:nvPr/>
        </p:nvSpPr>
        <p:spPr>
          <a:xfrm>
            <a:off x="914400" y="1463040"/>
            <a:ext cx="10360152" cy="2651760"/>
          </a:xfrm>
          <a:prstGeom prst="rect">
            <a:avLst/>
          </a:prstGeom>
          <a:noFill/>
          <a:ln/>
        </p:spPr>
        <p:txBody>
          <a:bodyPr wrap="square" lIns="0" tIns="0" rIns="0" bIns="0" rtlCol="0" anchor="ctr"/>
          <a:lstStyle/>
          <a:p>
            <a:pPr indent="0" marL="0">
              <a:lnSpc>
                <a:spcPct val="115000"/>
              </a:lnSpc>
              <a:spcAft>
                <a:spcPts val="1000"/>
              </a:spcAft>
              <a:buNone/>
            </a:pPr>
            <a:r>
              <a:rPr lang="en-US" sz="1900" dirty="0">
                <a:solidFill>
                  <a:srgbClr val="1B2A41"/>
                </a:solidFill>
                <a:latin typeface="Calibri" pitchFamily="34" charset="0"/>
                <a:ea typeface="Calibri" pitchFamily="34" charset="-122"/>
                <a:cs typeface="Calibri" pitchFamily="34" charset="-120"/>
              </a:rPr>
              <a:t>The subject presented in this book seems to me to be of paramount importance to those afflicted with alcoholic addiction.</a:t>
            </a:r>
            <a:endParaRPr lang="en-US" sz="1900" dirty="0"/>
          </a:p>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I say this after many years’ experience as Medical Director of </a:t>
            </a:r>
            <a:pPr indent="0" marL="0">
              <a:lnSpc>
                <a:spcPct val="115000"/>
              </a:lnSpc>
              <a:buNone/>
            </a:pPr>
            <a:r>
              <a:rPr lang="en-US" sz="1900" b="1" dirty="0">
                <a:solidFill>
                  <a:srgbClr val="2C5F2D"/>
                </a:solidFill>
                <a:latin typeface="Calibri" pitchFamily="34" charset="0"/>
                <a:ea typeface="Calibri" pitchFamily="34" charset="-122"/>
                <a:cs typeface="Calibri" pitchFamily="34" charset="-120"/>
              </a:rPr>
              <a:t>one of the oldest hospitals in the country treating alcoholic and drug addiction</a:t>
            </a:r>
            <a:pPr indent="0" marL="0">
              <a:lnSpc>
                <a:spcPct val="115000"/>
              </a:lnSpc>
              <a:spcAft>
                <a:spcPts val="1000"/>
              </a:spcAft>
              <a:buNone/>
            </a:pPr>
            <a:r>
              <a:rPr lang="en-US" sz="1900" dirty="0">
                <a:solidFill>
                  <a:srgbClr val="1B2A41"/>
                </a:solidFill>
                <a:latin typeface="Calibri" pitchFamily="34" charset="0"/>
                <a:ea typeface="Calibri" pitchFamily="34" charset="-122"/>
                <a:cs typeface="Calibri" pitchFamily="34" charset="-120"/>
              </a:rPr>
              <a:t>.</a:t>
            </a:r>
            <a:endParaRPr lang="en-US" sz="1900" dirty="0"/>
          </a:p>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There was, therefore, a sense of real satisfaction when I was asked to contribute a few words on a subject which is covered in such masterly detail in these pages.</a:t>
            </a:r>
            <a:endParaRPr lang="en-US" sz="1900" dirty="0"/>
          </a:p>
        </p:txBody>
      </p:sp>
      <p:sp>
        <p:nvSpPr>
          <p:cNvPr id="8" name="Shape 6"/>
          <p:cNvSpPr/>
          <p:nvPr/>
        </p:nvSpPr>
        <p:spPr>
          <a:xfrm>
            <a:off x="548640" y="4389120"/>
            <a:ext cx="11091672" cy="960120"/>
          </a:xfrm>
          <a:prstGeom prst="roundRect">
            <a:avLst>
              <a:gd name="adj" fmla="val 7619"/>
            </a:avLst>
          </a:prstGeom>
          <a:solidFill>
            <a:srgbClr val="1B2A41"/>
          </a:solidFill>
          <a:ln/>
        </p:spPr>
      </p:sp>
      <p:sp>
        <p:nvSpPr>
          <p:cNvPr id="9" name="Text 7"/>
          <p:cNvSpPr/>
          <p:nvPr/>
        </p:nvSpPr>
        <p:spPr>
          <a:xfrm>
            <a:off x="914400" y="4507992"/>
            <a:ext cx="10360152"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MARGIN NOTE</a:t>
            </a:r>
            <a:endParaRPr lang="en-US" sz="1100" dirty="0"/>
          </a:p>
        </p:txBody>
      </p:sp>
      <p:sp>
        <p:nvSpPr>
          <p:cNvPr id="10" name="Text 8"/>
          <p:cNvSpPr/>
          <p:nvPr/>
        </p:nvSpPr>
        <p:spPr>
          <a:xfrm>
            <a:off x="914400" y="4782312"/>
            <a:ext cx="10360152" cy="44805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Towns Hospital, New York City.</a:t>
            </a:r>
            <a:endParaRPr lang="en-US" sz="2200" dirty="0"/>
          </a:p>
        </p:txBody>
      </p:sp>
      <p:sp>
        <p:nvSpPr>
          <p:cNvPr id="11" name="Text 9"/>
          <p:cNvSpPr/>
          <p:nvPr/>
        </p:nvSpPr>
        <p:spPr>
          <a:xfrm>
            <a:off x="548640" y="553212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“The Doctor’s Opinion,” p. xxiii.</a:t>
            </a:r>
            <a:endParaRPr lang="en-US" sz="1200" dirty="0"/>
          </a:p>
        </p:txBody>
      </p:sp>
      <p:sp>
        <p:nvSpPr>
          <p:cNvPr id="12" name="Text 10"/>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Beyond Our Conception</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What we doctors have realized.</a:t>
            </a:r>
            <a:endParaRPr lang="en-US" sz="1700" dirty="0"/>
          </a:p>
        </p:txBody>
      </p:sp>
      <p:sp>
        <p:nvSpPr>
          <p:cNvPr id="4" name="Shape 2"/>
          <p:cNvSpPr/>
          <p:nvPr/>
        </p:nvSpPr>
        <p:spPr>
          <a:xfrm>
            <a:off x="8869680" y="320040"/>
            <a:ext cx="2770632" cy="960120"/>
          </a:xfrm>
          <a:prstGeom prst="roundRect">
            <a:avLst>
              <a:gd name="adj" fmla="val 9524"/>
            </a:avLst>
          </a:prstGeom>
          <a:solidFill>
            <a:srgbClr val="2C5F2D"/>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THE BIG BOOK</a:t>
            </a:r>
            <a:endParaRPr lang="en-US" sz="1700" dirty="0"/>
          </a:p>
          <a:p>
            <a:pPr algn="ctr" indent="0" marL="0">
              <a:buNone/>
            </a:pPr>
            <a:r>
              <a:rPr lang="en-US" sz="1300" dirty="0">
                <a:solidFill>
                  <a:srgbClr val="D5E3CE"/>
                </a:solidFill>
                <a:latin typeface="Calibri" pitchFamily="34" charset="0"/>
                <a:ea typeface="Calibri" pitchFamily="34" charset="-122"/>
                <a:cs typeface="Calibri" pitchFamily="34" charset="-120"/>
              </a:rPr>
              <a:t>p. xxiii</a:t>
            </a:r>
            <a:endParaRPr lang="en-US" sz="1700" dirty="0"/>
          </a:p>
        </p:txBody>
      </p:sp>
      <p:sp>
        <p:nvSpPr>
          <p:cNvPr id="6" name="Shape 4"/>
          <p:cNvSpPr/>
          <p:nvPr/>
        </p:nvSpPr>
        <p:spPr>
          <a:xfrm>
            <a:off x="548640" y="1645920"/>
            <a:ext cx="11091672" cy="1463040"/>
          </a:xfrm>
          <a:prstGeom prst="roundRect">
            <a:avLst>
              <a:gd name="adj" fmla="val 5000"/>
            </a:avLst>
          </a:prstGeom>
          <a:solidFill>
            <a:srgbClr val="EAF1E6"/>
          </a:solidFill>
          <a:ln/>
        </p:spPr>
      </p:sp>
      <p:sp>
        <p:nvSpPr>
          <p:cNvPr id="7" name="Text 5"/>
          <p:cNvSpPr/>
          <p:nvPr/>
        </p:nvSpPr>
        <p:spPr>
          <a:xfrm>
            <a:off x="914400" y="1645920"/>
            <a:ext cx="10360152" cy="1463040"/>
          </a:xfrm>
          <a:prstGeom prst="rect">
            <a:avLst/>
          </a:prstGeom>
          <a:noFill/>
          <a:ln/>
        </p:spPr>
        <p:txBody>
          <a:bodyPr wrap="square" lIns="0" tIns="0" rIns="0" bIns="0" rtlCol="0" anchor="ctr"/>
          <a:lstStyle/>
          <a:p>
            <a:pPr indent="0" marL="0">
              <a:lnSpc>
                <a:spcPct val="115000"/>
              </a:lnSpc>
              <a:buNone/>
            </a:pPr>
            <a:r>
              <a:rPr lang="en-US" sz="2100" dirty="0">
                <a:solidFill>
                  <a:srgbClr val="1B2A41"/>
                </a:solidFill>
                <a:latin typeface="Calibri" pitchFamily="34" charset="0"/>
                <a:ea typeface="Calibri" pitchFamily="34" charset="-122"/>
                <a:cs typeface="Calibri" pitchFamily="34" charset="-120"/>
              </a:rPr>
              <a:t>We doctors have realized for a long time that some form of </a:t>
            </a:r>
            <a:pPr indent="0" marL="0">
              <a:lnSpc>
                <a:spcPct val="115000"/>
              </a:lnSpc>
              <a:buNone/>
            </a:pPr>
            <a:r>
              <a:rPr lang="en-US" sz="2100" b="1" dirty="0">
                <a:solidFill>
                  <a:srgbClr val="2C5F2D"/>
                </a:solidFill>
                <a:latin typeface="Calibri" pitchFamily="34" charset="0"/>
                <a:ea typeface="Calibri" pitchFamily="34" charset="-122"/>
                <a:cs typeface="Calibri" pitchFamily="34" charset="-120"/>
              </a:rPr>
              <a:t>moral psychology</a:t>
            </a:r>
            <a:pPr indent="0" marL="0">
              <a:lnSpc>
                <a:spcPct val="115000"/>
              </a:lnSpc>
              <a:buNone/>
            </a:pPr>
            <a:r>
              <a:rPr lang="en-US" sz="2100" dirty="0">
                <a:solidFill>
                  <a:srgbClr val="1B2A41"/>
                </a:solidFill>
                <a:latin typeface="Calibri" pitchFamily="34" charset="0"/>
                <a:ea typeface="Calibri" pitchFamily="34" charset="-122"/>
                <a:cs typeface="Calibri" pitchFamily="34" charset="-120"/>
              </a:rPr>
              <a:t> was of urgent importance to alcoholics, but its application presented difficulties beyond our conception.</a:t>
            </a:r>
            <a:endParaRPr lang="en-US" sz="2100" dirty="0"/>
          </a:p>
        </p:txBody>
      </p:sp>
      <p:sp>
        <p:nvSpPr>
          <p:cNvPr id="8" name="Shape 6"/>
          <p:cNvSpPr/>
          <p:nvPr/>
        </p:nvSpPr>
        <p:spPr>
          <a:xfrm>
            <a:off x="548640" y="3383280"/>
            <a:ext cx="11091672" cy="1463040"/>
          </a:xfrm>
          <a:prstGeom prst="roundRect">
            <a:avLst>
              <a:gd name="adj" fmla="val 5000"/>
            </a:avLst>
          </a:prstGeom>
          <a:solidFill>
            <a:srgbClr val="EAF1E6"/>
          </a:solidFill>
          <a:ln/>
        </p:spPr>
      </p:sp>
      <p:sp>
        <p:nvSpPr>
          <p:cNvPr id="9" name="Text 7"/>
          <p:cNvSpPr/>
          <p:nvPr/>
        </p:nvSpPr>
        <p:spPr>
          <a:xfrm>
            <a:off x="914400" y="3383280"/>
            <a:ext cx="10360152" cy="1463040"/>
          </a:xfrm>
          <a:prstGeom prst="rect">
            <a:avLst/>
          </a:prstGeom>
          <a:noFill/>
          <a:ln/>
        </p:spPr>
        <p:txBody>
          <a:bodyPr wrap="square" lIns="0" tIns="0" rIns="0" bIns="0" rtlCol="0" anchor="ctr"/>
          <a:lstStyle/>
          <a:p>
            <a:pPr indent="0" marL="0">
              <a:lnSpc>
                <a:spcPct val="115000"/>
              </a:lnSpc>
              <a:buNone/>
            </a:pPr>
            <a:r>
              <a:rPr lang="en-US" sz="2100" dirty="0">
                <a:solidFill>
                  <a:srgbClr val="1B2A41"/>
                </a:solidFill>
                <a:latin typeface="Calibri" pitchFamily="34" charset="0"/>
                <a:ea typeface="Calibri" pitchFamily="34" charset="-122"/>
                <a:cs typeface="Calibri" pitchFamily="34" charset="-120"/>
              </a:rPr>
              <a:t>What with our ultra-modern standards, our scientific approach to everything, we are perhaps not well equipped to apply the powers of good that lie outside our synthetic knowledge.</a:t>
            </a:r>
            <a:endParaRPr lang="en-US" sz="2100" dirty="0"/>
          </a:p>
        </p:txBody>
      </p:sp>
      <p:sp>
        <p:nvSpPr>
          <p:cNvPr id="10" name="Text 8"/>
          <p:cNvSpPr/>
          <p:nvPr/>
        </p:nvSpPr>
        <p:spPr>
          <a:xfrm>
            <a:off x="548640" y="512064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“The Doctor’s Opinion,” p. xxiii.</a:t>
            </a:r>
            <a:endParaRPr lang="en-US" sz="1200" dirty="0"/>
          </a:p>
        </p:txBody>
      </p:sp>
      <p:sp>
        <p:nvSpPr>
          <p:cNvPr id="11" name="Text 9"/>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One of the Leading Contributors</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Came under our care in this hospital.</a:t>
            </a:r>
            <a:endParaRPr lang="en-US" sz="1700" dirty="0"/>
          </a:p>
        </p:txBody>
      </p:sp>
      <p:sp>
        <p:nvSpPr>
          <p:cNvPr id="4" name="Shape 2"/>
          <p:cNvSpPr/>
          <p:nvPr/>
        </p:nvSpPr>
        <p:spPr>
          <a:xfrm>
            <a:off x="8869680" y="320040"/>
            <a:ext cx="2770632" cy="960120"/>
          </a:xfrm>
          <a:prstGeom prst="roundRect">
            <a:avLst>
              <a:gd name="adj" fmla="val 9524"/>
            </a:avLst>
          </a:prstGeom>
          <a:solidFill>
            <a:srgbClr val="2C5F2D"/>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THE BIG BOOK</a:t>
            </a:r>
            <a:endParaRPr lang="en-US" sz="1700" dirty="0"/>
          </a:p>
          <a:p>
            <a:pPr algn="ctr" indent="0" marL="0">
              <a:buNone/>
            </a:pPr>
            <a:r>
              <a:rPr lang="en-US" sz="1300" dirty="0">
                <a:solidFill>
                  <a:srgbClr val="D5E3CE"/>
                </a:solidFill>
                <a:latin typeface="Calibri" pitchFamily="34" charset="0"/>
                <a:ea typeface="Calibri" pitchFamily="34" charset="-122"/>
                <a:cs typeface="Calibri" pitchFamily="34" charset="-120"/>
              </a:rPr>
              <a:t>p. xxiii</a:t>
            </a:r>
            <a:endParaRPr lang="en-US" sz="1700" dirty="0"/>
          </a:p>
        </p:txBody>
      </p:sp>
      <p:sp>
        <p:nvSpPr>
          <p:cNvPr id="6" name="Shape 4"/>
          <p:cNvSpPr/>
          <p:nvPr/>
        </p:nvSpPr>
        <p:spPr>
          <a:xfrm>
            <a:off x="548640" y="1554480"/>
            <a:ext cx="11091672" cy="1737360"/>
          </a:xfrm>
          <a:prstGeom prst="roundRect">
            <a:avLst>
              <a:gd name="adj" fmla="val 4211"/>
            </a:avLst>
          </a:prstGeom>
          <a:solidFill>
            <a:srgbClr val="EAF1E6"/>
          </a:solidFill>
          <a:ln/>
        </p:spPr>
      </p:sp>
      <p:sp>
        <p:nvSpPr>
          <p:cNvPr id="7" name="Text 5"/>
          <p:cNvSpPr/>
          <p:nvPr/>
        </p:nvSpPr>
        <p:spPr>
          <a:xfrm>
            <a:off x="914400" y="1554480"/>
            <a:ext cx="10360152" cy="1737360"/>
          </a:xfrm>
          <a:prstGeom prst="rect">
            <a:avLst/>
          </a:prstGeom>
          <a:noFill/>
          <a:ln/>
        </p:spPr>
        <p:txBody>
          <a:bodyPr wrap="square" lIns="0" tIns="0" rIns="0" bIns="0" rtlCol="0" anchor="ctr"/>
          <a:lstStyle/>
          <a:p>
            <a:pPr indent="0" marL="0">
              <a:lnSpc>
                <a:spcPct val="115000"/>
              </a:lnSpc>
              <a:buNone/>
            </a:pPr>
            <a:r>
              <a:rPr lang="en-US" sz="2200" dirty="0">
                <a:solidFill>
                  <a:srgbClr val="1B2A41"/>
                </a:solidFill>
                <a:latin typeface="Calibri" pitchFamily="34" charset="0"/>
                <a:ea typeface="Calibri" pitchFamily="34" charset="-122"/>
                <a:cs typeface="Calibri" pitchFamily="34" charset="-120"/>
              </a:rPr>
              <a:t>Many years ago </a:t>
            </a:r>
            <a:pPr indent="0" marL="0">
              <a:lnSpc>
                <a:spcPct val="115000"/>
              </a:lnSpc>
              <a:buNone/>
            </a:pPr>
            <a:r>
              <a:rPr lang="en-US" sz="2200" b="1" dirty="0">
                <a:solidFill>
                  <a:srgbClr val="2C5F2D"/>
                </a:solidFill>
                <a:latin typeface="Calibri" pitchFamily="34" charset="0"/>
                <a:ea typeface="Calibri" pitchFamily="34" charset="-122"/>
                <a:cs typeface="Calibri" pitchFamily="34" charset="-120"/>
              </a:rPr>
              <a:t>one of the leading contributors to this book</a:t>
            </a:r>
            <a:pPr indent="0" marL="0">
              <a:lnSpc>
                <a:spcPct val="115000"/>
              </a:lnSpc>
              <a:buNone/>
            </a:pPr>
            <a:r>
              <a:rPr lang="en-US" sz="2200" dirty="0">
                <a:solidFill>
                  <a:srgbClr val="1B2A41"/>
                </a:solidFill>
                <a:latin typeface="Calibri" pitchFamily="34" charset="0"/>
                <a:ea typeface="Calibri" pitchFamily="34" charset="-122"/>
                <a:cs typeface="Calibri" pitchFamily="34" charset="-120"/>
              </a:rPr>
              <a:t> came under our care in </a:t>
            </a:r>
            <a:pPr indent="0" marL="0">
              <a:lnSpc>
                <a:spcPct val="115000"/>
              </a:lnSpc>
              <a:buNone/>
            </a:pPr>
            <a:r>
              <a:rPr lang="en-US" sz="2200" b="1" dirty="0">
                <a:solidFill>
                  <a:srgbClr val="2C5F2D"/>
                </a:solidFill>
                <a:latin typeface="Calibri" pitchFamily="34" charset="0"/>
                <a:ea typeface="Calibri" pitchFamily="34" charset="-122"/>
                <a:cs typeface="Calibri" pitchFamily="34" charset="-120"/>
              </a:rPr>
              <a:t>this hospital</a:t>
            </a:r>
            <a:pPr indent="0" marL="0">
              <a:lnSpc>
                <a:spcPct val="115000"/>
              </a:lnSpc>
              <a:buNone/>
            </a:pPr>
            <a:r>
              <a:rPr lang="en-US" sz="2200" dirty="0">
                <a:solidFill>
                  <a:srgbClr val="1B2A41"/>
                </a:solidFill>
                <a:latin typeface="Calibri" pitchFamily="34" charset="0"/>
                <a:ea typeface="Calibri" pitchFamily="34" charset="-122"/>
                <a:cs typeface="Calibri" pitchFamily="34" charset="-120"/>
              </a:rPr>
              <a:t> and while here </a:t>
            </a:r>
            <a:pPr indent="0" marL="0">
              <a:lnSpc>
                <a:spcPct val="115000"/>
              </a:lnSpc>
              <a:buNone/>
            </a:pPr>
            <a:r>
              <a:rPr lang="en-US" sz="2200" b="1" dirty="0">
                <a:solidFill>
                  <a:srgbClr val="2C5F2D"/>
                </a:solidFill>
                <a:latin typeface="Calibri" pitchFamily="34" charset="0"/>
                <a:ea typeface="Calibri" pitchFamily="34" charset="-122"/>
                <a:cs typeface="Calibri" pitchFamily="34" charset="-120"/>
              </a:rPr>
              <a:t>he</a:t>
            </a:r>
            <a:pPr indent="0" marL="0">
              <a:lnSpc>
                <a:spcPct val="115000"/>
              </a:lnSpc>
              <a:buNone/>
            </a:pPr>
            <a:r>
              <a:rPr lang="en-US" sz="2200" dirty="0">
                <a:solidFill>
                  <a:srgbClr val="1B2A41"/>
                </a:solidFill>
                <a:latin typeface="Calibri" pitchFamily="34" charset="0"/>
                <a:ea typeface="Calibri" pitchFamily="34" charset="-122"/>
                <a:cs typeface="Calibri" pitchFamily="34" charset="-120"/>
              </a:rPr>
              <a:t> acquired some ideas which he put into practical application at once.</a:t>
            </a:r>
            <a:endParaRPr lang="en-US" sz="2200" dirty="0"/>
          </a:p>
        </p:txBody>
      </p:sp>
      <p:sp>
        <p:nvSpPr>
          <p:cNvPr id="8" name="Shape 6"/>
          <p:cNvSpPr/>
          <p:nvPr/>
        </p:nvSpPr>
        <p:spPr>
          <a:xfrm>
            <a:off x="548640" y="3566160"/>
            <a:ext cx="5440680" cy="1554480"/>
          </a:xfrm>
          <a:prstGeom prst="roundRect">
            <a:avLst>
              <a:gd name="adj" fmla="val 4706"/>
            </a:avLst>
          </a:prstGeom>
          <a:solidFill>
            <a:srgbClr val="1B2A41"/>
          </a:solidFill>
          <a:ln/>
        </p:spPr>
      </p:sp>
      <p:sp>
        <p:nvSpPr>
          <p:cNvPr id="9" name="Text 7"/>
          <p:cNvSpPr/>
          <p:nvPr/>
        </p:nvSpPr>
        <p:spPr>
          <a:xfrm>
            <a:off x="914400" y="3703320"/>
            <a:ext cx="4709160"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THIS HOSPITAL</a:t>
            </a:r>
            <a:endParaRPr lang="en-US" sz="1100" dirty="0"/>
          </a:p>
        </p:txBody>
      </p:sp>
      <p:sp>
        <p:nvSpPr>
          <p:cNvPr id="10" name="Text 8"/>
          <p:cNvSpPr/>
          <p:nvPr/>
        </p:nvSpPr>
        <p:spPr>
          <a:xfrm>
            <a:off x="914400" y="3977640"/>
            <a:ext cx="470916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Charles B. Towns Hospital</a:t>
            </a:r>
            <a:endParaRPr lang="en-US" sz="2400" dirty="0"/>
          </a:p>
        </p:txBody>
      </p:sp>
      <p:sp>
        <p:nvSpPr>
          <p:cNvPr id="11" name="Text 9"/>
          <p:cNvSpPr/>
          <p:nvPr/>
        </p:nvSpPr>
        <p:spPr>
          <a:xfrm>
            <a:off x="914400" y="4480560"/>
            <a:ext cx="4709160" cy="502920"/>
          </a:xfrm>
          <a:prstGeom prst="rect">
            <a:avLst/>
          </a:prstGeom>
          <a:noFill/>
          <a:ln/>
        </p:spPr>
        <p:txBody>
          <a:bodyPr wrap="square" lIns="0" tIns="0" rIns="0" bIns="0" rtlCol="0" anchor="t"/>
          <a:lstStyle/>
          <a:p>
            <a:pPr indent="0" marL="0">
              <a:lnSpc>
                <a:spcPct val="115000"/>
              </a:lnSpc>
              <a:buNone/>
            </a:pPr>
            <a:r>
              <a:rPr lang="en-US" sz="1400" dirty="0">
                <a:solidFill>
                  <a:srgbClr val="A9B8CC"/>
                </a:solidFill>
                <a:latin typeface="Calibri" pitchFamily="34" charset="0"/>
                <a:ea typeface="Calibri" pitchFamily="34" charset="-122"/>
                <a:cs typeface="Calibri" pitchFamily="34" charset="-120"/>
              </a:rPr>
              <a:t>293 Central Park West, New York City.</a:t>
            </a:r>
            <a:endParaRPr lang="en-US" sz="1400" dirty="0"/>
          </a:p>
        </p:txBody>
      </p:sp>
      <p:sp>
        <p:nvSpPr>
          <p:cNvPr id="12" name="Shape 10"/>
          <p:cNvSpPr/>
          <p:nvPr/>
        </p:nvSpPr>
        <p:spPr>
          <a:xfrm>
            <a:off x="6199632" y="3566160"/>
            <a:ext cx="5440680" cy="1554480"/>
          </a:xfrm>
          <a:prstGeom prst="roundRect">
            <a:avLst>
              <a:gd name="adj" fmla="val 4706"/>
            </a:avLst>
          </a:prstGeom>
          <a:solidFill>
            <a:srgbClr val="1B2A41"/>
          </a:solidFill>
          <a:ln/>
        </p:spPr>
      </p:sp>
      <p:sp>
        <p:nvSpPr>
          <p:cNvPr id="13" name="Text 11"/>
          <p:cNvSpPr/>
          <p:nvPr/>
        </p:nvSpPr>
        <p:spPr>
          <a:xfrm>
            <a:off x="6565392" y="3703320"/>
            <a:ext cx="4709160"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HE</a:t>
            </a:r>
            <a:endParaRPr lang="en-US" sz="1100" dirty="0"/>
          </a:p>
        </p:txBody>
      </p:sp>
      <p:sp>
        <p:nvSpPr>
          <p:cNvPr id="14" name="Text 12"/>
          <p:cNvSpPr/>
          <p:nvPr/>
        </p:nvSpPr>
        <p:spPr>
          <a:xfrm>
            <a:off x="6565392" y="3977640"/>
            <a:ext cx="470916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Bill W.</a:t>
            </a:r>
            <a:endParaRPr lang="en-US" sz="2400" dirty="0"/>
          </a:p>
        </p:txBody>
      </p:sp>
      <p:sp>
        <p:nvSpPr>
          <p:cNvPr id="15" name="Text 13"/>
          <p:cNvSpPr/>
          <p:nvPr/>
        </p:nvSpPr>
        <p:spPr>
          <a:xfrm>
            <a:off x="6565392" y="4480560"/>
            <a:ext cx="4709160" cy="502920"/>
          </a:xfrm>
          <a:prstGeom prst="rect">
            <a:avLst/>
          </a:prstGeom>
          <a:noFill/>
          <a:ln/>
        </p:spPr>
        <p:txBody>
          <a:bodyPr wrap="square" lIns="0" tIns="0" rIns="0" bIns="0" rtlCol="0" anchor="t"/>
          <a:lstStyle/>
          <a:p>
            <a:pPr indent="0" marL="0">
              <a:lnSpc>
                <a:spcPct val="115000"/>
              </a:lnSpc>
              <a:buNone/>
            </a:pPr>
            <a:r>
              <a:rPr lang="en-US" sz="1400" dirty="0">
                <a:solidFill>
                  <a:srgbClr val="A9B8CC"/>
                </a:solidFill>
                <a:latin typeface="Calibri" pitchFamily="34" charset="0"/>
                <a:ea typeface="Calibri" pitchFamily="34" charset="-122"/>
                <a:cs typeface="Calibri" pitchFamily="34" charset="-120"/>
              </a:rPr>
              <a:t>Admitted four times, 1933–34. Last drink 11 December 1934.</a:t>
            </a:r>
            <a:endParaRPr lang="en-US" sz="1400" dirty="0"/>
          </a:p>
        </p:txBody>
      </p:sp>
      <p:sp>
        <p:nvSpPr>
          <p:cNvPr id="16" name="Text 14"/>
          <p:cNvSpPr/>
          <p:nvPr/>
        </p:nvSpPr>
        <p:spPr>
          <a:xfrm>
            <a:off x="548640" y="530352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“The Doctor’s Opinion,” p. xxiii.</a:t>
            </a:r>
            <a:endParaRPr lang="en-US" sz="1200" dirty="0"/>
          </a:p>
        </p:txBody>
      </p:sp>
      <p:sp>
        <p:nvSpPr>
          <p:cNvPr id="17" name="Text 15"/>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The Phenomenon of Craving</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A manifestation of an allergy.</a:t>
            </a:r>
            <a:endParaRPr lang="en-US" sz="1700" dirty="0"/>
          </a:p>
        </p:txBody>
      </p:sp>
      <p:sp>
        <p:nvSpPr>
          <p:cNvPr id="4" name="Shape 2"/>
          <p:cNvSpPr/>
          <p:nvPr/>
        </p:nvSpPr>
        <p:spPr>
          <a:xfrm>
            <a:off x="8869680" y="320040"/>
            <a:ext cx="2770632" cy="960120"/>
          </a:xfrm>
          <a:prstGeom prst="roundRect">
            <a:avLst>
              <a:gd name="adj" fmla="val 9524"/>
            </a:avLst>
          </a:prstGeom>
          <a:solidFill>
            <a:srgbClr val="2C5F2D"/>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THE BIG BOOK</a:t>
            </a:r>
            <a:endParaRPr lang="en-US" sz="1700" dirty="0"/>
          </a:p>
          <a:p>
            <a:pPr algn="ctr" indent="0" marL="0">
              <a:buNone/>
            </a:pPr>
            <a:r>
              <a:rPr lang="en-US" sz="1300" dirty="0">
                <a:solidFill>
                  <a:srgbClr val="D5E3CE"/>
                </a:solidFill>
                <a:latin typeface="Calibri" pitchFamily="34" charset="0"/>
                <a:ea typeface="Calibri" pitchFamily="34" charset="-122"/>
                <a:cs typeface="Calibri" pitchFamily="34" charset="-120"/>
              </a:rPr>
              <a:t>p. xxiv</a:t>
            </a:r>
            <a:endParaRPr lang="en-US" sz="1700" dirty="0"/>
          </a:p>
        </p:txBody>
      </p:sp>
      <p:sp>
        <p:nvSpPr>
          <p:cNvPr id="6" name="Shape 4"/>
          <p:cNvSpPr/>
          <p:nvPr/>
        </p:nvSpPr>
        <p:spPr>
          <a:xfrm>
            <a:off x="548640" y="1417320"/>
            <a:ext cx="11091672" cy="1371600"/>
          </a:xfrm>
          <a:prstGeom prst="roundRect">
            <a:avLst>
              <a:gd name="adj" fmla="val 5333"/>
            </a:avLst>
          </a:prstGeom>
          <a:solidFill>
            <a:srgbClr val="EAF1E6"/>
          </a:solidFill>
          <a:ln/>
        </p:spPr>
      </p:sp>
      <p:sp>
        <p:nvSpPr>
          <p:cNvPr id="7" name="Text 5"/>
          <p:cNvSpPr/>
          <p:nvPr/>
        </p:nvSpPr>
        <p:spPr>
          <a:xfrm>
            <a:off x="914400" y="1417320"/>
            <a:ext cx="10360152" cy="137160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We believe, and so suggested a few years ago, that the action of alcohol on these chronic alcoholics is a manifestation of an allergy; that the </a:t>
            </a:r>
            <a:pPr indent="0" marL="0">
              <a:lnSpc>
                <a:spcPct val="115000"/>
              </a:lnSpc>
              <a:buNone/>
            </a:pPr>
            <a:r>
              <a:rPr lang="en-US" sz="1900" b="1" dirty="0">
                <a:solidFill>
                  <a:srgbClr val="2C5F2D"/>
                </a:solidFill>
                <a:latin typeface="Calibri" pitchFamily="34" charset="0"/>
                <a:ea typeface="Calibri" pitchFamily="34" charset="-122"/>
                <a:cs typeface="Calibri" pitchFamily="34" charset="-120"/>
              </a:rPr>
              <a:t>phenomenon of craving is limited to this class</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and never occurs in the average temperate drinker.</a:t>
            </a:r>
            <a:endParaRPr lang="en-US" sz="1900" dirty="0"/>
          </a:p>
        </p:txBody>
      </p:sp>
      <p:sp>
        <p:nvSpPr>
          <p:cNvPr id="8" name="Shape 6"/>
          <p:cNvSpPr/>
          <p:nvPr/>
        </p:nvSpPr>
        <p:spPr>
          <a:xfrm>
            <a:off x="548640" y="2971800"/>
            <a:ext cx="11091672" cy="1554480"/>
          </a:xfrm>
          <a:prstGeom prst="roundRect">
            <a:avLst>
              <a:gd name="adj" fmla="val 4706"/>
            </a:avLst>
          </a:prstGeom>
          <a:solidFill>
            <a:srgbClr val="E2EDF4"/>
          </a:solidFill>
          <a:ln/>
        </p:spPr>
      </p:sp>
      <p:sp>
        <p:nvSpPr>
          <p:cNvPr id="9" name="Text 7"/>
          <p:cNvSpPr/>
          <p:nvPr/>
        </p:nvSpPr>
        <p:spPr>
          <a:xfrm>
            <a:off x="914400" y="2971800"/>
            <a:ext cx="10360152" cy="155448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These allergic types can </a:t>
            </a:r>
            <a:pPr indent="0" marL="0">
              <a:lnSpc>
                <a:spcPct val="115000"/>
              </a:lnSpc>
              <a:buNone/>
            </a:pPr>
            <a:r>
              <a:rPr lang="en-US" sz="1900" b="1" dirty="0">
                <a:solidFill>
                  <a:srgbClr val="065A82"/>
                </a:solidFill>
                <a:latin typeface="Calibri" pitchFamily="34" charset="0"/>
                <a:ea typeface="Calibri" pitchFamily="34" charset="-122"/>
                <a:cs typeface="Calibri" pitchFamily="34" charset="-120"/>
              </a:rPr>
              <a:t>never safely use alcohol in any form at all</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and once having formed the habit and found they cannot break it, once having lost their self-confidence, their reliance upon things human, their problems pile up on them and become astonishingly difficult to solve.</a:t>
            </a:r>
            <a:endParaRPr lang="en-US" sz="1900" dirty="0"/>
          </a:p>
        </p:txBody>
      </p:sp>
      <p:sp>
        <p:nvSpPr>
          <p:cNvPr id="10" name="Shape 8"/>
          <p:cNvSpPr/>
          <p:nvPr/>
        </p:nvSpPr>
        <p:spPr>
          <a:xfrm>
            <a:off x="548640" y="4754880"/>
            <a:ext cx="11091672" cy="868680"/>
          </a:xfrm>
          <a:prstGeom prst="roundRect">
            <a:avLst>
              <a:gd name="adj" fmla="val 8421"/>
            </a:avLst>
          </a:prstGeom>
          <a:solidFill>
            <a:srgbClr val="1B2A41"/>
          </a:solidFill>
          <a:ln/>
        </p:spPr>
      </p:sp>
      <p:sp>
        <p:nvSpPr>
          <p:cNvPr id="11" name="Text 9"/>
          <p:cNvSpPr/>
          <p:nvPr/>
        </p:nvSpPr>
        <p:spPr>
          <a:xfrm>
            <a:off x="914400" y="4873752"/>
            <a:ext cx="10360152"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MARGIN NOTE</a:t>
            </a:r>
            <a:endParaRPr lang="en-US" sz="1100" dirty="0"/>
          </a:p>
        </p:txBody>
      </p:sp>
      <p:sp>
        <p:nvSpPr>
          <p:cNvPr id="12" name="Text 10"/>
          <p:cNvSpPr/>
          <p:nvPr/>
        </p:nvSpPr>
        <p:spPr>
          <a:xfrm>
            <a:off x="914400" y="5148072"/>
            <a:ext cx="10360152" cy="35661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Crave = physical, in this book.</a:t>
            </a:r>
            <a:endParaRPr lang="en-US" sz="2200" dirty="0"/>
          </a:p>
        </p:txBody>
      </p:sp>
      <p:sp>
        <p:nvSpPr>
          <p:cNvPr id="13" name="Text 11"/>
          <p:cNvSpPr/>
          <p:nvPr/>
        </p:nvSpPr>
        <p:spPr>
          <a:xfrm>
            <a:off x="548640" y="580644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“The Doctor’s Opinion,” p. xxiv.</a:t>
            </a:r>
            <a:endParaRPr lang="en-US" sz="1200" dirty="0"/>
          </a:p>
        </p:txBody>
      </p:sp>
      <p:sp>
        <p:nvSpPr>
          <p:cNvPr id="14" name="Text 12"/>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Frothy Emotional Appeal</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Seldom suffices.</a:t>
            </a:r>
            <a:endParaRPr lang="en-US" sz="1700" dirty="0"/>
          </a:p>
        </p:txBody>
      </p:sp>
      <p:sp>
        <p:nvSpPr>
          <p:cNvPr id="4" name="Shape 2"/>
          <p:cNvSpPr/>
          <p:nvPr/>
        </p:nvSpPr>
        <p:spPr>
          <a:xfrm>
            <a:off x="8869680" y="320040"/>
            <a:ext cx="2770632" cy="960120"/>
          </a:xfrm>
          <a:prstGeom prst="roundRect">
            <a:avLst>
              <a:gd name="adj" fmla="val 9524"/>
            </a:avLst>
          </a:prstGeom>
          <a:solidFill>
            <a:srgbClr val="9E1B60"/>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THE “MUSTS”</a:t>
            </a:r>
            <a:endParaRPr lang="en-US" sz="1700" dirty="0"/>
          </a:p>
          <a:p>
            <a:pPr algn="ctr" indent="0" marL="0">
              <a:buNone/>
            </a:pPr>
            <a:r>
              <a:rPr lang="en-US" sz="1300" dirty="0">
                <a:solidFill>
                  <a:srgbClr val="F7D9E8"/>
                </a:solidFill>
                <a:latin typeface="Calibri" pitchFamily="34" charset="0"/>
                <a:ea typeface="Calibri" pitchFamily="34" charset="-122"/>
                <a:cs typeface="Calibri" pitchFamily="34" charset="-120"/>
              </a:rPr>
              <a:t>p. xxiv</a:t>
            </a:r>
            <a:endParaRPr lang="en-US" sz="1700" dirty="0"/>
          </a:p>
        </p:txBody>
      </p:sp>
      <p:sp>
        <p:nvSpPr>
          <p:cNvPr id="6" name="Shape 4"/>
          <p:cNvSpPr/>
          <p:nvPr/>
        </p:nvSpPr>
        <p:spPr>
          <a:xfrm>
            <a:off x="548640" y="1463040"/>
            <a:ext cx="11091672" cy="1737360"/>
          </a:xfrm>
          <a:prstGeom prst="roundRect">
            <a:avLst>
              <a:gd name="adj" fmla="val 4211"/>
            </a:avLst>
          </a:prstGeom>
          <a:solidFill>
            <a:srgbClr val="F9E3EE"/>
          </a:solidFill>
          <a:ln/>
        </p:spPr>
      </p:sp>
      <p:sp>
        <p:nvSpPr>
          <p:cNvPr id="7" name="Text 5"/>
          <p:cNvSpPr/>
          <p:nvPr/>
        </p:nvSpPr>
        <p:spPr>
          <a:xfrm>
            <a:off x="914400" y="1463040"/>
            <a:ext cx="10360152" cy="1737360"/>
          </a:xfrm>
          <a:prstGeom prst="rect">
            <a:avLst/>
          </a:prstGeom>
          <a:noFill/>
          <a:ln/>
        </p:spPr>
        <p:txBody>
          <a:bodyPr wrap="square" lIns="0" tIns="0" rIns="0" bIns="0" rtlCol="0" anchor="ctr"/>
          <a:lstStyle/>
          <a:p>
            <a:pPr indent="0" marL="0">
              <a:lnSpc>
                <a:spcPct val="115000"/>
              </a:lnSpc>
              <a:buNone/>
            </a:pPr>
            <a:r>
              <a:rPr lang="en-US" sz="2000" dirty="0">
                <a:solidFill>
                  <a:srgbClr val="1B2A41"/>
                </a:solidFill>
                <a:latin typeface="Calibri" pitchFamily="34" charset="0"/>
                <a:ea typeface="Calibri" pitchFamily="34" charset="-122"/>
                <a:cs typeface="Calibri" pitchFamily="34" charset="-120"/>
              </a:rPr>
              <a:t>Frothy emotional appeal seldom suffices. The message which can interest and hold these alcoholic people </a:t>
            </a:r>
            <a:pPr indent="0" marL="0">
              <a:lnSpc>
                <a:spcPct val="115000"/>
              </a:lnSpc>
              <a:buNone/>
            </a:pPr>
            <a:r>
              <a:rPr lang="en-US" sz="2000" b="1" dirty="0">
                <a:solidFill>
                  <a:srgbClr val="9E1B60"/>
                </a:solidFill>
                <a:latin typeface="Calibri" pitchFamily="34" charset="0"/>
                <a:ea typeface="Calibri" pitchFamily="34" charset="-122"/>
                <a:cs typeface="Calibri" pitchFamily="34" charset="-120"/>
              </a:rPr>
              <a:t>must have depth and weight</a:t>
            </a:r>
            <a:pPr indent="0" marL="0">
              <a:lnSpc>
                <a:spcPct val="115000"/>
              </a:lnSpc>
              <a:buNone/>
            </a:pPr>
            <a:r>
              <a:rPr lang="en-US" sz="2000" dirty="0">
                <a:solidFill>
                  <a:srgbClr val="1B2A41"/>
                </a:solidFill>
                <a:latin typeface="Calibri" pitchFamily="34" charset="0"/>
                <a:ea typeface="Calibri" pitchFamily="34" charset="-122"/>
                <a:cs typeface="Calibri" pitchFamily="34" charset="-120"/>
              </a:rPr>
              <a:t>. In nearly all cases, their ideals </a:t>
            </a:r>
            <a:pPr indent="0" marL="0">
              <a:lnSpc>
                <a:spcPct val="115000"/>
              </a:lnSpc>
              <a:buNone/>
            </a:pPr>
            <a:r>
              <a:rPr lang="en-US" sz="2000" b="1" dirty="0">
                <a:solidFill>
                  <a:srgbClr val="9E1B60"/>
                </a:solidFill>
                <a:latin typeface="Calibri" pitchFamily="34" charset="0"/>
                <a:ea typeface="Calibri" pitchFamily="34" charset="-122"/>
                <a:cs typeface="Calibri" pitchFamily="34" charset="-120"/>
              </a:rPr>
              <a:t>must be grounded in a power greater than themselves</a:t>
            </a:r>
            <a:pPr indent="0" marL="0">
              <a:lnSpc>
                <a:spcPct val="115000"/>
              </a:lnSpc>
              <a:buNone/>
            </a:pPr>
            <a:r>
              <a:rPr lang="en-US" sz="2000" dirty="0">
                <a:solidFill>
                  <a:srgbClr val="1B2A41"/>
                </a:solidFill>
                <a:latin typeface="Calibri" pitchFamily="34" charset="0"/>
                <a:ea typeface="Calibri" pitchFamily="34" charset="-122"/>
                <a:cs typeface="Calibri" pitchFamily="34" charset="-120"/>
              </a:rPr>
              <a:t>, if they are to re-create their lives.</a:t>
            </a:r>
            <a:endParaRPr lang="en-US" sz="2000" dirty="0"/>
          </a:p>
        </p:txBody>
      </p:sp>
      <p:sp>
        <p:nvSpPr>
          <p:cNvPr id="8" name="Shape 6"/>
          <p:cNvSpPr/>
          <p:nvPr/>
        </p:nvSpPr>
        <p:spPr>
          <a:xfrm>
            <a:off x="548640" y="3474720"/>
            <a:ext cx="11091672" cy="1371600"/>
          </a:xfrm>
          <a:prstGeom prst="roundRect">
            <a:avLst>
              <a:gd name="adj" fmla="val 5333"/>
            </a:avLst>
          </a:prstGeom>
          <a:solidFill>
            <a:srgbClr val="9E1B60"/>
          </a:solidFill>
          <a:ln/>
        </p:spPr>
      </p:sp>
      <p:sp>
        <p:nvSpPr>
          <p:cNvPr id="9" name="Text 7"/>
          <p:cNvSpPr/>
          <p:nvPr/>
        </p:nvSpPr>
        <p:spPr>
          <a:xfrm>
            <a:off x="914400" y="3611880"/>
            <a:ext cx="10360152" cy="256032"/>
          </a:xfrm>
          <a:prstGeom prst="rect">
            <a:avLst/>
          </a:prstGeom>
          <a:noFill/>
          <a:ln/>
        </p:spPr>
        <p:txBody>
          <a:bodyPr wrap="square" lIns="0" tIns="0" rIns="0" bIns="0" rtlCol="0" anchor="ctr"/>
          <a:lstStyle/>
          <a:p>
            <a:pPr indent="0" marL="0">
              <a:buNone/>
            </a:pPr>
            <a:r>
              <a:rPr lang="en-US" sz="1100" b="1" spc="200" kern="0" dirty="0">
                <a:solidFill>
                  <a:srgbClr val="F7D9E8"/>
                </a:solidFill>
                <a:latin typeface="Calibri" pitchFamily="34" charset="0"/>
                <a:ea typeface="Calibri" pitchFamily="34" charset="-122"/>
                <a:cs typeface="Calibri" pitchFamily="34" charset="-120"/>
              </a:rPr>
              <a:t>A “MUST”</a:t>
            </a:r>
            <a:endParaRPr lang="en-US" sz="1100" dirty="0"/>
          </a:p>
        </p:txBody>
      </p:sp>
      <p:sp>
        <p:nvSpPr>
          <p:cNvPr id="10" name="Text 8"/>
          <p:cNvSpPr/>
          <p:nvPr/>
        </p:nvSpPr>
        <p:spPr>
          <a:xfrm>
            <a:off x="914400" y="3886200"/>
            <a:ext cx="10360152" cy="7772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…their ideals must be grounded in a power greater than themselves.</a:t>
            </a:r>
            <a:endParaRPr lang="en-US" sz="2400" dirty="0"/>
          </a:p>
        </p:txBody>
      </p:sp>
      <p:sp>
        <p:nvSpPr>
          <p:cNvPr id="11" name="Text 9"/>
          <p:cNvSpPr/>
          <p:nvPr/>
        </p:nvSpPr>
        <p:spPr>
          <a:xfrm>
            <a:off x="548640" y="507492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“The Doctor’s Opinion,” p. xxiv.</a:t>
            </a:r>
            <a:endParaRPr lang="en-US" sz="1200" dirty="0"/>
          </a:p>
        </p:txBody>
      </p:sp>
      <p:sp>
        <p:nvSpPr>
          <p:cNvPr id="12" name="Text 10"/>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The Effect Produced by Alcohol</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Restless, irritable and discontented.</a:t>
            </a:r>
            <a:endParaRPr lang="en-US" sz="1700" dirty="0"/>
          </a:p>
        </p:txBody>
      </p:sp>
      <p:sp>
        <p:nvSpPr>
          <p:cNvPr id="4" name="Shape 2"/>
          <p:cNvSpPr/>
          <p:nvPr/>
        </p:nvSpPr>
        <p:spPr>
          <a:xfrm>
            <a:off x="8869680" y="320040"/>
            <a:ext cx="2770632" cy="960120"/>
          </a:xfrm>
          <a:prstGeom prst="roundRect">
            <a:avLst>
              <a:gd name="adj" fmla="val 9524"/>
            </a:avLst>
          </a:prstGeom>
          <a:solidFill>
            <a:srgbClr val="2C5F2D"/>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THE BIG BOOK</a:t>
            </a:r>
            <a:endParaRPr lang="en-US" sz="1700" dirty="0"/>
          </a:p>
          <a:p>
            <a:pPr algn="ctr" indent="0" marL="0">
              <a:buNone/>
            </a:pPr>
            <a:r>
              <a:rPr lang="en-US" sz="1300" dirty="0">
                <a:solidFill>
                  <a:srgbClr val="D5E3CE"/>
                </a:solidFill>
                <a:latin typeface="Calibri" pitchFamily="34" charset="0"/>
                <a:ea typeface="Calibri" pitchFamily="34" charset="-122"/>
                <a:cs typeface="Calibri" pitchFamily="34" charset="-120"/>
              </a:rPr>
              <a:t>pp. xxiv–xxv</a:t>
            </a:r>
            <a:endParaRPr lang="en-US" sz="1700" dirty="0"/>
          </a:p>
        </p:txBody>
      </p:sp>
      <p:sp>
        <p:nvSpPr>
          <p:cNvPr id="6" name="Shape 4"/>
          <p:cNvSpPr/>
          <p:nvPr/>
        </p:nvSpPr>
        <p:spPr>
          <a:xfrm>
            <a:off x="548640" y="1463040"/>
            <a:ext cx="11091672" cy="1417320"/>
          </a:xfrm>
          <a:prstGeom prst="roundRect">
            <a:avLst>
              <a:gd name="adj" fmla="val 5161"/>
            </a:avLst>
          </a:prstGeom>
          <a:solidFill>
            <a:srgbClr val="EAF1E6"/>
          </a:solidFill>
          <a:ln/>
        </p:spPr>
      </p:sp>
      <p:sp>
        <p:nvSpPr>
          <p:cNvPr id="7" name="Text 5"/>
          <p:cNvSpPr/>
          <p:nvPr/>
        </p:nvSpPr>
        <p:spPr>
          <a:xfrm>
            <a:off x="914400" y="1463040"/>
            <a:ext cx="10360152" cy="1417320"/>
          </a:xfrm>
          <a:prstGeom prst="rect">
            <a:avLst/>
          </a:prstGeom>
          <a:noFill/>
          <a:ln/>
        </p:spPr>
        <p:txBody>
          <a:bodyPr wrap="square" lIns="0" tIns="0" rIns="0" bIns="0" rtlCol="0" anchor="ctr"/>
          <a:lstStyle/>
          <a:p>
            <a:pPr indent="0" marL="0">
              <a:lnSpc>
                <a:spcPct val="115000"/>
              </a:lnSpc>
              <a:buNone/>
            </a:pPr>
            <a:r>
              <a:rPr lang="en-US" sz="2000" dirty="0">
                <a:solidFill>
                  <a:srgbClr val="1B2A41"/>
                </a:solidFill>
                <a:latin typeface="Calibri" pitchFamily="34" charset="0"/>
                <a:ea typeface="Calibri" pitchFamily="34" charset="-122"/>
                <a:cs typeface="Calibri" pitchFamily="34" charset="-120"/>
              </a:rPr>
              <a:t>Men and women drink essentially because they </a:t>
            </a:r>
            <a:pPr indent="0" marL="0">
              <a:lnSpc>
                <a:spcPct val="115000"/>
              </a:lnSpc>
              <a:buNone/>
            </a:pPr>
            <a:r>
              <a:rPr lang="en-US" sz="2000" b="1" dirty="0">
                <a:solidFill>
                  <a:srgbClr val="2C5F2D"/>
                </a:solidFill>
                <a:latin typeface="Calibri" pitchFamily="34" charset="0"/>
                <a:ea typeface="Calibri" pitchFamily="34" charset="-122"/>
                <a:cs typeface="Calibri" pitchFamily="34" charset="-120"/>
              </a:rPr>
              <a:t>like the effect produced by alcohol</a:t>
            </a:r>
            <a:pPr indent="0" marL="0">
              <a:lnSpc>
                <a:spcPct val="115000"/>
              </a:lnSpc>
              <a:buNone/>
            </a:pPr>
            <a:r>
              <a:rPr lang="en-US" sz="2000" dirty="0">
                <a:solidFill>
                  <a:srgbClr val="1B2A41"/>
                </a:solidFill>
                <a:latin typeface="Calibri" pitchFamily="34" charset="0"/>
                <a:ea typeface="Calibri" pitchFamily="34" charset="-122"/>
                <a:cs typeface="Calibri" pitchFamily="34" charset="-120"/>
              </a:rPr>
              <a:t>. The sensation is so elusive that, while they admit it is injurious, they cannot after a time differentiate the true from the false.</a:t>
            </a:r>
            <a:endParaRPr lang="en-US" sz="2000" dirty="0"/>
          </a:p>
        </p:txBody>
      </p:sp>
      <p:sp>
        <p:nvSpPr>
          <p:cNvPr id="8" name="Shape 6"/>
          <p:cNvSpPr/>
          <p:nvPr/>
        </p:nvSpPr>
        <p:spPr>
          <a:xfrm>
            <a:off x="548640" y="3063240"/>
            <a:ext cx="11091672" cy="1783080"/>
          </a:xfrm>
          <a:prstGeom prst="roundRect">
            <a:avLst>
              <a:gd name="adj" fmla="val 4103"/>
            </a:avLst>
          </a:prstGeom>
          <a:solidFill>
            <a:srgbClr val="E2EDF4"/>
          </a:solidFill>
          <a:ln/>
        </p:spPr>
      </p:sp>
      <p:sp>
        <p:nvSpPr>
          <p:cNvPr id="9" name="Text 7"/>
          <p:cNvSpPr/>
          <p:nvPr/>
        </p:nvSpPr>
        <p:spPr>
          <a:xfrm>
            <a:off x="914400" y="3063240"/>
            <a:ext cx="10360152" cy="1783080"/>
          </a:xfrm>
          <a:prstGeom prst="rect">
            <a:avLst/>
          </a:prstGeom>
          <a:noFill/>
          <a:ln/>
        </p:spPr>
        <p:txBody>
          <a:bodyPr wrap="square" lIns="0" tIns="0" rIns="0" bIns="0" rtlCol="0" anchor="ctr"/>
          <a:lstStyle/>
          <a:p>
            <a:pPr indent="0" marL="0">
              <a:lnSpc>
                <a:spcPct val="115000"/>
              </a:lnSpc>
              <a:buNone/>
            </a:pPr>
            <a:r>
              <a:rPr lang="en-US" sz="2000" dirty="0">
                <a:solidFill>
                  <a:srgbClr val="1B2A41"/>
                </a:solidFill>
                <a:latin typeface="Calibri" pitchFamily="34" charset="0"/>
                <a:ea typeface="Calibri" pitchFamily="34" charset="-122"/>
                <a:cs typeface="Calibri" pitchFamily="34" charset="-120"/>
              </a:rPr>
              <a:t>To them, their alcoholic life seems the only normal one. They are </a:t>
            </a:r>
            <a:pPr indent="0" marL="0">
              <a:lnSpc>
                <a:spcPct val="115000"/>
              </a:lnSpc>
              <a:buNone/>
            </a:pPr>
            <a:r>
              <a:rPr lang="en-US" sz="2000" b="1" dirty="0">
                <a:solidFill>
                  <a:srgbClr val="065A82"/>
                </a:solidFill>
                <a:latin typeface="Calibri" pitchFamily="34" charset="0"/>
                <a:ea typeface="Calibri" pitchFamily="34" charset="-122"/>
                <a:cs typeface="Calibri" pitchFamily="34" charset="-120"/>
              </a:rPr>
              <a:t>restless, irritable and discontented</a:t>
            </a:r>
            <a:pPr indent="0" marL="0">
              <a:lnSpc>
                <a:spcPct val="115000"/>
              </a:lnSpc>
              <a:buNone/>
            </a:pPr>
            <a:r>
              <a:rPr lang="en-US" sz="2000" dirty="0">
                <a:solidFill>
                  <a:srgbClr val="1B2A41"/>
                </a:solidFill>
                <a:latin typeface="Calibri" pitchFamily="34" charset="0"/>
                <a:ea typeface="Calibri" pitchFamily="34" charset="-122"/>
                <a:cs typeface="Calibri" pitchFamily="34" charset="-120"/>
              </a:rPr>
              <a:t>, unless they can again experience the sense of ease and comfort which comes at once by taking a few drinks—drinks which they see others taking with impunity.</a:t>
            </a:r>
            <a:endParaRPr lang="en-US" sz="2000" dirty="0"/>
          </a:p>
        </p:txBody>
      </p:sp>
      <p:sp>
        <p:nvSpPr>
          <p:cNvPr id="10" name="Text 8"/>
          <p:cNvSpPr/>
          <p:nvPr/>
        </p:nvSpPr>
        <p:spPr>
          <a:xfrm>
            <a:off x="548640" y="512064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“The Doctor’s Opinion,” pp. xxiv–xxv.</a:t>
            </a:r>
            <a:endParaRPr lang="en-US" sz="1200" dirty="0"/>
          </a:p>
        </p:txBody>
      </p:sp>
      <p:sp>
        <p:nvSpPr>
          <p:cNvPr id="11" name="Text 9"/>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An Entire Psychic Change</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Or very little hope of recovery.</a:t>
            </a:r>
            <a:endParaRPr lang="en-US" sz="1700" dirty="0"/>
          </a:p>
        </p:txBody>
      </p:sp>
      <p:sp>
        <p:nvSpPr>
          <p:cNvPr id="4" name="Shape 2"/>
          <p:cNvSpPr/>
          <p:nvPr/>
        </p:nvSpPr>
        <p:spPr>
          <a:xfrm>
            <a:off x="8869680" y="320040"/>
            <a:ext cx="2770632" cy="960120"/>
          </a:xfrm>
          <a:prstGeom prst="roundRect">
            <a:avLst>
              <a:gd name="adj" fmla="val 9524"/>
            </a:avLst>
          </a:prstGeom>
          <a:solidFill>
            <a:srgbClr val="065A82"/>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THE BIG BOOK</a:t>
            </a:r>
            <a:endParaRPr lang="en-US" sz="1700" dirty="0"/>
          </a:p>
          <a:p>
            <a:pPr algn="ctr" indent="0" marL="0">
              <a:buNone/>
            </a:pPr>
            <a:r>
              <a:rPr lang="en-US" sz="1300" dirty="0">
                <a:solidFill>
                  <a:srgbClr val="C7DEEC"/>
                </a:solidFill>
                <a:latin typeface="Calibri" pitchFamily="34" charset="0"/>
                <a:ea typeface="Calibri" pitchFamily="34" charset="-122"/>
                <a:cs typeface="Calibri" pitchFamily="34" charset="-120"/>
              </a:rPr>
              <a:t>p. xxv</a:t>
            </a:r>
            <a:endParaRPr lang="en-US" sz="1700" dirty="0"/>
          </a:p>
        </p:txBody>
      </p:sp>
      <p:sp>
        <p:nvSpPr>
          <p:cNvPr id="6" name="Shape 4"/>
          <p:cNvSpPr/>
          <p:nvPr/>
        </p:nvSpPr>
        <p:spPr>
          <a:xfrm>
            <a:off x="548640" y="1554480"/>
            <a:ext cx="11091672" cy="2057400"/>
          </a:xfrm>
          <a:prstGeom prst="roundRect">
            <a:avLst>
              <a:gd name="adj" fmla="val 3556"/>
            </a:avLst>
          </a:prstGeom>
          <a:solidFill>
            <a:srgbClr val="E2EDF4"/>
          </a:solidFill>
          <a:ln/>
        </p:spPr>
      </p:sp>
      <p:sp>
        <p:nvSpPr>
          <p:cNvPr id="7" name="Text 5"/>
          <p:cNvSpPr/>
          <p:nvPr/>
        </p:nvSpPr>
        <p:spPr>
          <a:xfrm>
            <a:off x="914400" y="1554480"/>
            <a:ext cx="10360152" cy="2057400"/>
          </a:xfrm>
          <a:prstGeom prst="rect">
            <a:avLst/>
          </a:prstGeom>
          <a:noFill/>
          <a:ln/>
        </p:spPr>
        <p:txBody>
          <a:bodyPr wrap="square" lIns="0" tIns="0" rIns="0" bIns="0" rtlCol="0" anchor="ctr"/>
          <a:lstStyle/>
          <a:p>
            <a:pPr indent="0" marL="0">
              <a:lnSpc>
                <a:spcPct val="115000"/>
              </a:lnSpc>
              <a:buNone/>
            </a:pPr>
            <a:r>
              <a:rPr lang="en-US" sz="2000" dirty="0">
                <a:solidFill>
                  <a:srgbClr val="1B2A41"/>
                </a:solidFill>
                <a:latin typeface="Calibri" pitchFamily="34" charset="0"/>
                <a:ea typeface="Calibri" pitchFamily="34" charset="-122"/>
                <a:cs typeface="Calibri" pitchFamily="34" charset="-120"/>
              </a:rPr>
              <a:t>After they have succumbed to the desire again, as so many do, and the phenomenon of craving develops, they pass through the well-known stages of a spree, emerging remorseful, with a firm resolution not to drink again. This is repeated over and over, and unless this person can experience </a:t>
            </a:r>
            <a:pPr indent="0" marL="0">
              <a:lnSpc>
                <a:spcPct val="115000"/>
              </a:lnSpc>
              <a:buNone/>
            </a:pPr>
            <a:r>
              <a:rPr lang="en-US" sz="2000" b="1" dirty="0">
                <a:solidFill>
                  <a:srgbClr val="065A82"/>
                </a:solidFill>
                <a:latin typeface="Calibri" pitchFamily="34" charset="0"/>
                <a:ea typeface="Calibri" pitchFamily="34" charset="-122"/>
                <a:cs typeface="Calibri" pitchFamily="34" charset="-120"/>
              </a:rPr>
              <a:t>an entire psychic change</a:t>
            </a:r>
            <a:pPr indent="0" marL="0">
              <a:lnSpc>
                <a:spcPct val="115000"/>
              </a:lnSpc>
              <a:buNone/>
            </a:pPr>
            <a:r>
              <a:rPr lang="en-US" sz="2000" dirty="0">
                <a:solidFill>
                  <a:srgbClr val="1B2A41"/>
                </a:solidFill>
                <a:latin typeface="Calibri" pitchFamily="34" charset="0"/>
                <a:ea typeface="Calibri" pitchFamily="34" charset="-122"/>
                <a:cs typeface="Calibri" pitchFamily="34" charset="-120"/>
              </a:rPr>
              <a:t> there is very little hope of his recovery.</a:t>
            </a:r>
            <a:endParaRPr lang="en-US" sz="2000" dirty="0"/>
          </a:p>
        </p:txBody>
      </p:sp>
      <p:sp>
        <p:nvSpPr>
          <p:cNvPr id="8" name="Shape 6"/>
          <p:cNvSpPr/>
          <p:nvPr/>
        </p:nvSpPr>
        <p:spPr>
          <a:xfrm>
            <a:off x="548640" y="3886200"/>
            <a:ext cx="11091672" cy="960120"/>
          </a:xfrm>
          <a:prstGeom prst="roundRect">
            <a:avLst>
              <a:gd name="adj" fmla="val 7619"/>
            </a:avLst>
          </a:prstGeom>
          <a:solidFill>
            <a:srgbClr val="1B2A41"/>
          </a:solidFill>
          <a:ln/>
        </p:spPr>
      </p:sp>
      <p:sp>
        <p:nvSpPr>
          <p:cNvPr id="9" name="Text 7"/>
          <p:cNvSpPr/>
          <p:nvPr/>
        </p:nvSpPr>
        <p:spPr>
          <a:xfrm>
            <a:off x="914400" y="4005072"/>
            <a:ext cx="10360152"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MARGIN NOTE</a:t>
            </a:r>
            <a:endParaRPr lang="en-US" sz="1100" dirty="0"/>
          </a:p>
        </p:txBody>
      </p:sp>
      <p:sp>
        <p:nvSpPr>
          <p:cNvPr id="10" name="Text 8"/>
          <p:cNvSpPr/>
          <p:nvPr/>
        </p:nvSpPr>
        <p:spPr>
          <a:xfrm>
            <a:off x="914400" y="4279392"/>
            <a:ext cx="10360152" cy="44805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Psychic = thinking.</a:t>
            </a:r>
            <a:endParaRPr lang="en-US" sz="2200" dirty="0"/>
          </a:p>
        </p:txBody>
      </p:sp>
      <p:sp>
        <p:nvSpPr>
          <p:cNvPr id="11" name="Text 9"/>
          <p:cNvSpPr/>
          <p:nvPr/>
        </p:nvSpPr>
        <p:spPr>
          <a:xfrm>
            <a:off x="548640" y="502920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“The Doctor’s Opinion,” p. xxv.</a:t>
            </a:r>
            <a:endParaRPr lang="en-US" sz="1200" dirty="0"/>
          </a:p>
        </p:txBody>
      </p:sp>
      <p:sp>
        <p:nvSpPr>
          <p:cNvPr id="12" name="Text 10"/>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Doctor, I Cannot Go On Like This</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Where medicine runs out.</a:t>
            </a:r>
            <a:endParaRPr lang="en-US" sz="1700" dirty="0"/>
          </a:p>
        </p:txBody>
      </p:sp>
      <p:sp>
        <p:nvSpPr>
          <p:cNvPr id="4" name="Shape 2"/>
          <p:cNvSpPr/>
          <p:nvPr/>
        </p:nvSpPr>
        <p:spPr>
          <a:xfrm>
            <a:off x="8869680" y="320040"/>
            <a:ext cx="2770632" cy="960120"/>
          </a:xfrm>
          <a:prstGeom prst="roundRect">
            <a:avLst>
              <a:gd name="adj" fmla="val 9524"/>
            </a:avLst>
          </a:prstGeom>
          <a:solidFill>
            <a:srgbClr val="9E1B60"/>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THE “MUSTS”</a:t>
            </a:r>
            <a:endParaRPr lang="en-US" sz="1700" dirty="0"/>
          </a:p>
          <a:p>
            <a:pPr algn="ctr" indent="0" marL="0">
              <a:buNone/>
            </a:pPr>
            <a:r>
              <a:rPr lang="en-US" sz="1300" dirty="0">
                <a:solidFill>
                  <a:srgbClr val="F7D9E8"/>
                </a:solidFill>
                <a:latin typeface="Calibri" pitchFamily="34" charset="0"/>
                <a:ea typeface="Calibri" pitchFamily="34" charset="-122"/>
                <a:cs typeface="Calibri" pitchFamily="34" charset="-120"/>
              </a:rPr>
              <a:t>p. xxv</a:t>
            </a:r>
            <a:endParaRPr lang="en-US" sz="1700" dirty="0"/>
          </a:p>
        </p:txBody>
      </p:sp>
      <p:sp>
        <p:nvSpPr>
          <p:cNvPr id="6" name="Shape 4"/>
          <p:cNvSpPr/>
          <p:nvPr/>
        </p:nvSpPr>
        <p:spPr>
          <a:xfrm>
            <a:off x="548640" y="1463040"/>
            <a:ext cx="11091672" cy="1280160"/>
          </a:xfrm>
          <a:prstGeom prst="roundRect">
            <a:avLst>
              <a:gd name="adj" fmla="val 5714"/>
            </a:avLst>
          </a:prstGeom>
          <a:solidFill>
            <a:srgbClr val="F9E3EE"/>
          </a:solidFill>
          <a:ln/>
        </p:spPr>
      </p:sp>
      <p:sp>
        <p:nvSpPr>
          <p:cNvPr id="7" name="Shape 5"/>
          <p:cNvSpPr/>
          <p:nvPr/>
        </p:nvSpPr>
        <p:spPr>
          <a:xfrm>
            <a:off x="914400" y="1847088"/>
            <a:ext cx="512064" cy="512064"/>
          </a:xfrm>
          <a:prstGeom prst="ellipse">
            <a:avLst/>
          </a:prstGeom>
          <a:solidFill>
            <a:srgbClr val="9E1B60"/>
          </a:solidFill>
          <a:ln/>
        </p:spPr>
      </p:sp>
      <p:sp>
        <p:nvSpPr>
          <p:cNvPr id="8" name="Text 6"/>
          <p:cNvSpPr/>
          <p:nvPr/>
        </p:nvSpPr>
        <p:spPr>
          <a:xfrm>
            <a:off x="914400" y="184708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1691640" y="1463040"/>
            <a:ext cx="9601200" cy="128016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Men have cried out to me in sincere and despairing appeal: “Doctor, I cannot go on like this! I have everything to live for! </a:t>
            </a:r>
            <a:pPr indent="0" marL="0">
              <a:lnSpc>
                <a:spcPct val="115000"/>
              </a:lnSpc>
              <a:buNone/>
            </a:pPr>
            <a:r>
              <a:rPr lang="en-US" sz="1900" b="1" dirty="0">
                <a:solidFill>
                  <a:srgbClr val="9E1B60"/>
                </a:solidFill>
                <a:latin typeface="Calibri" pitchFamily="34" charset="0"/>
                <a:ea typeface="Calibri" pitchFamily="34" charset="-122"/>
                <a:cs typeface="Calibri" pitchFamily="34" charset="-120"/>
              </a:rPr>
              <a:t>I must stop, but I cannot!</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You must help me!”</a:t>
            </a:r>
            <a:endParaRPr lang="en-US" sz="1900" dirty="0"/>
          </a:p>
        </p:txBody>
      </p:sp>
      <p:sp>
        <p:nvSpPr>
          <p:cNvPr id="10" name="Shape 8"/>
          <p:cNvSpPr/>
          <p:nvPr/>
        </p:nvSpPr>
        <p:spPr>
          <a:xfrm>
            <a:off x="548640" y="2926080"/>
            <a:ext cx="11091672" cy="1097280"/>
          </a:xfrm>
          <a:prstGeom prst="roundRect">
            <a:avLst>
              <a:gd name="adj" fmla="val 6667"/>
            </a:avLst>
          </a:prstGeom>
          <a:solidFill>
            <a:srgbClr val="F9E3EE"/>
          </a:solidFill>
          <a:ln/>
        </p:spPr>
      </p:sp>
      <p:sp>
        <p:nvSpPr>
          <p:cNvPr id="11" name="Shape 9"/>
          <p:cNvSpPr/>
          <p:nvPr/>
        </p:nvSpPr>
        <p:spPr>
          <a:xfrm>
            <a:off x="914400" y="3218688"/>
            <a:ext cx="512064" cy="512064"/>
          </a:xfrm>
          <a:prstGeom prst="ellipse">
            <a:avLst/>
          </a:prstGeom>
          <a:solidFill>
            <a:srgbClr val="9E1B60"/>
          </a:solidFill>
          <a:ln/>
        </p:spPr>
      </p:sp>
      <p:sp>
        <p:nvSpPr>
          <p:cNvPr id="12" name="Text 10"/>
          <p:cNvSpPr/>
          <p:nvPr/>
        </p:nvSpPr>
        <p:spPr>
          <a:xfrm>
            <a:off x="914400" y="321868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1691640" y="2926080"/>
            <a:ext cx="9601200" cy="109728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Faced with this problem, if a doctor is honest with himself, </a:t>
            </a:r>
            <a:pPr indent="0" marL="0">
              <a:lnSpc>
                <a:spcPct val="115000"/>
              </a:lnSpc>
              <a:buNone/>
            </a:pPr>
            <a:r>
              <a:rPr lang="en-US" sz="1900" b="1" dirty="0">
                <a:solidFill>
                  <a:srgbClr val="9E1B60"/>
                </a:solidFill>
                <a:latin typeface="Calibri" pitchFamily="34" charset="0"/>
                <a:ea typeface="Calibri" pitchFamily="34" charset="-122"/>
                <a:cs typeface="Calibri" pitchFamily="34" charset="-120"/>
              </a:rPr>
              <a:t>he must sometimes feel his own inadequacy</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a:t>
            </a:r>
            <a:endParaRPr lang="en-US" sz="1900" dirty="0"/>
          </a:p>
        </p:txBody>
      </p:sp>
      <p:sp>
        <p:nvSpPr>
          <p:cNvPr id="14" name="Shape 12"/>
          <p:cNvSpPr/>
          <p:nvPr/>
        </p:nvSpPr>
        <p:spPr>
          <a:xfrm>
            <a:off x="548640" y="4206240"/>
            <a:ext cx="11091672" cy="1097280"/>
          </a:xfrm>
          <a:prstGeom prst="roundRect">
            <a:avLst>
              <a:gd name="adj" fmla="val 6667"/>
            </a:avLst>
          </a:prstGeom>
          <a:solidFill>
            <a:srgbClr val="F9E3EE"/>
          </a:solidFill>
          <a:ln/>
        </p:spPr>
      </p:sp>
      <p:sp>
        <p:nvSpPr>
          <p:cNvPr id="15" name="Shape 13"/>
          <p:cNvSpPr/>
          <p:nvPr/>
        </p:nvSpPr>
        <p:spPr>
          <a:xfrm>
            <a:off x="914400" y="4498848"/>
            <a:ext cx="512064" cy="512064"/>
          </a:xfrm>
          <a:prstGeom prst="ellipse">
            <a:avLst/>
          </a:prstGeom>
          <a:solidFill>
            <a:srgbClr val="9E1B60"/>
          </a:solidFill>
          <a:ln/>
        </p:spPr>
      </p:sp>
      <p:sp>
        <p:nvSpPr>
          <p:cNvPr id="16" name="Text 14"/>
          <p:cNvSpPr/>
          <p:nvPr/>
        </p:nvSpPr>
        <p:spPr>
          <a:xfrm>
            <a:off x="914400" y="449884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691640" y="4206240"/>
            <a:ext cx="9601200" cy="109728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a:t>
            </a:r>
            <a:pPr indent="0" marL="0">
              <a:lnSpc>
                <a:spcPct val="115000"/>
              </a:lnSpc>
              <a:buNone/>
            </a:pPr>
            <a:r>
              <a:rPr lang="en-US" sz="1900" b="1" dirty="0">
                <a:solidFill>
                  <a:srgbClr val="9E1B60"/>
                </a:solidFill>
                <a:latin typeface="Calibri" pitchFamily="34" charset="0"/>
                <a:ea typeface="Calibri" pitchFamily="34" charset="-122"/>
                <a:cs typeface="Calibri" pitchFamily="34" charset="-120"/>
              </a:rPr>
              <a:t>we physicians must admit we have made little impression upon the problem as a whole</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a:t>
            </a:r>
            <a:endParaRPr lang="en-US" sz="1900" dirty="0"/>
          </a:p>
        </p:txBody>
      </p:sp>
      <p:sp>
        <p:nvSpPr>
          <p:cNvPr id="18" name="Text 16"/>
          <p:cNvSpPr/>
          <p:nvPr/>
        </p:nvSpPr>
        <p:spPr>
          <a:xfrm>
            <a:off x="548640" y="544068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“The Doctor’s Opinion,” p. xxv.</a:t>
            </a:r>
            <a:endParaRPr lang="en-US" sz="1200" dirty="0"/>
          </a:p>
        </p:txBody>
      </p:sp>
      <p:sp>
        <p:nvSpPr>
          <p:cNvPr id="19" name="Text 17"/>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The Classification of Alcoholics</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…seems most difficult, and in much detail is outside the scope of this book.</a:t>
            </a:r>
            <a:endParaRPr lang="en-US" sz="1700" dirty="0"/>
          </a:p>
        </p:txBody>
      </p:sp>
      <p:sp>
        <p:nvSpPr>
          <p:cNvPr id="4" name="Shape 2"/>
          <p:cNvSpPr/>
          <p:nvPr/>
        </p:nvSpPr>
        <p:spPr>
          <a:xfrm>
            <a:off x="8869680" y="320040"/>
            <a:ext cx="2770632" cy="960120"/>
          </a:xfrm>
          <a:prstGeom prst="roundRect">
            <a:avLst>
              <a:gd name="adj" fmla="val 9524"/>
            </a:avLst>
          </a:prstGeom>
          <a:solidFill>
            <a:srgbClr val="1B2A41"/>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THE BIG BOOK</a:t>
            </a:r>
            <a:endParaRPr lang="en-US" sz="1700" dirty="0"/>
          </a:p>
          <a:p>
            <a:pPr algn="ctr" indent="0" marL="0">
              <a:buNone/>
            </a:pPr>
            <a:r>
              <a:rPr lang="en-US" sz="1300" dirty="0">
                <a:solidFill>
                  <a:srgbClr val="A9B8CC"/>
                </a:solidFill>
                <a:latin typeface="Calibri" pitchFamily="34" charset="0"/>
                <a:ea typeface="Calibri" pitchFamily="34" charset="-122"/>
                <a:cs typeface="Calibri" pitchFamily="34" charset="-120"/>
              </a:rPr>
              <a:t>p. xxvi</a:t>
            </a:r>
            <a:endParaRPr lang="en-US" sz="1700" dirty="0"/>
          </a:p>
        </p:txBody>
      </p:sp>
      <p:sp>
        <p:nvSpPr>
          <p:cNvPr id="6" name="Shape 4"/>
          <p:cNvSpPr/>
          <p:nvPr/>
        </p:nvSpPr>
        <p:spPr>
          <a:xfrm>
            <a:off x="548640" y="1325880"/>
            <a:ext cx="11091672" cy="914400"/>
          </a:xfrm>
          <a:prstGeom prst="roundRect">
            <a:avLst>
              <a:gd name="adj" fmla="val 8000"/>
            </a:avLst>
          </a:prstGeom>
          <a:solidFill>
            <a:srgbClr val="EAF1E6"/>
          </a:solidFill>
          <a:ln/>
        </p:spPr>
      </p:sp>
      <p:sp>
        <p:nvSpPr>
          <p:cNvPr id="7" name="Shape 5"/>
          <p:cNvSpPr/>
          <p:nvPr/>
        </p:nvSpPr>
        <p:spPr>
          <a:xfrm>
            <a:off x="548640" y="1325880"/>
            <a:ext cx="1691640" cy="914400"/>
          </a:xfrm>
          <a:prstGeom prst="roundRect">
            <a:avLst>
              <a:gd name="adj" fmla="val 8000"/>
            </a:avLst>
          </a:prstGeom>
          <a:solidFill>
            <a:srgbClr val="2C5F2D"/>
          </a:solidFill>
          <a:ln/>
        </p:spPr>
      </p:sp>
      <p:sp>
        <p:nvSpPr>
          <p:cNvPr id="8" name="Text 6"/>
          <p:cNvSpPr/>
          <p:nvPr/>
        </p:nvSpPr>
        <p:spPr>
          <a:xfrm>
            <a:off x="548640" y="1325880"/>
            <a:ext cx="169164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TYPE I</a:t>
            </a:r>
            <a:endParaRPr lang="en-US" sz="1600" dirty="0"/>
          </a:p>
        </p:txBody>
      </p:sp>
      <p:sp>
        <p:nvSpPr>
          <p:cNvPr id="9" name="Text 7"/>
          <p:cNvSpPr/>
          <p:nvPr/>
        </p:nvSpPr>
        <p:spPr>
          <a:xfrm>
            <a:off x="2450592" y="1325880"/>
            <a:ext cx="9189720" cy="914400"/>
          </a:xfrm>
          <a:prstGeom prst="rect">
            <a:avLst/>
          </a:prstGeom>
          <a:noFill/>
          <a:ln/>
        </p:spPr>
        <p:txBody>
          <a:bodyPr wrap="square" lIns="0" tIns="0" rIns="0" bIns="0" rtlCol="0" anchor="ctr"/>
          <a:lstStyle/>
          <a:p>
            <a:pPr indent="0" marL="0">
              <a:lnSpc>
                <a:spcPct val="115000"/>
              </a:lnSpc>
              <a:buNone/>
            </a:pPr>
            <a:r>
              <a:rPr lang="en-US" sz="1600" dirty="0">
                <a:solidFill>
                  <a:srgbClr val="1B2A41"/>
                </a:solidFill>
                <a:latin typeface="Calibri" pitchFamily="34" charset="0"/>
                <a:ea typeface="Calibri" pitchFamily="34" charset="-122"/>
                <a:cs typeface="Calibri" pitchFamily="34" charset="-120"/>
              </a:rPr>
              <a:t>There are, of course, the psychopaths who are emotionally unstable. We are all familiar with this type. They are always “going on the wagon for keeps.” They are over-remorseful and make many resolutions, but never a decision.</a:t>
            </a:r>
            <a:endParaRPr lang="en-US" sz="1600" dirty="0"/>
          </a:p>
        </p:txBody>
      </p:sp>
      <p:sp>
        <p:nvSpPr>
          <p:cNvPr id="10" name="Shape 8"/>
          <p:cNvSpPr/>
          <p:nvPr/>
        </p:nvSpPr>
        <p:spPr>
          <a:xfrm>
            <a:off x="548640" y="2304288"/>
            <a:ext cx="11091672" cy="786384"/>
          </a:xfrm>
          <a:prstGeom prst="roundRect">
            <a:avLst>
              <a:gd name="adj" fmla="val 9302"/>
            </a:avLst>
          </a:prstGeom>
          <a:solidFill>
            <a:srgbClr val="E2EDF4"/>
          </a:solidFill>
          <a:ln/>
        </p:spPr>
      </p:sp>
      <p:sp>
        <p:nvSpPr>
          <p:cNvPr id="11" name="Shape 9"/>
          <p:cNvSpPr/>
          <p:nvPr/>
        </p:nvSpPr>
        <p:spPr>
          <a:xfrm>
            <a:off x="548640" y="2304288"/>
            <a:ext cx="1691640" cy="786384"/>
          </a:xfrm>
          <a:prstGeom prst="roundRect">
            <a:avLst>
              <a:gd name="adj" fmla="val 9302"/>
            </a:avLst>
          </a:prstGeom>
          <a:solidFill>
            <a:srgbClr val="065A82"/>
          </a:solidFill>
          <a:ln/>
        </p:spPr>
      </p:sp>
      <p:sp>
        <p:nvSpPr>
          <p:cNvPr id="12" name="Text 10"/>
          <p:cNvSpPr/>
          <p:nvPr/>
        </p:nvSpPr>
        <p:spPr>
          <a:xfrm>
            <a:off x="548640" y="2304288"/>
            <a:ext cx="1691640" cy="78638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TYPE II</a:t>
            </a:r>
            <a:endParaRPr lang="en-US" sz="1600" dirty="0"/>
          </a:p>
        </p:txBody>
      </p:sp>
      <p:sp>
        <p:nvSpPr>
          <p:cNvPr id="13" name="Text 11"/>
          <p:cNvSpPr/>
          <p:nvPr/>
        </p:nvSpPr>
        <p:spPr>
          <a:xfrm>
            <a:off x="2450592" y="2304288"/>
            <a:ext cx="9189720" cy="786384"/>
          </a:xfrm>
          <a:prstGeom prst="rect">
            <a:avLst/>
          </a:prstGeom>
          <a:noFill/>
          <a:ln/>
        </p:spPr>
        <p:txBody>
          <a:bodyPr wrap="square" lIns="0" tIns="0" rIns="0" bIns="0" rtlCol="0" anchor="ctr"/>
          <a:lstStyle/>
          <a:p>
            <a:pPr indent="0" marL="0">
              <a:lnSpc>
                <a:spcPct val="115000"/>
              </a:lnSpc>
              <a:buNone/>
            </a:pPr>
            <a:r>
              <a:rPr lang="en-US" sz="1600" dirty="0">
                <a:solidFill>
                  <a:srgbClr val="1B2A41"/>
                </a:solidFill>
                <a:latin typeface="Calibri" pitchFamily="34" charset="0"/>
                <a:ea typeface="Calibri" pitchFamily="34" charset="-122"/>
                <a:cs typeface="Calibri" pitchFamily="34" charset="-120"/>
              </a:rPr>
              <a:t>There is the type of man who is unwilling to admit that he cannot take a drink. He plans various ways of drinking. He changes his brand or his environment.</a:t>
            </a:r>
            <a:endParaRPr lang="en-US" sz="1600" dirty="0"/>
          </a:p>
        </p:txBody>
      </p:sp>
      <p:sp>
        <p:nvSpPr>
          <p:cNvPr id="14" name="Shape 12"/>
          <p:cNvSpPr/>
          <p:nvPr/>
        </p:nvSpPr>
        <p:spPr>
          <a:xfrm>
            <a:off x="548640" y="3154680"/>
            <a:ext cx="11091672" cy="786384"/>
          </a:xfrm>
          <a:prstGeom prst="roundRect">
            <a:avLst>
              <a:gd name="adj" fmla="val 9302"/>
            </a:avLst>
          </a:prstGeom>
          <a:solidFill>
            <a:srgbClr val="EAF1E6"/>
          </a:solidFill>
          <a:ln/>
        </p:spPr>
      </p:sp>
      <p:sp>
        <p:nvSpPr>
          <p:cNvPr id="15" name="Shape 13"/>
          <p:cNvSpPr/>
          <p:nvPr/>
        </p:nvSpPr>
        <p:spPr>
          <a:xfrm>
            <a:off x="548640" y="3154680"/>
            <a:ext cx="1691640" cy="786384"/>
          </a:xfrm>
          <a:prstGeom prst="roundRect">
            <a:avLst>
              <a:gd name="adj" fmla="val 9302"/>
            </a:avLst>
          </a:prstGeom>
          <a:solidFill>
            <a:srgbClr val="2C5F2D"/>
          </a:solidFill>
          <a:ln/>
        </p:spPr>
      </p:sp>
      <p:sp>
        <p:nvSpPr>
          <p:cNvPr id="16" name="Text 14"/>
          <p:cNvSpPr/>
          <p:nvPr/>
        </p:nvSpPr>
        <p:spPr>
          <a:xfrm>
            <a:off x="548640" y="3154680"/>
            <a:ext cx="1691640" cy="78638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TYPE III</a:t>
            </a:r>
            <a:endParaRPr lang="en-US" sz="1600" dirty="0"/>
          </a:p>
        </p:txBody>
      </p:sp>
      <p:sp>
        <p:nvSpPr>
          <p:cNvPr id="17" name="Text 15"/>
          <p:cNvSpPr/>
          <p:nvPr/>
        </p:nvSpPr>
        <p:spPr>
          <a:xfrm>
            <a:off x="2450592" y="3154680"/>
            <a:ext cx="9189720" cy="786384"/>
          </a:xfrm>
          <a:prstGeom prst="rect">
            <a:avLst/>
          </a:prstGeom>
          <a:noFill/>
          <a:ln/>
        </p:spPr>
        <p:txBody>
          <a:bodyPr wrap="square" lIns="0" tIns="0" rIns="0" bIns="0" rtlCol="0" anchor="ctr"/>
          <a:lstStyle/>
          <a:p>
            <a:pPr indent="0" marL="0">
              <a:lnSpc>
                <a:spcPct val="115000"/>
              </a:lnSpc>
              <a:buNone/>
            </a:pPr>
            <a:r>
              <a:rPr lang="en-US" sz="1600" dirty="0">
                <a:solidFill>
                  <a:srgbClr val="1B2A41"/>
                </a:solidFill>
                <a:latin typeface="Calibri" pitchFamily="34" charset="0"/>
                <a:ea typeface="Calibri" pitchFamily="34" charset="-122"/>
                <a:cs typeface="Calibri" pitchFamily="34" charset="-120"/>
              </a:rPr>
              <a:t>There is the type who always believes that after being entirely free from alcohol for a period of time he can take a drink without danger.</a:t>
            </a:r>
            <a:endParaRPr lang="en-US" sz="1600" dirty="0"/>
          </a:p>
        </p:txBody>
      </p:sp>
      <p:sp>
        <p:nvSpPr>
          <p:cNvPr id="18" name="Shape 16"/>
          <p:cNvSpPr/>
          <p:nvPr/>
        </p:nvSpPr>
        <p:spPr>
          <a:xfrm>
            <a:off x="548640" y="4005072"/>
            <a:ext cx="11091672" cy="786384"/>
          </a:xfrm>
          <a:prstGeom prst="roundRect">
            <a:avLst>
              <a:gd name="adj" fmla="val 9302"/>
            </a:avLst>
          </a:prstGeom>
          <a:solidFill>
            <a:srgbClr val="E2EDF4"/>
          </a:solidFill>
          <a:ln/>
        </p:spPr>
      </p:sp>
      <p:sp>
        <p:nvSpPr>
          <p:cNvPr id="19" name="Shape 17"/>
          <p:cNvSpPr/>
          <p:nvPr/>
        </p:nvSpPr>
        <p:spPr>
          <a:xfrm>
            <a:off x="548640" y="4005072"/>
            <a:ext cx="1691640" cy="786384"/>
          </a:xfrm>
          <a:prstGeom prst="roundRect">
            <a:avLst>
              <a:gd name="adj" fmla="val 9302"/>
            </a:avLst>
          </a:prstGeom>
          <a:solidFill>
            <a:srgbClr val="065A82"/>
          </a:solidFill>
          <a:ln/>
        </p:spPr>
      </p:sp>
      <p:sp>
        <p:nvSpPr>
          <p:cNvPr id="20" name="Text 18"/>
          <p:cNvSpPr/>
          <p:nvPr/>
        </p:nvSpPr>
        <p:spPr>
          <a:xfrm>
            <a:off x="548640" y="4005072"/>
            <a:ext cx="1691640" cy="78638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TYPE IV</a:t>
            </a:r>
            <a:endParaRPr lang="en-US" sz="1600" dirty="0"/>
          </a:p>
        </p:txBody>
      </p:sp>
      <p:sp>
        <p:nvSpPr>
          <p:cNvPr id="21" name="Text 19"/>
          <p:cNvSpPr/>
          <p:nvPr/>
        </p:nvSpPr>
        <p:spPr>
          <a:xfrm>
            <a:off x="2450592" y="4005072"/>
            <a:ext cx="9189720" cy="786384"/>
          </a:xfrm>
          <a:prstGeom prst="rect">
            <a:avLst/>
          </a:prstGeom>
          <a:noFill/>
          <a:ln/>
        </p:spPr>
        <p:txBody>
          <a:bodyPr wrap="square" lIns="0" tIns="0" rIns="0" bIns="0" rtlCol="0" anchor="ctr"/>
          <a:lstStyle/>
          <a:p>
            <a:pPr indent="0" marL="0">
              <a:lnSpc>
                <a:spcPct val="115000"/>
              </a:lnSpc>
              <a:buNone/>
            </a:pPr>
            <a:r>
              <a:rPr lang="en-US" sz="1600" dirty="0">
                <a:solidFill>
                  <a:srgbClr val="1B2A41"/>
                </a:solidFill>
                <a:latin typeface="Calibri" pitchFamily="34" charset="0"/>
                <a:ea typeface="Calibri" pitchFamily="34" charset="-122"/>
                <a:cs typeface="Calibri" pitchFamily="34" charset="-120"/>
              </a:rPr>
              <a:t>There is the manic-depressive type, who is, perhaps, the least understood by his friends, and about whom a whole chapter could be written.</a:t>
            </a:r>
            <a:endParaRPr lang="en-US" sz="1600" dirty="0"/>
          </a:p>
        </p:txBody>
      </p:sp>
      <p:sp>
        <p:nvSpPr>
          <p:cNvPr id="22" name="Shape 20"/>
          <p:cNvSpPr/>
          <p:nvPr/>
        </p:nvSpPr>
        <p:spPr>
          <a:xfrm>
            <a:off x="548640" y="4855464"/>
            <a:ext cx="11091672" cy="786384"/>
          </a:xfrm>
          <a:prstGeom prst="roundRect">
            <a:avLst>
              <a:gd name="adj" fmla="val 9302"/>
            </a:avLst>
          </a:prstGeom>
          <a:solidFill>
            <a:srgbClr val="EAF1E6"/>
          </a:solidFill>
          <a:ln/>
        </p:spPr>
      </p:sp>
      <p:sp>
        <p:nvSpPr>
          <p:cNvPr id="23" name="Shape 21"/>
          <p:cNvSpPr/>
          <p:nvPr/>
        </p:nvSpPr>
        <p:spPr>
          <a:xfrm>
            <a:off x="548640" y="4855464"/>
            <a:ext cx="1691640" cy="786384"/>
          </a:xfrm>
          <a:prstGeom prst="roundRect">
            <a:avLst>
              <a:gd name="adj" fmla="val 9302"/>
            </a:avLst>
          </a:prstGeom>
          <a:solidFill>
            <a:srgbClr val="2C5F2D"/>
          </a:solidFill>
          <a:ln/>
        </p:spPr>
      </p:sp>
      <p:sp>
        <p:nvSpPr>
          <p:cNvPr id="24" name="Text 22"/>
          <p:cNvSpPr/>
          <p:nvPr/>
        </p:nvSpPr>
        <p:spPr>
          <a:xfrm>
            <a:off x="548640" y="4855464"/>
            <a:ext cx="1691640" cy="78638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TYPE V</a:t>
            </a:r>
            <a:endParaRPr lang="en-US" sz="1600" dirty="0"/>
          </a:p>
        </p:txBody>
      </p:sp>
      <p:sp>
        <p:nvSpPr>
          <p:cNvPr id="25" name="Text 23"/>
          <p:cNvSpPr/>
          <p:nvPr/>
        </p:nvSpPr>
        <p:spPr>
          <a:xfrm>
            <a:off x="2450592" y="4855464"/>
            <a:ext cx="9189720" cy="786384"/>
          </a:xfrm>
          <a:prstGeom prst="rect">
            <a:avLst/>
          </a:prstGeom>
          <a:noFill/>
          <a:ln/>
        </p:spPr>
        <p:txBody>
          <a:bodyPr wrap="square" lIns="0" tIns="0" rIns="0" bIns="0" rtlCol="0" anchor="ctr"/>
          <a:lstStyle/>
          <a:p>
            <a:pPr indent="0" marL="0">
              <a:lnSpc>
                <a:spcPct val="115000"/>
              </a:lnSpc>
              <a:buNone/>
            </a:pPr>
            <a:r>
              <a:rPr lang="en-US" sz="1600" dirty="0">
                <a:solidFill>
                  <a:srgbClr val="1B2A41"/>
                </a:solidFill>
                <a:latin typeface="Calibri" pitchFamily="34" charset="0"/>
                <a:ea typeface="Calibri" pitchFamily="34" charset="-122"/>
                <a:cs typeface="Calibri" pitchFamily="34" charset="-120"/>
              </a:rPr>
              <a:t>Then there are types entirely normal in every respect except in the effect alcohol has upon them. They are often able, intelligent, friendly people.</a:t>
            </a:r>
            <a:endParaRPr lang="en-US" sz="1600" dirty="0"/>
          </a:p>
        </p:txBody>
      </p:sp>
      <p:sp>
        <p:nvSpPr>
          <p:cNvPr id="26" name="Text 24"/>
          <p:cNvSpPr/>
          <p:nvPr/>
        </p:nvSpPr>
        <p:spPr>
          <a:xfrm>
            <a:off x="548640" y="576072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“The Doctor’s Opinion,” p. xxvi.</a:t>
            </a:r>
            <a:endParaRPr lang="en-US" sz="1200" dirty="0"/>
          </a:p>
        </p:txBody>
      </p:sp>
      <p:sp>
        <p:nvSpPr>
          <p:cNvPr id="27" name="Text 25"/>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One Symptom in Common</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What every type shares.</a:t>
            </a:r>
            <a:endParaRPr lang="en-US" sz="1700" dirty="0"/>
          </a:p>
        </p:txBody>
      </p:sp>
      <p:sp>
        <p:nvSpPr>
          <p:cNvPr id="4" name="Shape 2"/>
          <p:cNvSpPr/>
          <p:nvPr/>
        </p:nvSpPr>
        <p:spPr>
          <a:xfrm>
            <a:off x="8869680" y="320040"/>
            <a:ext cx="2770632" cy="960120"/>
          </a:xfrm>
          <a:prstGeom prst="roundRect">
            <a:avLst>
              <a:gd name="adj" fmla="val 9524"/>
            </a:avLst>
          </a:prstGeom>
          <a:solidFill>
            <a:srgbClr val="065A82"/>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THE BIG BOOK</a:t>
            </a:r>
            <a:endParaRPr lang="en-US" sz="1700" dirty="0"/>
          </a:p>
          <a:p>
            <a:pPr algn="ctr" indent="0" marL="0">
              <a:buNone/>
            </a:pPr>
            <a:r>
              <a:rPr lang="en-US" sz="1300" dirty="0">
                <a:solidFill>
                  <a:srgbClr val="C7DEEC"/>
                </a:solidFill>
                <a:latin typeface="Calibri" pitchFamily="34" charset="0"/>
                <a:ea typeface="Calibri" pitchFamily="34" charset="-122"/>
                <a:cs typeface="Calibri" pitchFamily="34" charset="-120"/>
              </a:rPr>
              <a:t>p. xxvi</a:t>
            </a:r>
            <a:endParaRPr lang="en-US" sz="1700" dirty="0"/>
          </a:p>
        </p:txBody>
      </p:sp>
      <p:sp>
        <p:nvSpPr>
          <p:cNvPr id="6" name="Shape 4"/>
          <p:cNvSpPr/>
          <p:nvPr/>
        </p:nvSpPr>
        <p:spPr>
          <a:xfrm>
            <a:off x="548640" y="1554480"/>
            <a:ext cx="11091672" cy="2011680"/>
          </a:xfrm>
          <a:prstGeom prst="roundRect">
            <a:avLst>
              <a:gd name="adj" fmla="val 3636"/>
            </a:avLst>
          </a:prstGeom>
          <a:solidFill>
            <a:srgbClr val="E2EDF4"/>
          </a:solidFill>
          <a:ln/>
        </p:spPr>
      </p:sp>
      <p:sp>
        <p:nvSpPr>
          <p:cNvPr id="7" name="Text 5"/>
          <p:cNvSpPr/>
          <p:nvPr/>
        </p:nvSpPr>
        <p:spPr>
          <a:xfrm>
            <a:off x="914400" y="1554480"/>
            <a:ext cx="10360152" cy="2011680"/>
          </a:xfrm>
          <a:prstGeom prst="rect">
            <a:avLst/>
          </a:prstGeom>
          <a:noFill/>
          <a:ln/>
        </p:spPr>
        <p:txBody>
          <a:bodyPr wrap="square" lIns="0" tIns="0" rIns="0" bIns="0" rtlCol="0" anchor="ctr"/>
          <a:lstStyle/>
          <a:p>
            <a:pPr indent="0" marL="0">
              <a:lnSpc>
                <a:spcPct val="115000"/>
              </a:lnSpc>
              <a:buNone/>
            </a:pPr>
            <a:r>
              <a:rPr lang="en-US" sz="2000" dirty="0">
                <a:solidFill>
                  <a:srgbClr val="1B2A41"/>
                </a:solidFill>
                <a:latin typeface="Calibri" pitchFamily="34" charset="0"/>
                <a:ea typeface="Calibri" pitchFamily="34" charset="-122"/>
                <a:cs typeface="Calibri" pitchFamily="34" charset="-120"/>
              </a:rPr>
              <a:t>All these, and many others, have </a:t>
            </a:r>
            <a:pPr indent="0" marL="0">
              <a:lnSpc>
                <a:spcPct val="115000"/>
              </a:lnSpc>
              <a:buNone/>
            </a:pPr>
            <a:r>
              <a:rPr lang="en-US" sz="2000" b="1" dirty="0">
                <a:solidFill>
                  <a:srgbClr val="065A82"/>
                </a:solidFill>
                <a:latin typeface="Calibri" pitchFamily="34" charset="0"/>
                <a:ea typeface="Calibri" pitchFamily="34" charset="-122"/>
                <a:cs typeface="Calibri" pitchFamily="34" charset="-120"/>
              </a:rPr>
              <a:t>one symptom in common</a:t>
            </a:r>
            <a:pPr indent="0" marL="0">
              <a:lnSpc>
                <a:spcPct val="115000"/>
              </a:lnSpc>
              <a:buNone/>
            </a:pPr>
            <a:r>
              <a:rPr lang="en-US" sz="2000" dirty="0">
                <a:solidFill>
                  <a:srgbClr val="1B2A41"/>
                </a:solidFill>
                <a:latin typeface="Calibri" pitchFamily="34" charset="0"/>
                <a:ea typeface="Calibri" pitchFamily="34" charset="-122"/>
                <a:cs typeface="Calibri" pitchFamily="34" charset="-120"/>
              </a:rPr>
              <a:t>: they cannot start drinking without developing the phenomenon of craving. This phenomenon, as we have suggested, may be the manifestation of an allergy which differentiates these people, and </a:t>
            </a:r>
            <a:pPr indent="0" marL="0">
              <a:lnSpc>
                <a:spcPct val="115000"/>
              </a:lnSpc>
              <a:buNone/>
            </a:pPr>
            <a:r>
              <a:rPr lang="en-US" sz="2000" b="1" dirty="0">
                <a:solidFill>
                  <a:srgbClr val="065A82"/>
                </a:solidFill>
                <a:latin typeface="Calibri" pitchFamily="34" charset="0"/>
                <a:ea typeface="Calibri" pitchFamily="34" charset="-122"/>
                <a:cs typeface="Calibri" pitchFamily="34" charset="-120"/>
              </a:rPr>
              <a:t>sets them apart as a distinct entity</a:t>
            </a:r>
            <a:pPr indent="0" marL="0">
              <a:lnSpc>
                <a:spcPct val="115000"/>
              </a:lnSpc>
              <a:buNone/>
            </a:pPr>
            <a:r>
              <a:rPr lang="en-US" sz="2000" dirty="0">
                <a:solidFill>
                  <a:srgbClr val="1B2A41"/>
                </a:solidFill>
                <a:latin typeface="Calibri" pitchFamily="34" charset="0"/>
                <a:ea typeface="Calibri" pitchFamily="34" charset="-122"/>
                <a:cs typeface="Calibri" pitchFamily="34" charset="-120"/>
              </a:rPr>
              <a:t>. It has never been, by any treatment with which we are familiar, </a:t>
            </a:r>
            <a:pPr indent="0" marL="0">
              <a:lnSpc>
                <a:spcPct val="115000"/>
              </a:lnSpc>
              <a:buNone/>
            </a:pPr>
            <a:r>
              <a:rPr lang="en-US" sz="2000" b="1" dirty="0">
                <a:solidFill>
                  <a:srgbClr val="065A82"/>
                </a:solidFill>
                <a:latin typeface="Calibri" pitchFamily="34" charset="0"/>
                <a:ea typeface="Calibri" pitchFamily="34" charset="-122"/>
                <a:cs typeface="Calibri" pitchFamily="34" charset="-120"/>
              </a:rPr>
              <a:t>permanently eradicated</a:t>
            </a:r>
            <a:pPr indent="0" marL="0">
              <a:lnSpc>
                <a:spcPct val="115000"/>
              </a:lnSpc>
              <a:buNone/>
            </a:pPr>
            <a:r>
              <a:rPr lang="en-US" sz="2000" dirty="0">
                <a:solidFill>
                  <a:srgbClr val="1B2A41"/>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548640" y="3840480"/>
            <a:ext cx="11091672" cy="1280160"/>
          </a:xfrm>
          <a:prstGeom prst="roundRect">
            <a:avLst>
              <a:gd name="adj" fmla="val 5714"/>
            </a:avLst>
          </a:prstGeom>
          <a:solidFill>
            <a:srgbClr val="065A82"/>
          </a:solidFill>
          <a:ln/>
        </p:spPr>
      </p:sp>
      <p:sp>
        <p:nvSpPr>
          <p:cNvPr id="9" name="Text 7"/>
          <p:cNvSpPr/>
          <p:nvPr/>
        </p:nvSpPr>
        <p:spPr>
          <a:xfrm>
            <a:off x="914400" y="3977640"/>
            <a:ext cx="10360152" cy="256032"/>
          </a:xfrm>
          <a:prstGeom prst="rect">
            <a:avLst/>
          </a:prstGeom>
          <a:noFill/>
          <a:ln/>
        </p:spPr>
        <p:txBody>
          <a:bodyPr wrap="square" lIns="0" tIns="0" rIns="0" bIns="0" rtlCol="0" anchor="ctr"/>
          <a:lstStyle/>
          <a:p>
            <a:pPr indent="0" marL="0">
              <a:buNone/>
            </a:pPr>
            <a:r>
              <a:rPr lang="en-US" sz="1100" b="1" spc="200" kern="0" dirty="0">
                <a:solidFill>
                  <a:srgbClr val="C7DEEC"/>
                </a:solidFill>
                <a:latin typeface="Calibri" pitchFamily="34" charset="0"/>
                <a:ea typeface="Calibri" pitchFamily="34" charset="-122"/>
                <a:cs typeface="Calibri" pitchFamily="34" charset="-120"/>
              </a:rPr>
              <a:t>IMPORTANT</a:t>
            </a:r>
            <a:endParaRPr lang="en-US" sz="1100" dirty="0"/>
          </a:p>
        </p:txBody>
      </p:sp>
      <p:sp>
        <p:nvSpPr>
          <p:cNvPr id="10" name="Text 8"/>
          <p:cNvSpPr/>
          <p:nvPr/>
        </p:nvSpPr>
        <p:spPr>
          <a:xfrm>
            <a:off x="914400" y="4270248"/>
            <a:ext cx="10360152" cy="6858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The only relief we have to suggest is </a:t>
            </a:r>
            <a:pPr indent="0" marL="0">
              <a:buNone/>
            </a:pPr>
            <a:r>
              <a:rPr lang="en-US" sz="2400" b="1" u="dbl" dirty="0">
                <a:solidFill>
                  <a:srgbClr val="FFFFFF"/>
                </a:solidFill>
                <a:latin typeface="Cambria" pitchFamily="34" charset="0"/>
                <a:ea typeface="Cambria" pitchFamily="34" charset="-122"/>
                <a:cs typeface="Cambria" pitchFamily="34" charset="-120"/>
              </a:rPr>
              <a:t>entire abstinence</a:t>
            </a:r>
            <a:pPr indent="0" marL="0">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11" name="Text 9"/>
          <p:cNvSpPr/>
          <p:nvPr/>
        </p:nvSpPr>
        <p:spPr>
          <a:xfrm>
            <a:off x="548640" y="534924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“The Doctor’s Opinion,” p. xxvi.</a:t>
            </a:r>
            <a:endParaRPr lang="en-US" sz="1200" dirty="0"/>
          </a:p>
        </p:txBody>
      </p:sp>
      <p:sp>
        <p:nvSpPr>
          <p:cNvPr id="12" name="Text 10"/>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He May Remain to Pray</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How the doctor closes his letter.</a:t>
            </a:r>
            <a:endParaRPr lang="en-US" sz="1700" dirty="0"/>
          </a:p>
        </p:txBody>
      </p:sp>
      <p:sp>
        <p:nvSpPr>
          <p:cNvPr id="4" name="Shape 2"/>
          <p:cNvSpPr/>
          <p:nvPr/>
        </p:nvSpPr>
        <p:spPr>
          <a:xfrm>
            <a:off x="8869680" y="320040"/>
            <a:ext cx="2770632" cy="960120"/>
          </a:xfrm>
          <a:prstGeom prst="roundRect">
            <a:avLst>
              <a:gd name="adj" fmla="val 9524"/>
            </a:avLst>
          </a:prstGeom>
          <a:solidFill>
            <a:srgbClr val="065A82"/>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THE BIG BOOK</a:t>
            </a:r>
            <a:endParaRPr lang="en-US" sz="1700" dirty="0"/>
          </a:p>
          <a:p>
            <a:pPr algn="ctr" indent="0" marL="0">
              <a:buNone/>
            </a:pPr>
            <a:r>
              <a:rPr lang="en-US" sz="1300" dirty="0">
                <a:solidFill>
                  <a:srgbClr val="C7DEEC"/>
                </a:solidFill>
                <a:latin typeface="Calibri" pitchFamily="34" charset="0"/>
                <a:ea typeface="Calibri" pitchFamily="34" charset="-122"/>
                <a:cs typeface="Calibri" pitchFamily="34" charset="-120"/>
              </a:rPr>
              <a:t>The Doctor’s Opinion</a:t>
            </a:r>
            <a:endParaRPr lang="en-US" sz="1700" dirty="0"/>
          </a:p>
        </p:txBody>
      </p:sp>
      <p:sp>
        <p:nvSpPr>
          <p:cNvPr id="6" name="Shape 4"/>
          <p:cNvSpPr/>
          <p:nvPr/>
        </p:nvSpPr>
        <p:spPr>
          <a:xfrm>
            <a:off x="548640" y="1645920"/>
            <a:ext cx="11091672" cy="1920240"/>
          </a:xfrm>
          <a:prstGeom prst="roundRect">
            <a:avLst>
              <a:gd name="adj" fmla="val 3810"/>
            </a:avLst>
          </a:prstGeom>
          <a:solidFill>
            <a:srgbClr val="E2EDF4"/>
          </a:solidFill>
          <a:ln/>
        </p:spPr>
      </p:sp>
      <p:sp>
        <p:nvSpPr>
          <p:cNvPr id="7" name="Text 5"/>
          <p:cNvSpPr/>
          <p:nvPr/>
        </p:nvSpPr>
        <p:spPr>
          <a:xfrm>
            <a:off x="914400" y="1645920"/>
            <a:ext cx="10360152" cy="1920240"/>
          </a:xfrm>
          <a:prstGeom prst="rect">
            <a:avLst/>
          </a:prstGeom>
          <a:noFill/>
          <a:ln/>
        </p:spPr>
        <p:txBody>
          <a:bodyPr wrap="square" lIns="0" tIns="0" rIns="0" bIns="0" rtlCol="0" anchor="ctr"/>
          <a:lstStyle/>
          <a:p>
            <a:pPr indent="0" marL="0">
              <a:lnSpc>
                <a:spcPct val="115000"/>
              </a:lnSpc>
              <a:buNone/>
            </a:pPr>
            <a:r>
              <a:rPr lang="en-US" sz="2600" dirty="0">
                <a:solidFill>
                  <a:srgbClr val="1B2A41"/>
                </a:solidFill>
                <a:latin typeface="Calibri" pitchFamily="34" charset="0"/>
                <a:ea typeface="Calibri" pitchFamily="34" charset="-122"/>
                <a:cs typeface="Calibri" pitchFamily="34" charset="-120"/>
              </a:rPr>
              <a:t>I earnestly advise every alcoholic to read this book through, and though perhaps he came to scoff, he may remain to pray.</a:t>
            </a:r>
            <a:endParaRPr lang="en-US" sz="2600" dirty="0"/>
          </a:p>
        </p:txBody>
      </p:sp>
      <p:sp>
        <p:nvSpPr>
          <p:cNvPr id="8" name="Text 6"/>
          <p:cNvSpPr/>
          <p:nvPr/>
        </p:nvSpPr>
        <p:spPr>
          <a:xfrm>
            <a:off x="914400" y="3703320"/>
            <a:ext cx="10360152" cy="411480"/>
          </a:xfrm>
          <a:prstGeom prst="rect">
            <a:avLst/>
          </a:prstGeom>
          <a:noFill/>
          <a:ln/>
        </p:spPr>
        <p:txBody>
          <a:bodyPr wrap="square" lIns="0" tIns="0" rIns="0" bIns="0" rtlCol="0" anchor="ctr"/>
          <a:lstStyle/>
          <a:p>
            <a:pPr algn="r" indent="0" marL="0">
              <a:buNone/>
            </a:pPr>
            <a:r>
              <a:rPr lang="en-US" sz="2000" b="1" dirty="0">
                <a:solidFill>
                  <a:srgbClr val="065A82"/>
                </a:solidFill>
                <a:latin typeface="Cambria" pitchFamily="34" charset="0"/>
                <a:ea typeface="Cambria" pitchFamily="34" charset="-122"/>
                <a:cs typeface="Cambria" pitchFamily="34" charset="-120"/>
              </a:rPr>
              <a:t>William D. Silkworth, M.D.</a:t>
            </a:r>
            <a:endParaRPr lang="en-US" sz="2000" dirty="0"/>
          </a:p>
        </p:txBody>
      </p:sp>
      <p:sp>
        <p:nvSpPr>
          <p:cNvPr id="9" name="Shape 7"/>
          <p:cNvSpPr/>
          <p:nvPr/>
        </p:nvSpPr>
        <p:spPr>
          <a:xfrm>
            <a:off x="548640" y="4343400"/>
            <a:ext cx="11091672" cy="1005840"/>
          </a:xfrm>
          <a:prstGeom prst="roundRect">
            <a:avLst>
              <a:gd name="adj" fmla="val 7273"/>
            </a:avLst>
          </a:prstGeom>
          <a:solidFill>
            <a:srgbClr val="1B2A41"/>
          </a:solidFill>
          <a:ln/>
        </p:spPr>
      </p:sp>
      <p:sp>
        <p:nvSpPr>
          <p:cNvPr id="10" name="Text 8"/>
          <p:cNvSpPr/>
          <p:nvPr/>
        </p:nvSpPr>
        <p:spPr>
          <a:xfrm>
            <a:off x="914400" y="4462272"/>
            <a:ext cx="10360152"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MARGIN NOTE</a:t>
            </a:r>
            <a:endParaRPr lang="en-US" sz="1100" dirty="0"/>
          </a:p>
        </p:txBody>
      </p:sp>
      <p:sp>
        <p:nvSpPr>
          <p:cNvPr id="11" name="Text 9"/>
          <p:cNvSpPr/>
          <p:nvPr/>
        </p:nvSpPr>
        <p:spPr>
          <a:xfrm>
            <a:off x="914400" y="4736592"/>
            <a:ext cx="10360152" cy="49377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Some people are alcoholics on their first drink. Others crossed the line.</a:t>
            </a:r>
            <a:endParaRPr lang="en-US" sz="2200" dirty="0"/>
          </a:p>
        </p:txBody>
      </p:sp>
      <p:sp>
        <p:nvSpPr>
          <p:cNvPr id="12" name="Text 10"/>
          <p:cNvSpPr/>
          <p:nvPr/>
        </p:nvSpPr>
        <p:spPr>
          <a:xfrm>
            <a:off x="548640" y="553212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close of “The Doctor’s Opinion.”</a:t>
            </a:r>
            <a:endParaRPr lang="en-US" sz="1200" dirty="0"/>
          </a:p>
        </p:txBody>
      </p:sp>
      <p:sp>
        <p:nvSpPr>
          <p:cNvPr id="13" name="Text 11"/>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22960" y="868680"/>
            <a:ext cx="10543032"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Bill’s Story</a:t>
            </a:r>
            <a:endParaRPr lang="en-US" sz="4600" dirty="0"/>
          </a:p>
        </p:txBody>
      </p:sp>
      <p:sp>
        <p:nvSpPr>
          <p:cNvPr id="3" name="Text 1"/>
          <p:cNvSpPr/>
          <p:nvPr/>
        </p:nvSpPr>
        <p:spPr>
          <a:xfrm>
            <a:off x="822960" y="1691640"/>
            <a:ext cx="10543032" cy="365760"/>
          </a:xfrm>
          <a:prstGeom prst="rect">
            <a:avLst/>
          </a:prstGeom>
          <a:noFill/>
          <a:ln/>
        </p:spPr>
        <p:txBody>
          <a:bodyPr wrap="square" lIns="0" tIns="0" rIns="0" bIns="0" rtlCol="0" anchor="ctr"/>
          <a:lstStyle/>
          <a:p>
            <a:pPr indent="0" marL="0">
              <a:buNone/>
            </a:pPr>
            <a:r>
              <a:rPr lang="en-US" sz="1800" spc="200" kern="0" dirty="0">
                <a:solidFill>
                  <a:srgbClr val="A9B8CC"/>
                </a:solidFill>
                <a:latin typeface="Calibri" pitchFamily="34" charset="0"/>
                <a:ea typeface="Calibri" pitchFamily="34" charset="-122"/>
                <a:cs typeface="Calibri" pitchFamily="34" charset="-120"/>
              </a:rPr>
              <a:t>Chapter 1   ·   Page 1</a:t>
            </a:r>
            <a:endParaRPr lang="en-US" sz="1800" dirty="0"/>
          </a:p>
        </p:txBody>
      </p:sp>
      <p:sp>
        <p:nvSpPr>
          <p:cNvPr id="4" name="Shape 2"/>
          <p:cNvSpPr/>
          <p:nvPr/>
        </p:nvSpPr>
        <p:spPr>
          <a:xfrm>
            <a:off x="822960" y="2514600"/>
            <a:ext cx="10543032" cy="1051560"/>
          </a:xfrm>
          <a:prstGeom prst="roundRect">
            <a:avLst>
              <a:gd name="adj" fmla="val 8696"/>
            </a:avLst>
          </a:prstGeom>
          <a:solidFill>
            <a:srgbClr val="FFFFFF"/>
          </a:solidFill>
          <a:ln/>
        </p:spPr>
      </p:sp>
      <p:sp>
        <p:nvSpPr>
          <p:cNvPr id="5" name="Text 3"/>
          <p:cNvSpPr/>
          <p:nvPr/>
        </p:nvSpPr>
        <p:spPr>
          <a:xfrm>
            <a:off x="1188720" y="2514600"/>
            <a:ext cx="9811512" cy="105156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Identify — </a:t>
            </a:r>
            <a:pPr indent="0" marL="0">
              <a:buNone/>
            </a:pPr>
            <a:r>
              <a:rPr lang="en-US" sz="3000" b="1" u="sng" dirty="0">
                <a:solidFill>
                  <a:srgbClr val="1B2A41"/>
                </a:solidFill>
                <a:latin typeface="Cambria" pitchFamily="34" charset="0"/>
                <a:ea typeface="Cambria" pitchFamily="34" charset="-122"/>
                <a:cs typeface="Cambria" pitchFamily="34" charset="-120"/>
              </a:rPr>
              <a:t>don’t</a:t>
            </a:r>
            <a:pPr indent="0" marL="0">
              <a:buNone/>
            </a:pPr>
            <a:r>
              <a:rPr lang="en-US" sz="3000" b="1" dirty="0">
                <a:solidFill>
                  <a:srgbClr val="1B2A41"/>
                </a:solidFill>
                <a:latin typeface="Cambria" pitchFamily="34" charset="0"/>
                <a:ea typeface="Cambria" pitchFamily="34" charset="-122"/>
                <a:cs typeface="Cambria" pitchFamily="34" charset="-120"/>
              </a:rPr>
              <a:t> compare.</a:t>
            </a:r>
            <a:endParaRPr lang="en-US" sz="3000" dirty="0"/>
          </a:p>
        </p:txBody>
      </p:sp>
      <p:sp>
        <p:nvSpPr>
          <p:cNvPr id="6" name="Shape 4"/>
          <p:cNvSpPr/>
          <p:nvPr/>
        </p:nvSpPr>
        <p:spPr>
          <a:xfrm>
            <a:off x="822960" y="3840480"/>
            <a:ext cx="10543032" cy="1554480"/>
          </a:xfrm>
          <a:prstGeom prst="roundRect">
            <a:avLst>
              <a:gd name="adj" fmla="val 5882"/>
            </a:avLst>
          </a:prstGeom>
          <a:solidFill>
            <a:srgbClr val="2A3B54"/>
          </a:solidFill>
          <a:ln/>
        </p:spPr>
      </p:sp>
      <p:sp>
        <p:nvSpPr>
          <p:cNvPr id="7" name="Text 5"/>
          <p:cNvSpPr/>
          <p:nvPr/>
        </p:nvSpPr>
        <p:spPr>
          <a:xfrm>
            <a:off x="1188720" y="4005072"/>
            <a:ext cx="9811512"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MARGIN NOTE</a:t>
            </a:r>
            <a:endParaRPr lang="en-US" sz="1100" dirty="0"/>
          </a:p>
        </p:txBody>
      </p:sp>
      <p:sp>
        <p:nvSpPr>
          <p:cNvPr id="8" name="Text 6"/>
          <p:cNvSpPr/>
          <p:nvPr/>
        </p:nvSpPr>
        <p:spPr>
          <a:xfrm>
            <a:off x="1188720" y="4297680"/>
            <a:ext cx="9811512" cy="960120"/>
          </a:xfrm>
          <a:prstGeom prst="rect">
            <a:avLst/>
          </a:prstGeom>
          <a:noFill/>
          <a:ln/>
        </p:spPr>
        <p:txBody>
          <a:bodyPr wrap="square" lIns="0" tIns="0" rIns="0" bIns="0" rtlCol="0" anchor="ctr"/>
          <a:lstStyle/>
          <a:p>
            <a:pPr indent="0" marL="0">
              <a:lnSpc>
                <a:spcPct val="115000"/>
              </a:lnSpc>
              <a:buNone/>
            </a:pPr>
            <a:r>
              <a:rPr lang="en-US" sz="1900" dirty="0">
                <a:solidFill>
                  <a:srgbClr val="FFFFFF"/>
                </a:solidFill>
                <a:latin typeface="Calibri" pitchFamily="34" charset="0"/>
                <a:ea typeface="Calibri" pitchFamily="34" charset="-122"/>
                <a:cs typeface="Calibri" pitchFamily="34" charset="-120"/>
              </a:rPr>
              <a:t>In A.A. the word “bottom” is used a lot, but the only true bottom is death. What there is, is different levels of alcoholism that we can get out at.</a:t>
            </a:r>
            <a:endParaRPr lang="en-US" sz="1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Ominous Warning</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Which I failed to heed.</a:t>
            </a:r>
            <a:endParaRPr lang="en-US" sz="1700" dirty="0"/>
          </a:p>
        </p:txBody>
      </p:sp>
      <p:sp>
        <p:nvSpPr>
          <p:cNvPr id="4" name="Shape 2"/>
          <p:cNvSpPr/>
          <p:nvPr/>
        </p:nvSpPr>
        <p:spPr>
          <a:xfrm>
            <a:off x="8869680" y="320040"/>
            <a:ext cx="2770632" cy="960120"/>
          </a:xfrm>
          <a:prstGeom prst="roundRect">
            <a:avLst>
              <a:gd name="adj" fmla="val 9524"/>
            </a:avLst>
          </a:prstGeom>
          <a:solidFill>
            <a:srgbClr val="065A82"/>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BILL’S STORY</a:t>
            </a:r>
            <a:endParaRPr lang="en-US" sz="1700" dirty="0"/>
          </a:p>
          <a:p>
            <a:pPr algn="ctr" indent="0" marL="0">
              <a:buNone/>
            </a:pPr>
            <a:r>
              <a:rPr lang="en-US" sz="1300" dirty="0">
                <a:solidFill>
                  <a:srgbClr val="C7DEEC"/>
                </a:solidFill>
                <a:latin typeface="Calibri" pitchFamily="34" charset="0"/>
                <a:ea typeface="Calibri" pitchFamily="34" charset="-122"/>
                <a:cs typeface="Calibri" pitchFamily="34" charset="-120"/>
              </a:rPr>
              <a:t>p. 1</a:t>
            </a:r>
            <a:endParaRPr lang="en-US" sz="1700" dirty="0"/>
          </a:p>
        </p:txBody>
      </p:sp>
      <p:sp>
        <p:nvSpPr>
          <p:cNvPr id="6" name="Shape 4"/>
          <p:cNvSpPr/>
          <p:nvPr/>
        </p:nvSpPr>
        <p:spPr>
          <a:xfrm>
            <a:off x="548640" y="1417320"/>
            <a:ext cx="11091672" cy="1965960"/>
          </a:xfrm>
          <a:prstGeom prst="roundRect">
            <a:avLst>
              <a:gd name="adj" fmla="val 3721"/>
            </a:avLst>
          </a:prstGeom>
          <a:solidFill>
            <a:srgbClr val="F1F4F7"/>
          </a:solidFill>
          <a:ln/>
        </p:spPr>
      </p:sp>
      <p:sp>
        <p:nvSpPr>
          <p:cNvPr id="7" name="Text 5"/>
          <p:cNvSpPr/>
          <p:nvPr/>
        </p:nvSpPr>
        <p:spPr>
          <a:xfrm>
            <a:off x="914400" y="1417320"/>
            <a:ext cx="7315200" cy="1965960"/>
          </a:xfrm>
          <a:prstGeom prst="rect">
            <a:avLst/>
          </a:prstGeom>
          <a:noFill/>
          <a:ln/>
        </p:spPr>
        <p:txBody>
          <a:bodyPr wrap="square" lIns="0" tIns="0" rIns="0" bIns="0" rtlCol="0" anchor="ctr"/>
          <a:lstStyle/>
          <a:p>
            <a:pPr indent="0" marL="0">
              <a:lnSpc>
                <a:spcPct val="110000"/>
              </a:lnSpc>
              <a:buNone/>
            </a:pPr>
            <a:r>
              <a:rPr lang="en-US" sz="1700" i="1" dirty="0">
                <a:solidFill>
                  <a:srgbClr val="1B2A41"/>
                </a:solidFill>
                <a:latin typeface="Cambria" pitchFamily="34" charset="0"/>
                <a:ea typeface="Cambria" pitchFamily="34" charset="-122"/>
                <a:cs typeface="Cambria" pitchFamily="34" charset="-120"/>
              </a:rPr>
              <a:t>“Here lies a Hampshire Grenadier</a:t>
            </a:r>
            <a:endParaRPr lang="en-US" sz="1700" dirty="0"/>
          </a:p>
          <a:p>
            <a:pPr indent="0" marL="0">
              <a:lnSpc>
                <a:spcPct val="110000"/>
              </a:lnSpc>
              <a:buNone/>
            </a:pPr>
            <a:r>
              <a:rPr lang="en-US" sz="1700" i="1" dirty="0">
                <a:solidFill>
                  <a:srgbClr val="1B2A41"/>
                </a:solidFill>
                <a:latin typeface="Cambria" pitchFamily="34" charset="0"/>
                <a:ea typeface="Cambria" pitchFamily="34" charset="-122"/>
                <a:cs typeface="Cambria" pitchFamily="34" charset="-120"/>
              </a:rPr>
              <a:t>Who caught his death</a:t>
            </a:r>
            <a:endParaRPr lang="en-US" sz="1700" dirty="0"/>
          </a:p>
          <a:p>
            <a:pPr indent="0" marL="0">
              <a:lnSpc>
                <a:spcPct val="110000"/>
              </a:lnSpc>
              <a:buNone/>
            </a:pPr>
            <a:r>
              <a:rPr lang="en-US" sz="1700" i="1" dirty="0">
                <a:solidFill>
                  <a:srgbClr val="1B2A41"/>
                </a:solidFill>
                <a:latin typeface="Cambria" pitchFamily="34" charset="0"/>
                <a:ea typeface="Cambria" pitchFamily="34" charset="-122"/>
                <a:cs typeface="Cambria" pitchFamily="34" charset="-120"/>
              </a:rPr>
              <a:t>Drinking cold small beer.</a:t>
            </a:r>
            <a:endParaRPr lang="en-US" sz="1700" dirty="0"/>
          </a:p>
          <a:p>
            <a:pPr indent="0" marL="0">
              <a:lnSpc>
                <a:spcPct val="110000"/>
              </a:lnSpc>
              <a:buNone/>
            </a:pPr>
            <a:r>
              <a:rPr lang="en-US" sz="1700" i="1" dirty="0">
                <a:solidFill>
                  <a:srgbClr val="1B2A41"/>
                </a:solidFill>
                <a:latin typeface="Cambria" pitchFamily="34" charset="0"/>
                <a:ea typeface="Cambria" pitchFamily="34" charset="-122"/>
                <a:cs typeface="Cambria" pitchFamily="34" charset="-120"/>
              </a:rPr>
              <a:t>A good soldier is ne’er forgot</a:t>
            </a:r>
            <a:endParaRPr lang="en-US" sz="1700" dirty="0"/>
          </a:p>
          <a:p>
            <a:pPr indent="0" marL="0">
              <a:lnSpc>
                <a:spcPct val="110000"/>
              </a:lnSpc>
              <a:buNone/>
            </a:pPr>
            <a:r>
              <a:rPr lang="en-US" sz="1700" i="1" dirty="0">
                <a:solidFill>
                  <a:srgbClr val="1B2A41"/>
                </a:solidFill>
                <a:latin typeface="Cambria" pitchFamily="34" charset="0"/>
                <a:ea typeface="Cambria" pitchFamily="34" charset="-122"/>
                <a:cs typeface="Cambria" pitchFamily="34" charset="-120"/>
              </a:rPr>
              <a:t>Whether he dieth by musket</a:t>
            </a:r>
            <a:endParaRPr lang="en-US" sz="1700" dirty="0"/>
          </a:p>
          <a:p>
            <a:pPr indent="0" marL="0">
              <a:lnSpc>
                <a:spcPct val="110000"/>
              </a:lnSpc>
              <a:buNone/>
            </a:pPr>
            <a:r>
              <a:rPr lang="en-US" sz="1700" i="1" dirty="0">
                <a:solidFill>
                  <a:srgbClr val="1B2A41"/>
                </a:solidFill>
                <a:latin typeface="Cambria" pitchFamily="34" charset="0"/>
                <a:ea typeface="Cambria" pitchFamily="34" charset="-122"/>
                <a:cs typeface="Cambria" pitchFamily="34" charset="-120"/>
              </a:rPr>
              <a:t>Or by </a:t>
            </a:r>
            <a:pPr indent="0" marL="0">
              <a:lnSpc>
                <a:spcPct val="110000"/>
              </a:lnSpc>
              <a:buNone/>
            </a:pPr>
            <a:r>
              <a:rPr lang="en-US" sz="1700" b="1" i="1" dirty="0">
                <a:solidFill>
                  <a:srgbClr val="065A82"/>
                </a:solidFill>
                <a:latin typeface="Cambria" pitchFamily="34" charset="0"/>
                <a:ea typeface="Cambria" pitchFamily="34" charset="-122"/>
                <a:cs typeface="Cambria" pitchFamily="34" charset="-120"/>
              </a:rPr>
              <a:t>pot</a:t>
            </a:r>
            <a:pPr indent="0" marL="0">
              <a:lnSpc>
                <a:spcPct val="110000"/>
              </a:lnSpc>
              <a:buNone/>
            </a:pPr>
            <a:r>
              <a:rPr lang="en-US" sz="1700" i="1" dirty="0">
                <a:solidFill>
                  <a:srgbClr val="1B2A41"/>
                </a:solidFill>
                <a:latin typeface="Cambria" pitchFamily="34" charset="0"/>
                <a:ea typeface="Cambria" pitchFamily="34" charset="-122"/>
                <a:cs typeface="Cambria" pitchFamily="34" charset="-120"/>
              </a:rPr>
              <a:t>.”</a:t>
            </a:r>
            <a:endParaRPr lang="en-US" sz="1700" dirty="0"/>
          </a:p>
        </p:txBody>
      </p:sp>
      <p:sp>
        <p:nvSpPr>
          <p:cNvPr id="8" name="Text 6"/>
          <p:cNvSpPr/>
          <p:nvPr/>
        </p:nvSpPr>
        <p:spPr>
          <a:xfrm>
            <a:off x="8503920" y="1417320"/>
            <a:ext cx="2788920" cy="1965960"/>
          </a:xfrm>
          <a:prstGeom prst="rect">
            <a:avLst/>
          </a:prstGeom>
          <a:noFill/>
          <a:ln/>
        </p:spPr>
        <p:txBody>
          <a:bodyPr wrap="square" lIns="0" tIns="0" rIns="0" bIns="0" rtlCol="0" anchor="ctr"/>
          <a:lstStyle/>
          <a:p>
            <a:pPr algn="r" indent="0" marL="0">
              <a:buNone/>
            </a:pPr>
            <a:r>
              <a:rPr lang="en-US" sz="1100" b="1" spc="200" kern="0" dirty="0">
                <a:solidFill>
                  <a:srgbClr val="6B7A8C"/>
                </a:solidFill>
                <a:latin typeface="Calibri" pitchFamily="34" charset="0"/>
                <a:ea typeface="Calibri" pitchFamily="34" charset="-122"/>
                <a:cs typeface="Calibri" pitchFamily="34" charset="-120"/>
              </a:rPr>
              <a:t>“POT”</a:t>
            </a:r>
            <a:endParaRPr lang="en-US" sz="1100" dirty="0"/>
          </a:p>
          <a:p>
            <a:pPr algn="r" indent="0" marL="0">
              <a:buNone/>
            </a:pPr>
            <a:r>
              <a:rPr lang="en-US" sz="1500" dirty="0">
                <a:solidFill>
                  <a:srgbClr val="1B2A41"/>
                </a:solidFill>
                <a:latin typeface="Calibri" pitchFamily="34" charset="0"/>
                <a:ea typeface="Calibri" pitchFamily="34" charset="-122"/>
                <a:cs typeface="Calibri" pitchFamily="34" charset="-120"/>
              </a:rPr>
              <a:t>A pail — a vessel of drink.</a:t>
            </a:r>
            <a:endParaRPr lang="en-US" sz="1100" dirty="0"/>
          </a:p>
        </p:txBody>
      </p:sp>
      <p:sp>
        <p:nvSpPr>
          <p:cNvPr id="9" name="Shape 7"/>
          <p:cNvSpPr/>
          <p:nvPr/>
        </p:nvSpPr>
        <p:spPr>
          <a:xfrm>
            <a:off x="548640" y="3611880"/>
            <a:ext cx="11091672" cy="1828800"/>
          </a:xfrm>
          <a:prstGeom prst="roundRect">
            <a:avLst>
              <a:gd name="adj" fmla="val 4000"/>
            </a:avLst>
          </a:prstGeom>
          <a:solidFill>
            <a:srgbClr val="E2EDF4"/>
          </a:solidFill>
          <a:ln/>
        </p:spPr>
      </p:sp>
      <p:sp>
        <p:nvSpPr>
          <p:cNvPr id="10" name="Text 8"/>
          <p:cNvSpPr/>
          <p:nvPr/>
        </p:nvSpPr>
        <p:spPr>
          <a:xfrm>
            <a:off x="914400" y="3611880"/>
            <a:ext cx="10360152" cy="1828800"/>
          </a:xfrm>
          <a:prstGeom prst="rect">
            <a:avLst/>
          </a:prstGeom>
          <a:noFill/>
          <a:ln/>
        </p:spPr>
        <p:txBody>
          <a:bodyPr wrap="square" lIns="0" tIns="0" rIns="0" bIns="0" rtlCol="0" anchor="ctr"/>
          <a:lstStyle/>
          <a:p>
            <a:pPr indent="0" marL="0">
              <a:lnSpc>
                <a:spcPct val="115000"/>
              </a:lnSpc>
              <a:buNone/>
            </a:pPr>
            <a:r>
              <a:rPr lang="en-US" sz="1800" b="1" dirty="0">
                <a:solidFill>
                  <a:srgbClr val="065A82"/>
                </a:solidFill>
                <a:latin typeface="Calibri" pitchFamily="34" charset="0"/>
                <a:ea typeface="Calibri" pitchFamily="34" charset="-122"/>
                <a:cs typeface="Calibri" pitchFamily="34" charset="-120"/>
              </a:rPr>
              <a:t>Ominous warning—which I failed to heed.</a:t>
            </a:r>
            <a:pPr indent="0" marL="0">
              <a:lnSpc>
                <a:spcPct val="115000"/>
              </a:lnSpc>
              <a:buNone/>
            </a:pPr>
            <a:r>
              <a:rPr lang="en-US" sz="1800" dirty="0">
                <a:solidFill>
                  <a:srgbClr val="1B2A41"/>
                </a:solidFill>
                <a:latin typeface="Calibri" pitchFamily="34" charset="0"/>
                <a:ea typeface="Calibri" pitchFamily="34" charset="-122"/>
                <a:cs typeface="Calibri" pitchFamily="34" charset="-120"/>
              </a:rPr>
              <a:t> Twenty-two, and a veteran of foreign wars, I went home at last. I fancied myself a leader, for had not the men of my battery given me a special token of appreciation? My talent for leadership, I imagined, would place me at the head of vast enterprises which I would manage with the utmost assurance.</a:t>
            </a:r>
            <a:endParaRPr lang="en-US" sz="1800" dirty="0"/>
          </a:p>
        </p:txBody>
      </p:sp>
      <p:sp>
        <p:nvSpPr>
          <p:cNvPr id="11" name="Text 9"/>
          <p:cNvSpPr/>
          <p:nvPr/>
        </p:nvSpPr>
        <p:spPr>
          <a:xfrm>
            <a:off x="548640" y="562356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“Bill’s Story,” p. 1.</a:t>
            </a:r>
            <a:endParaRPr lang="en-US" sz="1200" dirty="0"/>
          </a:p>
        </p:txBody>
      </p:sp>
      <p:sp>
        <p:nvSpPr>
          <p:cNvPr id="12" name="Text 10"/>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The Drive for Success</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Wall Street, and a law course.</a:t>
            </a:r>
            <a:endParaRPr lang="en-US" sz="1700" dirty="0"/>
          </a:p>
        </p:txBody>
      </p:sp>
      <p:sp>
        <p:nvSpPr>
          <p:cNvPr id="4" name="Shape 2"/>
          <p:cNvSpPr/>
          <p:nvPr/>
        </p:nvSpPr>
        <p:spPr>
          <a:xfrm>
            <a:off x="8869680" y="320040"/>
            <a:ext cx="2770632" cy="960120"/>
          </a:xfrm>
          <a:prstGeom prst="roundRect">
            <a:avLst>
              <a:gd name="adj" fmla="val 9524"/>
            </a:avLst>
          </a:prstGeom>
          <a:solidFill>
            <a:srgbClr val="065A82"/>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BILL’S STORY</a:t>
            </a:r>
            <a:endParaRPr lang="en-US" sz="1700" dirty="0"/>
          </a:p>
          <a:p>
            <a:pPr algn="ctr" indent="0" marL="0">
              <a:buNone/>
            </a:pPr>
            <a:r>
              <a:rPr lang="en-US" sz="1300" dirty="0">
                <a:solidFill>
                  <a:srgbClr val="C7DEEC"/>
                </a:solidFill>
                <a:latin typeface="Calibri" pitchFamily="34" charset="0"/>
                <a:ea typeface="Calibri" pitchFamily="34" charset="-122"/>
                <a:cs typeface="Calibri" pitchFamily="34" charset="-120"/>
              </a:rPr>
              <a:t>p. 2</a:t>
            </a:r>
            <a:endParaRPr lang="en-US" sz="1700" dirty="0"/>
          </a:p>
        </p:txBody>
      </p:sp>
      <p:sp>
        <p:nvSpPr>
          <p:cNvPr id="6" name="Shape 4"/>
          <p:cNvSpPr/>
          <p:nvPr/>
        </p:nvSpPr>
        <p:spPr>
          <a:xfrm>
            <a:off x="548640" y="1463040"/>
            <a:ext cx="11091672" cy="1051560"/>
          </a:xfrm>
          <a:prstGeom prst="roundRect">
            <a:avLst>
              <a:gd name="adj" fmla="val 6957"/>
            </a:avLst>
          </a:prstGeom>
          <a:solidFill>
            <a:srgbClr val="E2EDF4"/>
          </a:solidFill>
          <a:ln/>
        </p:spPr>
      </p:sp>
      <p:sp>
        <p:nvSpPr>
          <p:cNvPr id="7" name="Text 5"/>
          <p:cNvSpPr/>
          <p:nvPr/>
        </p:nvSpPr>
        <p:spPr>
          <a:xfrm>
            <a:off x="914400" y="1463040"/>
            <a:ext cx="10360152" cy="105156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The drive for success was on. My work took me about Wall Street and little by little I became interested in the market.</a:t>
            </a:r>
            <a:endParaRPr lang="en-US" sz="1900" dirty="0"/>
          </a:p>
        </p:txBody>
      </p:sp>
      <p:sp>
        <p:nvSpPr>
          <p:cNvPr id="8" name="Shape 6"/>
          <p:cNvSpPr/>
          <p:nvPr/>
        </p:nvSpPr>
        <p:spPr>
          <a:xfrm>
            <a:off x="548640" y="2697480"/>
            <a:ext cx="11091672" cy="1051560"/>
          </a:xfrm>
          <a:prstGeom prst="roundRect">
            <a:avLst>
              <a:gd name="adj" fmla="val 6957"/>
            </a:avLst>
          </a:prstGeom>
          <a:solidFill>
            <a:srgbClr val="EAF1E6"/>
          </a:solidFill>
          <a:ln/>
        </p:spPr>
      </p:sp>
      <p:sp>
        <p:nvSpPr>
          <p:cNvPr id="9" name="Text 7"/>
          <p:cNvSpPr/>
          <p:nvPr/>
        </p:nvSpPr>
        <p:spPr>
          <a:xfrm>
            <a:off x="914400" y="2697480"/>
            <a:ext cx="10360152" cy="105156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I nearly failed my law course. At one of the finals I was too drunk to think or write.</a:t>
            </a:r>
            <a:endParaRPr lang="en-US" sz="1900" dirty="0"/>
          </a:p>
        </p:txBody>
      </p:sp>
      <p:sp>
        <p:nvSpPr>
          <p:cNvPr id="10" name="Shape 8"/>
          <p:cNvSpPr/>
          <p:nvPr/>
        </p:nvSpPr>
        <p:spPr>
          <a:xfrm>
            <a:off x="548640" y="3931920"/>
            <a:ext cx="11091672" cy="1417320"/>
          </a:xfrm>
          <a:prstGeom prst="roundRect">
            <a:avLst>
              <a:gd name="adj" fmla="val 5161"/>
            </a:avLst>
          </a:prstGeom>
          <a:solidFill>
            <a:srgbClr val="EAF1E6"/>
          </a:solidFill>
          <a:ln/>
        </p:spPr>
      </p:sp>
      <p:sp>
        <p:nvSpPr>
          <p:cNvPr id="11" name="Text 9"/>
          <p:cNvSpPr/>
          <p:nvPr/>
        </p:nvSpPr>
        <p:spPr>
          <a:xfrm>
            <a:off x="914400" y="3931920"/>
            <a:ext cx="10360152" cy="141732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Though my drinking was not yet continuous, it disturbed my wife. We had long talks when I would still her forebodings by telling her that </a:t>
            </a:r>
            <a:pPr indent="0" marL="0">
              <a:lnSpc>
                <a:spcPct val="115000"/>
              </a:lnSpc>
              <a:buNone/>
            </a:pPr>
            <a:r>
              <a:rPr lang="en-US" sz="1900" b="1" dirty="0">
                <a:solidFill>
                  <a:srgbClr val="2C5F2D"/>
                </a:solidFill>
                <a:latin typeface="Calibri" pitchFamily="34" charset="0"/>
                <a:ea typeface="Calibri" pitchFamily="34" charset="-122"/>
                <a:cs typeface="Calibri" pitchFamily="34" charset="-120"/>
              </a:rPr>
              <a:t>men of genius conceived their best projects when drunk</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a:t>
            </a:r>
            <a:endParaRPr lang="en-US" sz="1900" dirty="0"/>
          </a:p>
        </p:txBody>
      </p:sp>
      <p:sp>
        <p:nvSpPr>
          <p:cNvPr id="12" name="Text 10"/>
          <p:cNvSpPr/>
          <p:nvPr/>
        </p:nvSpPr>
        <p:spPr>
          <a:xfrm>
            <a:off x="548640" y="562356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“Bill’s Story,” p. 2.</a:t>
            </a:r>
            <a:endParaRPr lang="en-US" sz="1200" dirty="0"/>
          </a:p>
        </p:txBody>
      </p:sp>
      <p:sp>
        <p:nvSpPr>
          <p:cNvPr id="13" name="Text 11"/>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Forging the Weapon</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Drink and speculation.</a:t>
            </a:r>
            <a:endParaRPr lang="en-US" sz="1700" dirty="0"/>
          </a:p>
        </p:txBody>
      </p:sp>
      <p:sp>
        <p:nvSpPr>
          <p:cNvPr id="4" name="Shape 2"/>
          <p:cNvSpPr/>
          <p:nvPr/>
        </p:nvSpPr>
        <p:spPr>
          <a:xfrm>
            <a:off x="8869680" y="320040"/>
            <a:ext cx="2770632" cy="960120"/>
          </a:xfrm>
          <a:prstGeom prst="roundRect">
            <a:avLst>
              <a:gd name="adj" fmla="val 9524"/>
            </a:avLst>
          </a:prstGeom>
          <a:solidFill>
            <a:srgbClr val="2C5F2D"/>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BILL’S STORY</a:t>
            </a:r>
            <a:endParaRPr lang="en-US" sz="1700" dirty="0"/>
          </a:p>
          <a:p>
            <a:pPr algn="ctr" indent="0" marL="0">
              <a:buNone/>
            </a:pPr>
            <a:r>
              <a:rPr lang="en-US" sz="1300" dirty="0">
                <a:solidFill>
                  <a:srgbClr val="D5E3CE"/>
                </a:solidFill>
                <a:latin typeface="Calibri" pitchFamily="34" charset="0"/>
                <a:ea typeface="Calibri" pitchFamily="34" charset="-122"/>
                <a:cs typeface="Calibri" pitchFamily="34" charset="-120"/>
              </a:rPr>
              <a:t>p. 2</a:t>
            </a:r>
            <a:endParaRPr lang="en-US" sz="1700" dirty="0"/>
          </a:p>
        </p:txBody>
      </p:sp>
      <p:sp>
        <p:nvSpPr>
          <p:cNvPr id="6" name="Shape 4"/>
          <p:cNvSpPr/>
          <p:nvPr/>
        </p:nvSpPr>
        <p:spPr>
          <a:xfrm>
            <a:off x="548640" y="1417320"/>
            <a:ext cx="11091672" cy="1005840"/>
          </a:xfrm>
          <a:prstGeom prst="roundRect">
            <a:avLst>
              <a:gd name="adj" fmla="val 7273"/>
            </a:avLst>
          </a:prstGeom>
          <a:solidFill>
            <a:srgbClr val="E2EDF4"/>
          </a:solidFill>
          <a:ln/>
        </p:spPr>
      </p:sp>
      <p:sp>
        <p:nvSpPr>
          <p:cNvPr id="7" name="Text 5"/>
          <p:cNvSpPr/>
          <p:nvPr/>
        </p:nvSpPr>
        <p:spPr>
          <a:xfrm>
            <a:off x="914400" y="1417320"/>
            <a:ext cx="7818120" cy="1005840"/>
          </a:xfrm>
          <a:prstGeom prst="rect">
            <a:avLst/>
          </a:prstGeom>
          <a:noFill/>
          <a:ln/>
        </p:spPr>
        <p:txBody>
          <a:bodyPr wrap="square" lIns="0" tIns="0" rIns="0" bIns="0" rtlCol="0" anchor="ctr"/>
          <a:lstStyle/>
          <a:p>
            <a:pPr indent="0" marL="0">
              <a:lnSpc>
                <a:spcPct val="115000"/>
              </a:lnSpc>
              <a:buNone/>
            </a:pPr>
            <a:r>
              <a:rPr lang="en-US" sz="1700" dirty="0">
                <a:solidFill>
                  <a:srgbClr val="1B2A41"/>
                </a:solidFill>
                <a:latin typeface="Calibri" pitchFamily="34" charset="0"/>
                <a:ea typeface="Calibri" pitchFamily="34" charset="-122"/>
                <a:cs typeface="Calibri" pitchFamily="34" charset="-120"/>
              </a:rPr>
              <a:t>By the time I had completed the course, I knew the law was not for me. The inviting maelstrom of Wall Street had me in its grip.</a:t>
            </a:r>
            <a:endParaRPr lang="en-US" sz="1700" dirty="0"/>
          </a:p>
        </p:txBody>
      </p:sp>
      <p:sp>
        <p:nvSpPr>
          <p:cNvPr id="8" name="Text 6"/>
          <p:cNvSpPr/>
          <p:nvPr/>
        </p:nvSpPr>
        <p:spPr>
          <a:xfrm>
            <a:off x="8915400" y="1417320"/>
            <a:ext cx="2377440" cy="1005840"/>
          </a:xfrm>
          <a:prstGeom prst="rect">
            <a:avLst/>
          </a:prstGeom>
          <a:noFill/>
          <a:ln/>
        </p:spPr>
        <p:txBody>
          <a:bodyPr wrap="square" lIns="0" tIns="0" rIns="0" bIns="0" rtlCol="0" anchor="ctr"/>
          <a:lstStyle/>
          <a:p>
            <a:pPr algn="r" indent="0" marL="0">
              <a:lnSpc>
                <a:spcPct val="110000"/>
              </a:lnSpc>
              <a:buNone/>
            </a:pPr>
            <a:r>
              <a:rPr lang="en-US" sz="1250" b="1" dirty="0">
                <a:solidFill>
                  <a:srgbClr val="065A82"/>
                </a:solidFill>
                <a:latin typeface="Calibri" pitchFamily="34" charset="0"/>
                <a:ea typeface="Calibri" pitchFamily="34" charset="-122"/>
                <a:cs typeface="Calibri" pitchFamily="34" charset="-120"/>
              </a:rPr>
              <a:t>Level —</a:t>
            </a:r>
            <a:endParaRPr lang="en-US" sz="1250" dirty="0"/>
          </a:p>
          <a:p>
            <a:pPr algn="r" indent="0" marL="0">
              <a:lnSpc>
                <a:spcPct val="110000"/>
              </a:lnSpc>
              <a:buNone/>
            </a:pPr>
            <a:r>
              <a:rPr lang="en-US" sz="1250" b="1" dirty="0">
                <a:solidFill>
                  <a:srgbClr val="065A82"/>
                </a:solidFill>
                <a:latin typeface="Calibri" pitchFamily="34" charset="0"/>
                <a:ea typeface="Calibri" pitchFamily="34" charset="-122"/>
                <a:cs typeface="Calibri" pitchFamily="34" charset="-120"/>
              </a:rPr>
              <a:t>quitting projects</a:t>
            </a:r>
            <a:endParaRPr lang="en-US" sz="1250" dirty="0"/>
          </a:p>
        </p:txBody>
      </p:sp>
      <p:sp>
        <p:nvSpPr>
          <p:cNvPr id="9" name="Shape 7"/>
          <p:cNvSpPr/>
          <p:nvPr/>
        </p:nvSpPr>
        <p:spPr>
          <a:xfrm>
            <a:off x="548640" y="2514600"/>
            <a:ext cx="11091672" cy="1234440"/>
          </a:xfrm>
          <a:prstGeom prst="roundRect">
            <a:avLst>
              <a:gd name="adj" fmla="val 5926"/>
            </a:avLst>
          </a:prstGeom>
          <a:solidFill>
            <a:srgbClr val="EAF1E6"/>
          </a:solidFill>
          <a:ln/>
        </p:spPr>
      </p:sp>
      <p:sp>
        <p:nvSpPr>
          <p:cNvPr id="10" name="Text 8"/>
          <p:cNvSpPr/>
          <p:nvPr/>
        </p:nvSpPr>
        <p:spPr>
          <a:xfrm>
            <a:off x="914400" y="2514600"/>
            <a:ext cx="10360152" cy="1234440"/>
          </a:xfrm>
          <a:prstGeom prst="rect">
            <a:avLst/>
          </a:prstGeom>
          <a:noFill/>
          <a:ln/>
        </p:spPr>
        <p:txBody>
          <a:bodyPr wrap="square" lIns="0" tIns="0" rIns="0" bIns="0" rtlCol="0" anchor="ctr"/>
          <a:lstStyle/>
          <a:p>
            <a:pPr indent="0" marL="0">
              <a:lnSpc>
                <a:spcPct val="115000"/>
              </a:lnSpc>
              <a:buNone/>
            </a:pPr>
            <a:r>
              <a:rPr lang="en-US" sz="1700" dirty="0">
                <a:solidFill>
                  <a:srgbClr val="1B2A41"/>
                </a:solidFill>
                <a:latin typeface="Calibri" pitchFamily="34" charset="0"/>
                <a:ea typeface="Calibri" pitchFamily="34" charset="-122"/>
                <a:cs typeface="Calibri" pitchFamily="34" charset="-120"/>
              </a:rPr>
              <a:t>Out of this alloy of drink and speculation, I commenced to </a:t>
            </a:r>
            <a:pPr indent="0" marL="0">
              <a:lnSpc>
                <a:spcPct val="115000"/>
              </a:lnSpc>
              <a:buNone/>
            </a:pPr>
            <a:r>
              <a:rPr lang="en-US" sz="1700" b="1" dirty="0">
                <a:solidFill>
                  <a:srgbClr val="2C5F2D"/>
                </a:solidFill>
                <a:latin typeface="Calibri" pitchFamily="34" charset="0"/>
                <a:ea typeface="Calibri" pitchFamily="34" charset="-122"/>
                <a:cs typeface="Calibri" pitchFamily="34" charset="-120"/>
              </a:rPr>
              <a:t>forge the weapon that one day would turn in its flight like a boomerang and all but cut me to ribbons</a:t>
            </a:r>
            <a:pPr indent="0" marL="0">
              <a:lnSpc>
                <a:spcPct val="115000"/>
              </a:lnSpc>
              <a:buNone/>
            </a:pPr>
            <a:r>
              <a:rPr lang="en-US" sz="1700" dirty="0">
                <a:solidFill>
                  <a:srgbClr val="1B2A41"/>
                </a:solidFill>
                <a:latin typeface="Calibri" pitchFamily="34" charset="0"/>
                <a:ea typeface="Calibri" pitchFamily="34" charset="-122"/>
                <a:cs typeface="Calibri" pitchFamily="34" charset="-120"/>
              </a:rPr>
              <a:t>.</a:t>
            </a:r>
            <a:endParaRPr lang="en-US" sz="1700" dirty="0"/>
          </a:p>
        </p:txBody>
      </p:sp>
      <p:sp>
        <p:nvSpPr>
          <p:cNvPr id="11" name="Shape 9"/>
          <p:cNvSpPr/>
          <p:nvPr/>
        </p:nvSpPr>
        <p:spPr>
          <a:xfrm>
            <a:off x="548640" y="3840480"/>
            <a:ext cx="11091672" cy="822960"/>
          </a:xfrm>
          <a:prstGeom prst="roundRect">
            <a:avLst>
              <a:gd name="adj" fmla="val 8889"/>
            </a:avLst>
          </a:prstGeom>
          <a:solidFill>
            <a:srgbClr val="E2EDF4"/>
          </a:solidFill>
          <a:ln/>
        </p:spPr>
      </p:sp>
      <p:sp>
        <p:nvSpPr>
          <p:cNvPr id="12" name="Text 10"/>
          <p:cNvSpPr/>
          <p:nvPr/>
        </p:nvSpPr>
        <p:spPr>
          <a:xfrm>
            <a:off x="914400" y="3840480"/>
            <a:ext cx="7818120" cy="822960"/>
          </a:xfrm>
          <a:prstGeom prst="rect">
            <a:avLst/>
          </a:prstGeom>
          <a:noFill/>
          <a:ln/>
        </p:spPr>
        <p:txBody>
          <a:bodyPr wrap="square" lIns="0" tIns="0" rIns="0" bIns="0" rtlCol="0" anchor="ctr"/>
          <a:lstStyle/>
          <a:p>
            <a:pPr indent="0" marL="0">
              <a:lnSpc>
                <a:spcPct val="115000"/>
              </a:lnSpc>
              <a:buNone/>
            </a:pPr>
            <a:r>
              <a:rPr lang="en-US" sz="1700" b="1" dirty="0">
                <a:solidFill>
                  <a:srgbClr val="1B2A41"/>
                </a:solidFill>
                <a:latin typeface="Calibri" pitchFamily="34" charset="0"/>
                <a:ea typeface="Calibri" pitchFamily="34" charset="-122"/>
                <a:cs typeface="Calibri" pitchFamily="34" charset="-120"/>
              </a:rPr>
              <a:t>I saved $1,000.</a:t>
            </a:r>
            <a:endParaRPr lang="en-US" sz="1700" dirty="0"/>
          </a:p>
        </p:txBody>
      </p:sp>
      <p:sp>
        <p:nvSpPr>
          <p:cNvPr id="13" name="Text 11"/>
          <p:cNvSpPr/>
          <p:nvPr/>
        </p:nvSpPr>
        <p:spPr>
          <a:xfrm>
            <a:off x="8915400" y="3840480"/>
            <a:ext cx="2377440" cy="822960"/>
          </a:xfrm>
          <a:prstGeom prst="rect">
            <a:avLst/>
          </a:prstGeom>
          <a:noFill/>
          <a:ln/>
        </p:spPr>
        <p:txBody>
          <a:bodyPr wrap="square" lIns="0" tIns="0" rIns="0" bIns="0" rtlCol="0" anchor="ctr"/>
          <a:lstStyle/>
          <a:p>
            <a:pPr algn="r" indent="0" marL="0">
              <a:lnSpc>
                <a:spcPct val="110000"/>
              </a:lnSpc>
              <a:buNone/>
            </a:pPr>
            <a:r>
              <a:rPr lang="en-US" sz="1250" b="1" dirty="0">
                <a:solidFill>
                  <a:srgbClr val="065A82"/>
                </a:solidFill>
                <a:latin typeface="Calibri" pitchFamily="34" charset="0"/>
                <a:ea typeface="Calibri" pitchFamily="34" charset="-122"/>
                <a:cs typeface="Calibri" pitchFamily="34" charset="-120"/>
              </a:rPr>
              <a:t>Some people’s</a:t>
            </a:r>
            <a:endParaRPr lang="en-US" sz="1250" dirty="0"/>
          </a:p>
          <a:p>
            <a:pPr algn="r" indent="0" marL="0">
              <a:lnSpc>
                <a:spcPct val="110000"/>
              </a:lnSpc>
              <a:buNone/>
            </a:pPr>
            <a:r>
              <a:rPr lang="en-US" sz="1250" b="1" dirty="0">
                <a:solidFill>
                  <a:srgbClr val="065A82"/>
                </a:solidFill>
                <a:latin typeface="Calibri" pitchFamily="34" charset="0"/>
                <a:ea typeface="Calibri" pitchFamily="34" charset="-122"/>
                <a:cs typeface="Calibri" pitchFamily="34" charset="-120"/>
              </a:rPr>
              <a:t>yearly income</a:t>
            </a:r>
            <a:endParaRPr lang="en-US" sz="1250" dirty="0"/>
          </a:p>
        </p:txBody>
      </p:sp>
      <p:sp>
        <p:nvSpPr>
          <p:cNvPr id="14" name="Shape 12"/>
          <p:cNvSpPr/>
          <p:nvPr/>
        </p:nvSpPr>
        <p:spPr>
          <a:xfrm>
            <a:off x="548640" y="4754880"/>
            <a:ext cx="11091672" cy="960120"/>
          </a:xfrm>
          <a:prstGeom prst="roundRect">
            <a:avLst>
              <a:gd name="adj" fmla="val 7619"/>
            </a:avLst>
          </a:prstGeom>
          <a:solidFill>
            <a:srgbClr val="E2EDF4"/>
          </a:solidFill>
          <a:ln/>
        </p:spPr>
      </p:sp>
      <p:sp>
        <p:nvSpPr>
          <p:cNvPr id="15" name="Text 13"/>
          <p:cNvSpPr/>
          <p:nvPr/>
        </p:nvSpPr>
        <p:spPr>
          <a:xfrm>
            <a:off x="914400" y="4754880"/>
            <a:ext cx="7818120" cy="960120"/>
          </a:xfrm>
          <a:prstGeom prst="rect">
            <a:avLst/>
          </a:prstGeom>
          <a:noFill/>
          <a:ln/>
        </p:spPr>
        <p:txBody>
          <a:bodyPr wrap="square" lIns="0" tIns="0" rIns="0" bIns="0" rtlCol="0" anchor="ctr"/>
          <a:lstStyle/>
          <a:p>
            <a:pPr indent="0" marL="0">
              <a:lnSpc>
                <a:spcPct val="115000"/>
              </a:lnSpc>
              <a:buNone/>
            </a:pPr>
            <a:r>
              <a:rPr lang="en-US" sz="1700" dirty="0">
                <a:solidFill>
                  <a:srgbClr val="1B2A41"/>
                </a:solidFill>
                <a:latin typeface="Calibri" pitchFamily="34" charset="0"/>
                <a:ea typeface="Calibri" pitchFamily="34" charset="-122"/>
                <a:cs typeface="Calibri" pitchFamily="34" charset="-120"/>
              </a:rPr>
              <a:t>I failed to persuade my broker friends to send me out looking over factories and managements.</a:t>
            </a:r>
            <a:endParaRPr lang="en-US" sz="1700" dirty="0"/>
          </a:p>
        </p:txBody>
      </p:sp>
      <p:sp>
        <p:nvSpPr>
          <p:cNvPr id="16" name="Text 14"/>
          <p:cNvSpPr/>
          <p:nvPr/>
        </p:nvSpPr>
        <p:spPr>
          <a:xfrm>
            <a:off x="8915400" y="4754880"/>
            <a:ext cx="2377440" cy="960120"/>
          </a:xfrm>
          <a:prstGeom prst="rect">
            <a:avLst/>
          </a:prstGeom>
          <a:noFill/>
          <a:ln/>
        </p:spPr>
        <p:txBody>
          <a:bodyPr wrap="square" lIns="0" tIns="0" rIns="0" bIns="0" rtlCol="0" anchor="ctr"/>
          <a:lstStyle/>
          <a:p>
            <a:pPr algn="r" indent="0" marL="0">
              <a:lnSpc>
                <a:spcPct val="110000"/>
              </a:lnSpc>
              <a:buNone/>
            </a:pPr>
            <a:r>
              <a:rPr lang="en-US" sz="1250" b="1" dirty="0">
                <a:solidFill>
                  <a:srgbClr val="065A82"/>
                </a:solidFill>
                <a:latin typeface="Calibri" pitchFamily="34" charset="0"/>
                <a:ea typeface="Calibri" pitchFamily="34" charset="-122"/>
                <a:cs typeface="Calibri" pitchFamily="34" charset="-120"/>
              </a:rPr>
              <a:t>First to write</a:t>
            </a:r>
            <a:endParaRPr lang="en-US" sz="1250" dirty="0"/>
          </a:p>
          <a:p>
            <a:pPr algn="r" indent="0" marL="0">
              <a:lnSpc>
                <a:spcPct val="110000"/>
              </a:lnSpc>
              <a:buNone/>
            </a:pPr>
            <a:r>
              <a:rPr lang="en-US" sz="1250" b="1" dirty="0">
                <a:solidFill>
                  <a:srgbClr val="065A82"/>
                </a:solidFill>
                <a:latin typeface="Calibri" pitchFamily="34" charset="0"/>
                <a:ea typeface="Calibri" pitchFamily="34" charset="-122"/>
                <a:cs typeface="Calibri" pitchFamily="34" charset="-120"/>
              </a:rPr>
              <a:t>a prospectus</a:t>
            </a:r>
            <a:endParaRPr lang="en-US" sz="1250" dirty="0"/>
          </a:p>
        </p:txBody>
      </p:sp>
      <p:sp>
        <p:nvSpPr>
          <p:cNvPr id="17" name="Text 15"/>
          <p:cNvSpPr/>
          <p:nvPr/>
        </p:nvSpPr>
        <p:spPr>
          <a:xfrm>
            <a:off x="548640" y="585216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“Bill’s Story,” p. 2.</a:t>
            </a:r>
            <a:endParaRPr lang="en-US" sz="1200" dirty="0"/>
          </a:p>
        </p:txBody>
      </p:sp>
      <p:sp>
        <p:nvSpPr>
          <p:cNvPr id="18" name="Text 16"/>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I Had Arrived</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The levels, one after another.</a:t>
            </a:r>
            <a:endParaRPr lang="en-US" sz="1700" dirty="0"/>
          </a:p>
        </p:txBody>
      </p:sp>
      <p:sp>
        <p:nvSpPr>
          <p:cNvPr id="4" name="Shape 2"/>
          <p:cNvSpPr/>
          <p:nvPr/>
        </p:nvSpPr>
        <p:spPr>
          <a:xfrm>
            <a:off x="8869680" y="320040"/>
            <a:ext cx="2770632" cy="960120"/>
          </a:xfrm>
          <a:prstGeom prst="roundRect">
            <a:avLst>
              <a:gd name="adj" fmla="val 9524"/>
            </a:avLst>
          </a:prstGeom>
          <a:solidFill>
            <a:srgbClr val="065A82"/>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BILL’S STORY</a:t>
            </a:r>
            <a:endParaRPr lang="en-US" sz="1700" dirty="0"/>
          </a:p>
          <a:p>
            <a:pPr algn="ctr" indent="0" marL="0">
              <a:buNone/>
            </a:pPr>
            <a:r>
              <a:rPr lang="en-US" sz="1300" dirty="0">
                <a:solidFill>
                  <a:srgbClr val="C7DEEC"/>
                </a:solidFill>
                <a:latin typeface="Calibri" pitchFamily="34" charset="0"/>
                <a:ea typeface="Calibri" pitchFamily="34" charset="-122"/>
                <a:cs typeface="Calibri" pitchFamily="34" charset="-120"/>
              </a:rPr>
              <a:t>p. 3</a:t>
            </a:r>
            <a:endParaRPr lang="en-US" sz="1700" dirty="0"/>
          </a:p>
        </p:txBody>
      </p:sp>
      <p:sp>
        <p:nvSpPr>
          <p:cNvPr id="6" name="Shape 4"/>
          <p:cNvSpPr/>
          <p:nvPr/>
        </p:nvSpPr>
        <p:spPr>
          <a:xfrm>
            <a:off x="548640" y="1371600"/>
            <a:ext cx="11091672" cy="822960"/>
          </a:xfrm>
          <a:prstGeom prst="roundRect">
            <a:avLst>
              <a:gd name="adj" fmla="val 8889"/>
            </a:avLst>
          </a:prstGeom>
          <a:solidFill>
            <a:srgbClr val="E2EDF4"/>
          </a:solidFill>
          <a:ln/>
        </p:spPr>
      </p:sp>
      <p:sp>
        <p:nvSpPr>
          <p:cNvPr id="7" name="Text 5"/>
          <p:cNvSpPr/>
          <p:nvPr/>
        </p:nvSpPr>
        <p:spPr>
          <a:xfrm>
            <a:off x="914400" y="1371600"/>
            <a:ext cx="7818120" cy="822960"/>
          </a:xfrm>
          <a:prstGeom prst="rect">
            <a:avLst/>
          </a:prstGeom>
          <a:noFill/>
          <a:ln/>
        </p:spPr>
        <p:txBody>
          <a:bodyPr wrap="square" lIns="0" tIns="0" rIns="0" bIns="0" rtlCol="0" anchor="ctr"/>
          <a:lstStyle/>
          <a:p>
            <a:pPr indent="0" marL="0">
              <a:lnSpc>
                <a:spcPct val="115000"/>
              </a:lnSpc>
              <a:buNone/>
            </a:pPr>
            <a:r>
              <a:rPr lang="en-US" sz="1700" dirty="0">
                <a:solidFill>
                  <a:srgbClr val="1B2A41"/>
                </a:solidFill>
                <a:latin typeface="Calibri" pitchFamily="34" charset="0"/>
                <a:ea typeface="Calibri" pitchFamily="34" charset="-122"/>
                <a:cs typeface="Calibri" pitchFamily="34" charset="-120"/>
              </a:rPr>
              <a:t>The exercise of an option brought in more money, leaving us with a profit of several thousand dollars for that year.</a:t>
            </a:r>
            <a:endParaRPr lang="en-US" sz="1700" dirty="0"/>
          </a:p>
        </p:txBody>
      </p:sp>
      <p:sp>
        <p:nvSpPr>
          <p:cNvPr id="8" name="Text 6"/>
          <p:cNvSpPr/>
          <p:nvPr/>
        </p:nvSpPr>
        <p:spPr>
          <a:xfrm>
            <a:off x="8915400" y="1371600"/>
            <a:ext cx="2377440" cy="822960"/>
          </a:xfrm>
          <a:prstGeom prst="rect">
            <a:avLst/>
          </a:prstGeom>
          <a:noFill/>
          <a:ln/>
        </p:spPr>
        <p:txBody>
          <a:bodyPr wrap="square" lIns="0" tIns="0" rIns="0" bIns="0" rtlCol="0" anchor="ctr"/>
          <a:lstStyle/>
          <a:p>
            <a:pPr algn="r" indent="0" marL="0">
              <a:lnSpc>
                <a:spcPct val="110000"/>
              </a:lnSpc>
              <a:buNone/>
            </a:pPr>
            <a:r>
              <a:rPr lang="en-US" sz="1250" b="1" dirty="0">
                <a:solidFill>
                  <a:srgbClr val="065A82"/>
                </a:solidFill>
                <a:latin typeface="Calibri" pitchFamily="34" charset="0"/>
                <a:ea typeface="Calibri" pitchFamily="34" charset="-122"/>
                <a:cs typeface="Calibri" pitchFamily="34" charset="-120"/>
              </a:rPr>
              <a:t>9 people’s</a:t>
            </a:r>
            <a:endParaRPr lang="en-US" sz="1250" dirty="0"/>
          </a:p>
          <a:p>
            <a:pPr algn="r" indent="0" marL="0">
              <a:lnSpc>
                <a:spcPct val="110000"/>
              </a:lnSpc>
              <a:buNone/>
            </a:pPr>
            <a:r>
              <a:rPr lang="en-US" sz="1250" b="1" dirty="0">
                <a:solidFill>
                  <a:srgbClr val="065A82"/>
                </a:solidFill>
                <a:latin typeface="Calibri" pitchFamily="34" charset="0"/>
                <a:ea typeface="Calibri" pitchFamily="34" charset="-122"/>
                <a:cs typeface="Calibri" pitchFamily="34" charset="-120"/>
              </a:rPr>
              <a:t>yearly income</a:t>
            </a:r>
            <a:endParaRPr lang="en-US" sz="1250" dirty="0"/>
          </a:p>
        </p:txBody>
      </p:sp>
      <p:sp>
        <p:nvSpPr>
          <p:cNvPr id="9" name="Shape 7"/>
          <p:cNvSpPr/>
          <p:nvPr/>
        </p:nvSpPr>
        <p:spPr>
          <a:xfrm>
            <a:off x="548640" y="2286000"/>
            <a:ext cx="11091672" cy="731520"/>
          </a:xfrm>
          <a:prstGeom prst="roundRect">
            <a:avLst>
              <a:gd name="adj" fmla="val 10000"/>
            </a:avLst>
          </a:prstGeom>
          <a:solidFill>
            <a:srgbClr val="E2EDF4"/>
          </a:solidFill>
          <a:ln/>
        </p:spPr>
      </p:sp>
      <p:sp>
        <p:nvSpPr>
          <p:cNvPr id="10" name="Text 8"/>
          <p:cNvSpPr/>
          <p:nvPr/>
        </p:nvSpPr>
        <p:spPr>
          <a:xfrm>
            <a:off x="914400" y="2286000"/>
            <a:ext cx="7818120" cy="731520"/>
          </a:xfrm>
          <a:prstGeom prst="rect">
            <a:avLst/>
          </a:prstGeom>
          <a:noFill/>
          <a:ln/>
        </p:spPr>
        <p:txBody>
          <a:bodyPr wrap="square" lIns="0" tIns="0" rIns="0" bIns="0" rtlCol="0" anchor="ctr"/>
          <a:lstStyle/>
          <a:p>
            <a:pPr indent="0" marL="0">
              <a:lnSpc>
                <a:spcPct val="115000"/>
              </a:lnSpc>
              <a:buNone/>
            </a:pPr>
            <a:r>
              <a:rPr lang="en-US" sz="2400" b="1" dirty="0">
                <a:solidFill>
                  <a:srgbClr val="1B2A41"/>
                </a:solidFill>
                <a:latin typeface="Calibri" pitchFamily="34" charset="0"/>
                <a:ea typeface="Calibri" pitchFamily="34" charset="-122"/>
                <a:cs typeface="Calibri" pitchFamily="34" charset="-120"/>
              </a:rPr>
              <a:t>I had arrived.</a:t>
            </a:r>
            <a:endParaRPr lang="en-US" sz="2400" dirty="0"/>
          </a:p>
        </p:txBody>
      </p:sp>
      <p:sp>
        <p:nvSpPr>
          <p:cNvPr id="11" name="Text 9"/>
          <p:cNvSpPr/>
          <p:nvPr/>
        </p:nvSpPr>
        <p:spPr>
          <a:xfrm>
            <a:off x="8915400" y="2286000"/>
            <a:ext cx="2377440" cy="731520"/>
          </a:xfrm>
          <a:prstGeom prst="rect">
            <a:avLst/>
          </a:prstGeom>
          <a:noFill/>
          <a:ln/>
        </p:spPr>
        <p:txBody>
          <a:bodyPr wrap="square" lIns="0" tIns="0" rIns="0" bIns="0" rtlCol="0" anchor="ctr"/>
          <a:lstStyle/>
          <a:p>
            <a:pPr algn="r" indent="0" marL="0">
              <a:lnSpc>
                <a:spcPct val="110000"/>
              </a:lnSpc>
              <a:buNone/>
            </a:pPr>
            <a:r>
              <a:rPr lang="en-US" sz="1250" b="1" dirty="0">
                <a:solidFill>
                  <a:srgbClr val="065A82"/>
                </a:solidFill>
                <a:latin typeface="Calibri" pitchFamily="34" charset="0"/>
                <a:ea typeface="Calibri" pitchFamily="34" charset="-122"/>
                <a:cs typeface="Calibri" pitchFamily="34" charset="-120"/>
              </a:rPr>
              <a:t>Egotistic</a:t>
            </a:r>
            <a:endParaRPr lang="en-US" sz="1250" dirty="0"/>
          </a:p>
        </p:txBody>
      </p:sp>
      <p:sp>
        <p:nvSpPr>
          <p:cNvPr id="12" name="Shape 10"/>
          <p:cNvSpPr/>
          <p:nvPr/>
        </p:nvSpPr>
        <p:spPr>
          <a:xfrm>
            <a:off x="548640" y="3108960"/>
            <a:ext cx="11091672" cy="777240"/>
          </a:xfrm>
          <a:prstGeom prst="roundRect">
            <a:avLst>
              <a:gd name="adj" fmla="val 9412"/>
            </a:avLst>
          </a:prstGeom>
          <a:solidFill>
            <a:srgbClr val="E2EDF4"/>
          </a:solidFill>
          <a:ln/>
        </p:spPr>
      </p:sp>
      <p:sp>
        <p:nvSpPr>
          <p:cNvPr id="13" name="Text 11"/>
          <p:cNvSpPr/>
          <p:nvPr/>
        </p:nvSpPr>
        <p:spPr>
          <a:xfrm>
            <a:off x="914400" y="3108960"/>
            <a:ext cx="7818120" cy="777240"/>
          </a:xfrm>
          <a:prstGeom prst="rect">
            <a:avLst/>
          </a:prstGeom>
          <a:noFill/>
          <a:ln/>
        </p:spPr>
        <p:txBody>
          <a:bodyPr wrap="square" lIns="0" tIns="0" rIns="0" bIns="0" rtlCol="0" anchor="ctr"/>
          <a:lstStyle/>
          <a:p>
            <a:pPr indent="0" marL="0">
              <a:lnSpc>
                <a:spcPct val="115000"/>
              </a:lnSpc>
              <a:buNone/>
            </a:pPr>
            <a:r>
              <a:rPr lang="en-US" sz="1700" dirty="0">
                <a:solidFill>
                  <a:srgbClr val="1B2A41"/>
                </a:solidFill>
                <a:latin typeface="Calibri" pitchFamily="34" charset="0"/>
                <a:ea typeface="Calibri" pitchFamily="34" charset="-122"/>
                <a:cs typeface="Calibri" pitchFamily="34" charset="-120"/>
              </a:rPr>
              <a:t>My drinking assumed more serious proportions, continuing all day and almost every night.</a:t>
            </a:r>
            <a:endParaRPr lang="en-US" sz="1700" dirty="0"/>
          </a:p>
        </p:txBody>
      </p:sp>
      <p:sp>
        <p:nvSpPr>
          <p:cNvPr id="14" name="Text 12"/>
          <p:cNvSpPr/>
          <p:nvPr/>
        </p:nvSpPr>
        <p:spPr>
          <a:xfrm>
            <a:off x="8915400" y="3108960"/>
            <a:ext cx="2377440" cy="777240"/>
          </a:xfrm>
          <a:prstGeom prst="rect">
            <a:avLst/>
          </a:prstGeom>
          <a:noFill/>
          <a:ln/>
        </p:spPr>
        <p:txBody>
          <a:bodyPr wrap="square" lIns="0" tIns="0" rIns="0" bIns="0" rtlCol="0" anchor="ctr"/>
          <a:lstStyle/>
          <a:p>
            <a:pPr algn="r" indent="0" marL="0">
              <a:lnSpc>
                <a:spcPct val="110000"/>
              </a:lnSpc>
              <a:buNone/>
            </a:pPr>
            <a:r>
              <a:rPr lang="en-US" sz="1250" b="1" dirty="0">
                <a:solidFill>
                  <a:srgbClr val="065A82"/>
                </a:solidFill>
                <a:latin typeface="Calibri" pitchFamily="34" charset="0"/>
                <a:ea typeface="Calibri" pitchFamily="34" charset="-122"/>
                <a:cs typeface="Calibri" pitchFamily="34" charset="-120"/>
              </a:rPr>
              <a:t>Another level</a:t>
            </a:r>
            <a:endParaRPr lang="en-US" sz="1250" dirty="0"/>
          </a:p>
        </p:txBody>
      </p:sp>
      <p:sp>
        <p:nvSpPr>
          <p:cNvPr id="15" name="Shape 13"/>
          <p:cNvSpPr/>
          <p:nvPr/>
        </p:nvSpPr>
        <p:spPr>
          <a:xfrm>
            <a:off x="548640" y="3977640"/>
            <a:ext cx="11091672" cy="868680"/>
          </a:xfrm>
          <a:prstGeom prst="roundRect">
            <a:avLst>
              <a:gd name="adj" fmla="val 8421"/>
            </a:avLst>
          </a:prstGeom>
          <a:solidFill>
            <a:srgbClr val="E2EDF4"/>
          </a:solidFill>
          <a:ln/>
        </p:spPr>
      </p:sp>
      <p:sp>
        <p:nvSpPr>
          <p:cNvPr id="16" name="Text 14"/>
          <p:cNvSpPr/>
          <p:nvPr/>
        </p:nvSpPr>
        <p:spPr>
          <a:xfrm>
            <a:off x="914400" y="3977640"/>
            <a:ext cx="7818120" cy="868680"/>
          </a:xfrm>
          <a:prstGeom prst="rect">
            <a:avLst/>
          </a:prstGeom>
          <a:noFill/>
          <a:ln/>
        </p:spPr>
        <p:txBody>
          <a:bodyPr wrap="square" lIns="0" tIns="0" rIns="0" bIns="0" rtlCol="0" anchor="ctr"/>
          <a:lstStyle/>
          <a:p>
            <a:pPr indent="0" marL="0">
              <a:lnSpc>
                <a:spcPct val="115000"/>
              </a:lnSpc>
              <a:buNone/>
            </a:pPr>
            <a:r>
              <a:rPr lang="en-US" sz="1700" dirty="0">
                <a:solidFill>
                  <a:srgbClr val="1B2A41"/>
                </a:solidFill>
                <a:latin typeface="Calibri" pitchFamily="34" charset="0"/>
                <a:ea typeface="Calibri" pitchFamily="34" charset="-122"/>
                <a:cs typeface="Calibri" pitchFamily="34" charset="-120"/>
              </a:rPr>
              <a:t>There had been no real infidelity, for loyalty to my wife, helped at times by extreme drunkenness, kept me out of those scrapes.</a:t>
            </a:r>
            <a:endParaRPr lang="en-US" sz="1700" dirty="0"/>
          </a:p>
        </p:txBody>
      </p:sp>
      <p:sp>
        <p:nvSpPr>
          <p:cNvPr id="17" name="Text 15"/>
          <p:cNvSpPr/>
          <p:nvPr/>
        </p:nvSpPr>
        <p:spPr>
          <a:xfrm>
            <a:off x="8915400" y="3977640"/>
            <a:ext cx="2377440" cy="868680"/>
          </a:xfrm>
          <a:prstGeom prst="rect">
            <a:avLst/>
          </a:prstGeom>
          <a:noFill/>
          <a:ln/>
        </p:spPr>
        <p:txBody>
          <a:bodyPr wrap="square" lIns="0" tIns="0" rIns="0" bIns="0" rtlCol="0" anchor="ctr"/>
          <a:lstStyle/>
          <a:p>
            <a:pPr algn="r" indent="0" marL="0">
              <a:lnSpc>
                <a:spcPct val="110000"/>
              </a:lnSpc>
              <a:buNone/>
            </a:pPr>
            <a:r>
              <a:rPr lang="en-US" sz="1250" b="1" dirty="0">
                <a:solidFill>
                  <a:srgbClr val="065A82"/>
                </a:solidFill>
                <a:latin typeface="Calibri" pitchFamily="34" charset="0"/>
                <a:ea typeface="Calibri" pitchFamily="34" charset="-122"/>
                <a:cs typeface="Calibri" pitchFamily="34" charset="-120"/>
              </a:rPr>
              <a:t>Another level —</a:t>
            </a:r>
            <a:endParaRPr lang="en-US" sz="1250" dirty="0"/>
          </a:p>
          <a:p>
            <a:pPr algn="r" indent="0" marL="0">
              <a:lnSpc>
                <a:spcPct val="110000"/>
              </a:lnSpc>
              <a:buNone/>
            </a:pPr>
            <a:r>
              <a:rPr lang="en-US" sz="1250" b="1" dirty="0">
                <a:solidFill>
                  <a:srgbClr val="065A82"/>
                </a:solidFill>
                <a:latin typeface="Calibri" pitchFamily="34" charset="0"/>
                <a:ea typeface="Calibri" pitchFamily="34" charset="-122"/>
                <a:cs typeface="Calibri" pitchFamily="34" charset="-120"/>
              </a:rPr>
              <a:t>carousing</a:t>
            </a:r>
            <a:endParaRPr lang="en-US" sz="1250" dirty="0"/>
          </a:p>
        </p:txBody>
      </p:sp>
      <p:sp>
        <p:nvSpPr>
          <p:cNvPr id="18" name="Shape 16"/>
          <p:cNvSpPr/>
          <p:nvPr/>
        </p:nvSpPr>
        <p:spPr>
          <a:xfrm>
            <a:off x="548640" y="4937760"/>
            <a:ext cx="11091672" cy="822960"/>
          </a:xfrm>
          <a:prstGeom prst="roundRect">
            <a:avLst>
              <a:gd name="adj" fmla="val 8889"/>
            </a:avLst>
          </a:prstGeom>
          <a:solidFill>
            <a:srgbClr val="E2EDF4"/>
          </a:solidFill>
          <a:ln/>
        </p:spPr>
      </p:sp>
      <p:sp>
        <p:nvSpPr>
          <p:cNvPr id="19" name="Text 17"/>
          <p:cNvSpPr/>
          <p:nvPr/>
        </p:nvSpPr>
        <p:spPr>
          <a:xfrm>
            <a:off x="914400" y="4937760"/>
            <a:ext cx="7818120" cy="822960"/>
          </a:xfrm>
          <a:prstGeom prst="rect">
            <a:avLst/>
          </a:prstGeom>
          <a:noFill/>
          <a:ln/>
        </p:spPr>
        <p:txBody>
          <a:bodyPr wrap="square" lIns="0" tIns="0" rIns="0" bIns="0" rtlCol="0" anchor="ctr"/>
          <a:lstStyle/>
          <a:p>
            <a:pPr indent="0" marL="0">
              <a:lnSpc>
                <a:spcPct val="115000"/>
              </a:lnSpc>
              <a:buNone/>
            </a:pPr>
            <a:r>
              <a:rPr lang="en-US" sz="1700" dirty="0">
                <a:solidFill>
                  <a:srgbClr val="1B2A41"/>
                </a:solidFill>
                <a:latin typeface="Calibri" pitchFamily="34" charset="0"/>
                <a:ea typeface="Calibri" pitchFamily="34" charset="-122"/>
                <a:cs typeface="Calibri" pitchFamily="34" charset="-120"/>
              </a:rPr>
              <a:t>Liquor caught up with me much faster than I came up behind Walter. I began to be jittery in the morning.</a:t>
            </a:r>
            <a:endParaRPr lang="en-US" sz="1700" dirty="0"/>
          </a:p>
        </p:txBody>
      </p:sp>
      <p:sp>
        <p:nvSpPr>
          <p:cNvPr id="20" name="Text 18"/>
          <p:cNvSpPr/>
          <p:nvPr/>
        </p:nvSpPr>
        <p:spPr>
          <a:xfrm>
            <a:off x="8915400" y="4937760"/>
            <a:ext cx="2377440" cy="822960"/>
          </a:xfrm>
          <a:prstGeom prst="rect">
            <a:avLst/>
          </a:prstGeom>
          <a:noFill/>
          <a:ln/>
        </p:spPr>
        <p:txBody>
          <a:bodyPr wrap="square" lIns="0" tIns="0" rIns="0" bIns="0" rtlCol="0" anchor="ctr"/>
          <a:lstStyle/>
          <a:p>
            <a:pPr algn="r" indent="0" marL="0">
              <a:lnSpc>
                <a:spcPct val="110000"/>
              </a:lnSpc>
              <a:buNone/>
            </a:pPr>
            <a:r>
              <a:rPr lang="en-US" sz="1250" b="1" dirty="0">
                <a:solidFill>
                  <a:srgbClr val="065A82"/>
                </a:solidFill>
                <a:latin typeface="Calibri" pitchFamily="34" charset="0"/>
                <a:ea typeface="Calibri" pitchFamily="34" charset="-122"/>
                <a:cs typeface="Calibri" pitchFamily="34" charset="-120"/>
              </a:rPr>
              <a:t>Another level</a:t>
            </a:r>
            <a:endParaRPr lang="en-US" sz="1250" dirty="0"/>
          </a:p>
        </p:txBody>
      </p:sp>
      <p:sp>
        <p:nvSpPr>
          <p:cNvPr id="21" name="Text 19"/>
          <p:cNvSpPr/>
          <p:nvPr/>
        </p:nvSpPr>
        <p:spPr>
          <a:xfrm>
            <a:off x="548640" y="589788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“Bill’s Story,” p. 3.</a:t>
            </a:r>
            <a:endParaRPr lang="en-US" sz="1200" dirty="0"/>
          </a:p>
        </p:txBody>
      </p:sp>
      <p:sp>
        <p:nvSpPr>
          <p:cNvPr id="22" name="Text 20"/>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I Would Not Jump</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October 1929.</a:t>
            </a:r>
            <a:endParaRPr lang="en-US" sz="1700" dirty="0"/>
          </a:p>
        </p:txBody>
      </p:sp>
      <p:sp>
        <p:nvSpPr>
          <p:cNvPr id="4" name="Shape 2"/>
          <p:cNvSpPr/>
          <p:nvPr/>
        </p:nvSpPr>
        <p:spPr>
          <a:xfrm>
            <a:off x="8869680" y="320040"/>
            <a:ext cx="2770632" cy="960120"/>
          </a:xfrm>
          <a:prstGeom prst="roundRect">
            <a:avLst>
              <a:gd name="adj" fmla="val 9524"/>
            </a:avLst>
          </a:prstGeom>
          <a:solidFill>
            <a:srgbClr val="2C5F2D"/>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BILL’S STORY</a:t>
            </a:r>
            <a:endParaRPr lang="en-US" sz="1700" dirty="0"/>
          </a:p>
          <a:p>
            <a:pPr algn="ctr" indent="0" marL="0">
              <a:buNone/>
            </a:pPr>
            <a:r>
              <a:rPr lang="en-US" sz="1300" dirty="0">
                <a:solidFill>
                  <a:srgbClr val="D5E3CE"/>
                </a:solidFill>
                <a:latin typeface="Calibri" pitchFamily="34" charset="0"/>
                <a:ea typeface="Calibri" pitchFamily="34" charset="-122"/>
                <a:cs typeface="Calibri" pitchFamily="34" charset="-120"/>
              </a:rPr>
              <a:t>p. 4</a:t>
            </a:r>
            <a:endParaRPr lang="en-US" sz="1700" dirty="0"/>
          </a:p>
        </p:txBody>
      </p:sp>
      <p:sp>
        <p:nvSpPr>
          <p:cNvPr id="6" name="Shape 4"/>
          <p:cNvSpPr/>
          <p:nvPr/>
        </p:nvSpPr>
        <p:spPr>
          <a:xfrm>
            <a:off x="548640" y="1554480"/>
            <a:ext cx="11091672" cy="1280160"/>
          </a:xfrm>
          <a:prstGeom prst="roundRect">
            <a:avLst>
              <a:gd name="adj" fmla="val 5714"/>
            </a:avLst>
          </a:prstGeom>
          <a:solidFill>
            <a:srgbClr val="EAF1E6"/>
          </a:solidFill>
          <a:ln/>
        </p:spPr>
      </p:sp>
      <p:sp>
        <p:nvSpPr>
          <p:cNvPr id="7" name="Text 5"/>
          <p:cNvSpPr/>
          <p:nvPr/>
        </p:nvSpPr>
        <p:spPr>
          <a:xfrm>
            <a:off x="914400" y="1554480"/>
            <a:ext cx="7818120" cy="128016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The papers reported men jumping to death from the towers of High Finance. That disgusted me. </a:t>
            </a:r>
            <a:pPr indent="0" marL="0">
              <a:lnSpc>
                <a:spcPct val="115000"/>
              </a:lnSpc>
              <a:buNone/>
            </a:pPr>
            <a:r>
              <a:rPr lang="en-US" sz="1900" b="1" dirty="0">
                <a:solidFill>
                  <a:srgbClr val="2C5F2D"/>
                </a:solidFill>
                <a:latin typeface="Calibri" pitchFamily="34" charset="0"/>
                <a:ea typeface="Calibri" pitchFamily="34" charset="-122"/>
                <a:cs typeface="Calibri" pitchFamily="34" charset="-120"/>
              </a:rPr>
              <a:t>I would not jump. I went back to the bar.</a:t>
            </a:r>
            <a:endParaRPr lang="en-US" sz="1900" dirty="0"/>
          </a:p>
        </p:txBody>
      </p:sp>
      <p:sp>
        <p:nvSpPr>
          <p:cNvPr id="8" name="Text 6"/>
          <p:cNvSpPr/>
          <p:nvPr/>
        </p:nvSpPr>
        <p:spPr>
          <a:xfrm>
            <a:off x="8915400" y="1554480"/>
            <a:ext cx="2377440" cy="1280160"/>
          </a:xfrm>
          <a:prstGeom prst="rect">
            <a:avLst/>
          </a:prstGeom>
          <a:noFill/>
          <a:ln/>
        </p:spPr>
        <p:txBody>
          <a:bodyPr wrap="square" lIns="0" tIns="0" rIns="0" bIns="0" rtlCol="0" anchor="ctr"/>
          <a:lstStyle/>
          <a:p>
            <a:pPr algn="r" indent="0" marL="0">
              <a:lnSpc>
                <a:spcPct val="110000"/>
              </a:lnSpc>
              <a:buNone/>
            </a:pPr>
            <a:r>
              <a:rPr lang="en-US" sz="1250" b="1" dirty="0">
                <a:solidFill>
                  <a:srgbClr val="2C5F2D"/>
                </a:solidFill>
                <a:latin typeface="Calibri" pitchFamily="34" charset="0"/>
                <a:ea typeface="Calibri" pitchFamily="34" charset="-122"/>
                <a:cs typeface="Calibri" pitchFamily="34" charset="-120"/>
              </a:rPr>
              <a:t>Insanity</a:t>
            </a:r>
            <a:endParaRPr lang="en-US" sz="1250" dirty="0"/>
          </a:p>
        </p:txBody>
      </p:sp>
      <p:sp>
        <p:nvSpPr>
          <p:cNvPr id="9" name="Shape 7"/>
          <p:cNvSpPr/>
          <p:nvPr/>
        </p:nvSpPr>
        <p:spPr>
          <a:xfrm>
            <a:off x="548640" y="2971800"/>
            <a:ext cx="11091672" cy="1188720"/>
          </a:xfrm>
          <a:prstGeom prst="roundRect">
            <a:avLst>
              <a:gd name="adj" fmla="val 6154"/>
            </a:avLst>
          </a:prstGeom>
          <a:solidFill>
            <a:srgbClr val="E2EDF4"/>
          </a:solidFill>
          <a:ln/>
        </p:spPr>
      </p:sp>
      <p:sp>
        <p:nvSpPr>
          <p:cNvPr id="10" name="Text 8"/>
          <p:cNvSpPr/>
          <p:nvPr/>
        </p:nvSpPr>
        <p:spPr>
          <a:xfrm>
            <a:off x="914400" y="2971800"/>
            <a:ext cx="7818120" cy="118872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Next morning I telephoned a friend in Montreal. He had plenty of money left and thought I had better go to Canada.</a:t>
            </a:r>
            <a:endParaRPr lang="en-US" sz="1900" dirty="0"/>
          </a:p>
        </p:txBody>
      </p:sp>
      <p:sp>
        <p:nvSpPr>
          <p:cNvPr id="11" name="Text 9"/>
          <p:cNvSpPr/>
          <p:nvPr/>
        </p:nvSpPr>
        <p:spPr>
          <a:xfrm>
            <a:off x="8915400" y="2971800"/>
            <a:ext cx="2377440" cy="1188720"/>
          </a:xfrm>
          <a:prstGeom prst="rect">
            <a:avLst/>
          </a:prstGeom>
          <a:noFill/>
          <a:ln/>
        </p:spPr>
        <p:txBody>
          <a:bodyPr wrap="square" lIns="0" tIns="0" rIns="0" bIns="0" rtlCol="0" anchor="ctr"/>
          <a:lstStyle/>
          <a:p>
            <a:pPr algn="r" indent="0" marL="0">
              <a:lnSpc>
                <a:spcPct val="110000"/>
              </a:lnSpc>
              <a:buNone/>
            </a:pPr>
            <a:r>
              <a:rPr lang="en-US" sz="1250" b="1" dirty="0">
                <a:solidFill>
                  <a:srgbClr val="065A82"/>
                </a:solidFill>
                <a:latin typeface="Calibri" pitchFamily="34" charset="0"/>
                <a:ea typeface="Calibri" pitchFamily="34" charset="-122"/>
                <a:cs typeface="Calibri" pitchFamily="34" charset="-120"/>
              </a:rPr>
              <a:t>Another level</a:t>
            </a:r>
            <a:endParaRPr lang="en-US" sz="1250" dirty="0"/>
          </a:p>
        </p:txBody>
      </p:sp>
      <p:sp>
        <p:nvSpPr>
          <p:cNvPr id="12" name="Shape 10"/>
          <p:cNvSpPr/>
          <p:nvPr/>
        </p:nvSpPr>
        <p:spPr>
          <a:xfrm>
            <a:off x="548640" y="4434840"/>
            <a:ext cx="11091672" cy="960120"/>
          </a:xfrm>
          <a:prstGeom prst="roundRect">
            <a:avLst>
              <a:gd name="adj" fmla="val 7619"/>
            </a:avLst>
          </a:prstGeom>
          <a:solidFill>
            <a:srgbClr val="1B2A41"/>
          </a:solidFill>
          <a:ln/>
        </p:spPr>
      </p:sp>
      <p:sp>
        <p:nvSpPr>
          <p:cNvPr id="13" name="Text 11"/>
          <p:cNvSpPr/>
          <p:nvPr/>
        </p:nvSpPr>
        <p:spPr>
          <a:xfrm>
            <a:off x="914400" y="4553712"/>
            <a:ext cx="10360152" cy="256032"/>
          </a:xfrm>
          <a:prstGeom prst="rect">
            <a:avLst/>
          </a:prstGeom>
          <a:noFill/>
          <a:ln/>
        </p:spPr>
        <p:txBody>
          <a:bodyPr wrap="square" lIns="0" tIns="0" rIns="0" bIns="0" rtlCol="0" anchor="ctr"/>
          <a:lstStyle/>
          <a:p>
            <a:pPr indent="0" marL="0">
              <a:buNone/>
            </a:pPr>
            <a:r>
              <a:rPr lang="en-US" sz="1100" b="1" spc="200" kern="0" dirty="0">
                <a:solidFill>
                  <a:srgbClr val="A9B8CC"/>
                </a:solidFill>
                <a:latin typeface="Calibri" pitchFamily="34" charset="0"/>
                <a:ea typeface="Calibri" pitchFamily="34" charset="-122"/>
                <a:cs typeface="Calibri" pitchFamily="34" charset="-120"/>
              </a:rPr>
              <a:t>MARGIN NOTE</a:t>
            </a:r>
            <a:endParaRPr lang="en-US" sz="1100" dirty="0"/>
          </a:p>
        </p:txBody>
      </p:sp>
      <p:sp>
        <p:nvSpPr>
          <p:cNvPr id="14" name="Text 12"/>
          <p:cNvSpPr/>
          <p:nvPr/>
        </p:nvSpPr>
        <p:spPr>
          <a:xfrm>
            <a:off x="914400" y="4828032"/>
            <a:ext cx="10360152" cy="44805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Level — sponging off of family.</a:t>
            </a:r>
            <a:endParaRPr lang="en-US" sz="2200" dirty="0"/>
          </a:p>
        </p:txBody>
      </p:sp>
      <p:sp>
        <p:nvSpPr>
          <p:cNvPr id="15" name="Text 13"/>
          <p:cNvSpPr/>
          <p:nvPr/>
        </p:nvSpPr>
        <p:spPr>
          <a:xfrm>
            <a:off x="548640" y="557784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“Bill’s Story,” p. 4.</a:t>
            </a:r>
            <a:endParaRPr lang="en-US" sz="1200" dirty="0"/>
          </a:p>
        </p:txBody>
      </p:sp>
      <p:sp>
        <p:nvSpPr>
          <p:cNvPr id="16" name="Text 14"/>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I Still Thought I Could Control It</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Liquor ceased to be a luxury.</a:t>
            </a:r>
            <a:endParaRPr lang="en-US" sz="1700" dirty="0"/>
          </a:p>
        </p:txBody>
      </p:sp>
      <p:sp>
        <p:nvSpPr>
          <p:cNvPr id="4" name="Shape 2"/>
          <p:cNvSpPr/>
          <p:nvPr/>
        </p:nvSpPr>
        <p:spPr>
          <a:xfrm>
            <a:off x="8869680" y="320040"/>
            <a:ext cx="2770632" cy="960120"/>
          </a:xfrm>
          <a:prstGeom prst="roundRect">
            <a:avLst>
              <a:gd name="adj" fmla="val 9524"/>
            </a:avLst>
          </a:prstGeom>
          <a:solidFill>
            <a:srgbClr val="2C5F2D"/>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BILL’S STORY</a:t>
            </a:r>
            <a:endParaRPr lang="en-US" sz="1700" dirty="0"/>
          </a:p>
          <a:p>
            <a:pPr algn="ctr" indent="0" marL="0">
              <a:buNone/>
            </a:pPr>
            <a:r>
              <a:rPr lang="en-US" sz="1300" dirty="0">
                <a:solidFill>
                  <a:srgbClr val="D5E3CE"/>
                </a:solidFill>
                <a:latin typeface="Calibri" pitchFamily="34" charset="0"/>
                <a:ea typeface="Calibri" pitchFamily="34" charset="-122"/>
                <a:cs typeface="Calibri" pitchFamily="34" charset="-120"/>
              </a:rPr>
              <a:t>p. 5</a:t>
            </a:r>
            <a:endParaRPr lang="en-US" sz="1700" dirty="0"/>
          </a:p>
        </p:txBody>
      </p:sp>
      <p:sp>
        <p:nvSpPr>
          <p:cNvPr id="6" name="Shape 4"/>
          <p:cNvSpPr/>
          <p:nvPr/>
        </p:nvSpPr>
        <p:spPr>
          <a:xfrm>
            <a:off x="548640" y="1554480"/>
            <a:ext cx="11091672" cy="914400"/>
          </a:xfrm>
          <a:prstGeom prst="roundRect">
            <a:avLst>
              <a:gd name="adj" fmla="val 8000"/>
            </a:avLst>
          </a:prstGeom>
          <a:solidFill>
            <a:srgbClr val="EAF1E6"/>
          </a:solidFill>
          <a:ln/>
        </p:spPr>
      </p:sp>
      <p:sp>
        <p:nvSpPr>
          <p:cNvPr id="7" name="Text 5"/>
          <p:cNvSpPr/>
          <p:nvPr/>
        </p:nvSpPr>
        <p:spPr>
          <a:xfrm>
            <a:off x="914400" y="1554480"/>
            <a:ext cx="7818120" cy="914400"/>
          </a:xfrm>
          <a:prstGeom prst="rect">
            <a:avLst/>
          </a:prstGeom>
          <a:noFill/>
          <a:ln/>
        </p:spPr>
        <p:txBody>
          <a:bodyPr wrap="square" lIns="0" tIns="0" rIns="0" bIns="0" rtlCol="0" anchor="ctr"/>
          <a:lstStyle/>
          <a:p>
            <a:pPr indent="0" marL="0">
              <a:lnSpc>
                <a:spcPct val="115000"/>
              </a:lnSpc>
              <a:buNone/>
            </a:pPr>
            <a:r>
              <a:rPr lang="en-US" sz="2000" b="1" dirty="0">
                <a:solidFill>
                  <a:srgbClr val="1B2A41"/>
                </a:solidFill>
                <a:latin typeface="Calibri" pitchFamily="34" charset="0"/>
                <a:ea typeface="Calibri" pitchFamily="34" charset="-122"/>
                <a:cs typeface="Calibri" pitchFamily="34" charset="-120"/>
              </a:rPr>
              <a:t>Liquor ceased to be a luxury; it became a necessity.</a:t>
            </a:r>
            <a:endParaRPr lang="en-US" sz="2000" dirty="0"/>
          </a:p>
        </p:txBody>
      </p:sp>
      <p:sp>
        <p:nvSpPr>
          <p:cNvPr id="8" name="Text 6"/>
          <p:cNvSpPr/>
          <p:nvPr/>
        </p:nvSpPr>
        <p:spPr>
          <a:xfrm>
            <a:off x="8915400" y="1554480"/>
            <a:ext cx="2377440" cy="914400"/>
          </a:xfrm>
          <a:prstGeom prst="rect">
            <a:avLst/>
          </a:prstGeom>
          <a:noFill/>
          <a:ln/>
        </p:spPr>
        <p:txBody>
          <a:bodyPr wrap="square" lIns="0" tIns="0" rIns="0" bIns="0" rtlCol="0" anchor="ctr"/>
          <a:lstStyle/>
          <a:p>
            <a:pPr algn="r" indent="0" marL="0">
              <a:lnSpc>
                <a:spcPct val="110000"/>
              </a:lnSpc>
              <a:buNone/>
            </a:pPr>
            <a:r>
              <a:rPr lang="en-US" sz="1250" b="1" dirty="0">
                <a:solidFill>
                  <a:srgbClr val="2C5F2D"/>
                </a:solidFill>
                <a:latin typeface="Calibri" pitchFamily="34" charset="0"/>
                <a:ea typeface="Calibri" pitchFamily="34" charset="-122"/>
                <a:cs typeface="Calibri" pitchFamily="34" charset="-120"/>
              </a:rPr>
              <a:t>Another level</a:t>
            </a:r>
            <a:endParaRPr lang="en-US" sz="1250" dirty="0"/>
          </a:p>
        </p:txBody>
      </p:sp>
      <p:sp>
        <p:nvSpPr>
          <p:cNvPr id="9" name="Shape 7"/>
          <p:cNvSpPr/>
          <p:nvPr/>
        </p:nvSpPr>
        <p:spPr>
          <a:xfrm>
            <a:off x="548640" y="2606040"/>
            <a:ext cx="11091672" cy="1188720"/>
          </a:xfrm>
          <a:prstGeom prst="roundRect">
            <a:avLst>
              <a:gd name="adj" fmla="val 6154"/>
            </a:avLst>
          </a:prstGeom>
          <a:solidFill>
            <a:srgbClr val="EAF1E6"/>
          </a:solidFill>
          <a:ln/>
        </p:spPr>
      </p:sp>
      <p:sp>
        <p:nvSpPr>
          <p:cNvPr id="10" name="Text 8"/>
          <p:cNvSpPr/>
          <p:nvPr/>
        </p:nvSpPr>
        <p:spPr>
          <a:xfrm>
            <a:off x="914400" y="2606040"/>
            <a:ext cx="7818120" cy="118872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Nevertheless, I still thought I could </a:t>
            </a:r>
            <a:pPr indent="0" marL="0">
              <a:lnSpc>
                <a:spcPct val="115000"/>
              </a:lnSpc>
              <a:buNone/>
            </a:pPr>
            <a:r>
              <a:rPr lang="en-US" sz="1900" b="1" u="dbl" dirty="0">
                <a:solidFill>
                  <a:srgbClr val="1B2A41"/>
                </a:solidFill>
                <a:latin typeface="Calibri" pitchFamily="34" charset="0"/>
                <a:ea typeface="Calibri" pitchFamily="34" charset="-122"/>
                <a:cs typeface="Calibri" pitchFamily="34" charset="-120"/>
              </a:rPr>
              <a:t>control</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the situation, and there were periods of sobriety which renewed my wife’s hope.</a:t>
            </a:r>
            <a:endParaRPr lang="en-US" sz="1900" dirty="0"/>
          </a:p>
        </p:txBody>
      </p:sp>
      <p:sp>
        <p:nvSpPr>
          <p:cNvPr id="11" name="Text 9"/>
          <p:cNvSpPr/>
          <p:nvPr/>
        </p:nvSpPr>
        <p:spPr>
          <a:xfrm>
            <a:off x="8915400" y="2606040"/>
            <a:ext cx="2377440" cy="1188720"/>
          </a:xfrm>
          <a:prstGeom prst="rect">
            <a:avLst/>
          </a:prstGeom>
          <a:noFill/>
          <a:ln/>
        </p:spPr>
        <p:txBody>
          <a:bodyPr wrap="square" lIns="0" tIns="0" rIns="0" bIns="0" rtlCol="0" anchor="ctr"/>
          <a:lstStyle/>
          <a:p>
            <a:pPr algn="r" indent="0" marL="0">
              <a:lnSpc>
                <a:spcPct val="110000"/>
              </a:lnSpc>
              <a:buNone/>
            </a:pPr>
            <a:r>
              <a:rPr lang="en-US" sz="1250" b="1" dirty="0">
                <a:solidFill>
                  <a:srgbClr val="2C5F2D"/>
                </a:solidFill>
                <a:latin typeface="Calibri" pitchFamily="34" charset="0"/>
                <a:ea typeface="Calibri" pitchFamily="34" charset="-122"/>
                <a:cs typeface="Calibri" pitchFamily="34" charset="-120"/>
              </a:rPr>
              <a:t>Another level</a:t>
            </a:r>
            <a:endParaRPr lang="en-US" sz="1250" dirty="0"/>
          </a:p>
        </p:txBody>
      </p:sp>
      <p:sp>
        <p:nvSpPr>
          <p:cNvPr id="12" name="Shape 10"/>
          <p:cNvSpPr/>
          <p:nvPr/>
        </p:nvSpPr>
        <p:spPr>
          <a:xfrm>
            <a:off x="548640" y="3931920"/>
            <a:ext cx="11091672" cy="914400"/>
          </a:xfrm>
          <a:prstGeom prst="roundRect">
            <a:avLst>
              <a:gd name="adj" fmla="val 8000"/>
            </a:avLst>
          </a:prstGeom>
          <a:solidFill>
            <a:srgbClr val="E2EDF4"/>
          </a:solidFill>
          <a:ln/>
        </p:spPr>
      </p:sp>
      <p:sp>
        <p:nvSpPr>
          <p:cNvPr id="13" name="Text 11"/>
          <p:cNvSpPr/>
          <p:nvPr/>
        </p:nvSpPr>
        <p:spPr>
          <a:xfrm>
            <a:off x="914400" y="3931920"/>
            <a:ext cx="7818120" cy="914400"/>
          </a:xfrm>
          <a:prstGeom prst="rect">
            <a:avLst/>
          </a:prstGeom>
          <a:noFill/>
          <a:ln/>
        </p:spPr>
        <p:txBody>
          <a:bodyPr wrap="square" lIns="0" tIns="0" rIns="0" bIns="0" rtlCol="0" anchor="ctr"/>
          <a:lstStyle/>
          <a:p>
            <a:pPr indent="0" marL="0">
              <a:lnSpc>
                <a:spcPct val="115000"/>
              </a:lnSpc>
              <a:buNone/>
            </a:pPr>
            <a:r>
              <a:rPr lang="en-US" sz="2000" b="1" dirty="0">
                <a:solidFill>
                  <a:srgbClr val="1B2A41"/>
                </a:solidFill>
                <a:latin typeface="Calibri" pitchFamily="34" charset="0"/>
                <a:ea typeface="Calibri" pitchFamily="34" charset="-122"/>
                <a:cs typeface="Calibri" pitchFamily="34" charset="-120"/>
              </a:rPr>
              <a:t>Gradually things got worse.</a:t>
            </a:r>
            <a:endParaRPr lang="en-US" sz="2000" dirty="0"/>
          </a:p>
        </p:txBody>
      </p:sp>
      <p:sp>
        <p:nvSpPr>
          <p:cNvPr id="14" name="Text 12"/>
          <p:cNvSpPr/>
          <p:nvPr/>
        </p:nvSpPr>
        <p:spPr>
          <a:xfrm>
            <a:off x="8915400" y="3931920"/>
            <a:ext cx="2377440" cy="914400"/>
          </a:xfrm>
          <a:prstGeom prst="rect">
            <a:avLst/>
          </a:prstGeom>
          <a:noFill/>
          <a:ln/>
        </p:spPr>
        <p:txBody>
          <a:bodyPr wrap="square" lIns="0" tIns="0" rIns="0" bIns="0" rtlCol="0" anchor="ctr"/>
          <a:lstStyle/>
          <a:p>
            <a:pPr algn="r" indent="0" marL="0">
              <a:lnSpc>
                <a:spcPct val="110000"/>
              </a:lnSpc>
              <a:buNone/>
            </a:pPr>
            <a:r>
              <a:rPr lang="en-US" sz="1250" b="1" dirty="0">
                <a:solidFill>
                  <a:srgbClr val="065A82"/>
                </a:solidFill>
                <a:latin typeface="Calibri" pitchFamily="34" charset="0"/>
                <a:ea typeface="Calibri" pitchFamily="34" charset="-122"/>
                <a:cs typeface="Calibri" pitchFamily="34" charset="-120"/>
              </a:rPr>
              <a:t>Blinded to life</a:t>
            </a:r>
            <a:endParaRPr lang="en-US" sz="1250" dirty="0"/>
          </a:p>
        </p:txBody>
      </p:sp>
      <p:sp>
        <p:nvSpPr>
          <p:cNvPr id="15" name="Text 13"/>
          <p:cNvSpPr/>
          <p:nvPr/>
        </p:nvSpPr>
        <p:spPr>
          <a:xfrm>
            <a:off x="548640" y="507492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“Bill’s Story,” p. 5.</a:t>
            </a:r>
            <a:endParaRPr lang="en-US" sz="1200" dirty="0"/>
          </a:p>
        </p:txBody>
      </p:sp>
      <p:sp>
        <p:nvSpPr>
          <p:cNvPr id="16" name="Text 14"/>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138160" cy="566928"/>
          </a:xfrm>
          <a:prstGeom prst="rect">
            <a:avLst/>
          </a:prstGeom>
          <a:noFill/>
          <a:ln/>
        </p:spPr>
        <p:txBody>
          <a:bodyPr wrap="square" lIns="0" tIns="0" rIns="0" bIns="0" rtlCol="0" anchor="ctr"/>
          <a:lstStyle/>
          <a:p>
            <a:pPr indent="0" marL="0">
              <a:buNone/>
            </a:pPr>
            <a:r>
              <a:rPr lang="en-US" sz="3800" b="1" dirty="0">
                <a:solidFill>
                  <a:srgbClr val="1B2A41"/>
                </a:solidFill>
                <a:latin typeface="Cambria" pitchFamily="34" charset="0"/>
                <a:ea typeface="Cambria" pitchFamily="34" charset="-122"/>
                <a:cs typeface="Cambria" pitchFamily="34" charset="-120"/>
              </a:rPr>
              <a:t>Was I Crazy?</a:t>
            </a:r>
            <a:endParaRPr lang="en-US" sz="3800" dirty="0"/>
          </a:p>
        </p:txBody>
      </p:sp>
      <p:sp>
        <p:nvSpPr>
          <p:cNvPr id="3" name="Text 1"/>
          <p:cNvSpPr/>
          <p:nvPr/>
        </p:nvSpPr>
        <p:spPr>
          <a:xfrm>
            <a:off x="548640" y="914400"/>
            <a:ext cx="8138160" cy="347472"/>
          </a:xfrm>
          <a:prstGeom prst="rect">
            <a:avLst/>
          </a:prstGeom>
          <a:noFill/>
          <a:ln/>
        </p:spPr>
        <p:txBody>
          <a:bodyPr wrap="square" lIns="0" tIns="0" rIns="0" bIns="0" rtlCol="0" anchor="ctr"/>
          <a:lstStyle/>
          <a:p>
            <a:pPr indent="0" marL="0">
              <a:buNone/>
            </a:pPr>
            <a:r>
              <a:rPr lang="en-US" sz="1700" i="1" dirty="0">
                <a:solidFill>
                  <a:srgbClr val="6B7A8C"/>
                </a:solidFill>
                <a:latin typeface="Calibri" pitchFamily="34" charset="0"/>
                <a:ea typeface="Calibri" pitchFamily="34" charset="-122"/>
                <a:cs typeface="Calibri" pitchFamily="34" charset="-120"/>
              </a:rPr>
              <a:t>Will power, and what it was worth.</a:t>
            </a:r>
            <a:endParaRPr lang="en-US" sz="1700" dirty="0"/>
          </a:p>
        </p:txBody>
      </p:sp>
      <p:sp>
        <p:nvSpPr>
          <p:cNvPr id="4" name="Shape 2"/>
          <p:cNvSpPr/>
          <p:nvPr/>
        </p:nvSpPr>
        <p:spPr>
          <a:xfrm>
            <a:off x="8869680" y="320040"/>
            <a:ext cx="2770632" cy="960120"/>
          </a:xfrm>
          <a:prstGeom prst="roundRect">
            <a:avLst>
              <a:gd name="adj" fmla="val 9524"/>
            </a:avLst>
          </a:prstGeom>
          <a:solidFill>
            <a:srgbClr val="2C5F2D"/>
          </a:solidFill>
          <a:ln/>
        </p:spPr>
      </p:sp>
      <p:sp>
        <p:nvSpPr>
          <p:cNvPr id="5" name="Text 3"/>
          <p:cNvSpPr/>
          <p:nvPr/>
        </p:nvSpPr>
        <p:spPr>
          <a:xfrm>
            <a:off x="8869680" y="320040"/>
            <a:ext cx="2770632" cy="960120"/>
          </a:xfrm>
          <a:prstGeom prst="rect">
            <a:avLst/>
          </a:prstGeom>
          <a:noFill/>
          <a:ln/>
        </p:spPr>
        <p:txBody>
          <a:bodyPr wrap="square" lIns="0" tIns="0" rIns="0" bIns="0" rtlCol="0" anchor="ctr"/>
          <a:lstStyle/>
          <a:p>
            <a:pPr algn="ctr" indent="0" marL="0">
              <a:buNone/>
            </a:pPr>
            <a:r>
              <a:rPr lang="en-US" sz="1700" b="1" spc="100" kern="0" dirty="0">
                <a:solidFill>
                  <a:srgbClr val="FFFFFF"/>
                </a:solidFill>
                <a:latin typeface="Cambria" pitchFamily="34" charset="0"/>
                <a:ea typeface="Cambria" pitchFamily="34" charset="-122"/>
                <a:cs typeface="Cambria" pitchFamily="34" charset="-120"/>
              </a:rPr>
              <a:t>BILL’S STORY</a:t>
            </a:r>
            <a:endParaRPr lang="en-US" sz="1700" dirty="0"/>
          </a:p>
          <a:p>
            <a:pPr algn="ctr" indent="0" marL="0">
              <a:buNone/>
            </a:pPr>
            <a:r>
              <a:rPr lang="en-US" sz="1300" dirty="0">
                <a:solidFill>
                  <a:srgbClr val="D5E3CE"/>
                </a:solidFill>
                <a:latin typeface="Calibri" pitchFamily="34" charset="0"/>
                <a:ea typeface="Calibri" pitchFamily="34" charset="-122"/>
                <a:cs typeface="Calibri" pitchFamily="34" charset="-120"/>
              </a:rPr>
              <a:t>p. 5</a:t>
            </a:r>
            <a:endParaRPr lang="en-US" sz="1700" dirty="0"/>
          </a:p>
        </p:txBody>
      </p:sp>
      <p:sp>
        <p:nvSpPr>
          <p:cNvPr id="6" name="Shape 4"/>
          <p:cNvSpPr/>
          <p:nvPr/>
        </p:nvSpPr>
        <p:spPr>
          <a:xfrm>
            <a:off x="548640" y="1463040"/>
            <a:ext cx="11091672" cy="1600200"/>
          </a:xfrm>
          <a:prstGeom prst="roundRect">
            <a:avLst>
              <a:gd name="adj" fmla="val 4571"/>
            </a:avLst>
          </a:prstGeom>
          <a:solidFill>
            <a:srgbClr val="EAF1E6"/>
          </a:solidFill>
          <a:ln/>
        </p:spPr>
      </p:sp>
      <p:sp>
        <p:nvSpPr>
          <p:cNvPr id="7" name="Text 5"/>
          <p:cNvSpPr/>
          <p:nvPr/>
        </p:nvSpPr>
        <p:spPr>
          <a:xfrm>
            <a:off x="914400" y="1463040"/>
            <a:ext cx="7818120" cy="1600200"/>
          </a:xfrm>
          <a:prstGeom prst="rect">
            <a:avLst/>
          </a:prstGeom>
          <a:noFill/>
          <a:ln/>
        </p:spPr>
        <p:txBody>
          <a:bodyPr wrap="square" lIns="0" tIns="0" rIns="0" bIns="0" rtlCol="0" anchor="ctr"/>
          <a:lstStyle/>
          <a:p>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I woke up. This had to be stopped. I saw I could not take so much as one drink. </a:t>
            </a:r>
            <a:pPr indent="0" marL="0">
              <a:lnSpc>
                <a:spcPct val="115000"/>
              </a:lnSpc>
              <a:buNone/>
            </a:pPr>
            <a:r>
              <a:rPr lang="en-US" sz="1900" b="1" dirty="0">
                <a:solidFill>
                  <a:srgbClr val="2C5F2D"/>
                </a:solidFill>
                <a:latin typeface="Calibri" pitchFamily="34" charset="0"/>
                <a:ea typeface="Calibri" pitchFamily="34" charset="-122"/>
                <a:cs typeface="Calibri" pitchFamily="34" charset="-120"/>
              </a:rPr>
              <a:t>I was through forever.</a:t>
            </a:r>
            <a:pPr indent="0" marL="0">
              <a:lnSpc>
                <a:spcPct val="115000"/>
              </a:lnSpc>
              <a:buNone/>
            </a:pPr>
            <a:r>
              <a:rPr lang="en-US" sz="1900" dirty="0">
                <a:solidFill>
                  <a:srgbClr val="1B2A41"/>
                </a:solidFill>
                <a:latin typeface="Calibri" pitchFamily="34" charset="0"/>
                <a:ea typeface="Calibri" pitchFamily="34" charset="-122"/>
                <a:cs typeface="Calibri" pitchFamily="34" charset="-120"/>
              </a:rPr>
              <a:t> Before then, I had written lots of sweet promises, but my wife happily observed that this time I meant business. And so I did.</a:t>
            </a:r>
            <a:endParaRPr lang="en-US" sz="1900" dirty="0"/>
          </a:p>
        </p:txBody>
      </p:sp>
      <p:sp>
        <p:nvSpPr>
          <p:cNvPr id="8" name="Text 6"/>
          <p:cNvSpPr/>
          <p:nvPr/>
        </p:nvSpPr>
        <p:spPr>
          <a:xfrm>
            <a:off x="8915400" y="1463040"/>
            <a:ext cx="2377440" cy="1600200"/>
          </a:xfrm>
          <a:prstGeom prst="rect">
            <a:avLst/>
          </a:prstGeom>
          <a:noFill/>
          <a:ln/>
        </p:spPr>
        <p:txBody>
          <a:bodyPr wrap="square" lIns="0" tIns="0" rIns="0" bIns="0" rtlCol="0" anchor="ctr"/>
          <a:lstStyle/>
          <a:p>
            <a:pPr algn="r" indent="0" marL="0">
              <a:lnSpc>
                <a:spcPct val="110000"/>
              </a:lnSpc>
              <a:buNone/>
            </a:pPr>
            <a:r>
              <a:rPr lang="en-US" sz="1250" b="1" dirty="0">
                <a:solidFill>
                  <a:srgbClr val="2C5F2D"/>
                </a:solidFill>
                <a:latin typeface="Calibri" pitchFamily="34" charset="0"/>
                <a:ea typeface="Calibri" pitchFamily="34" charset="-122"/>
                <a:cs typeface="Calibri" pitchFamily="34" charset="-120"/>
              </a:rPr>
              <a:t>Will</a:t>
            </a:r>
            <a:endParaRPr lang="en-US" sz="1250" dirty="0"/>
          </a:p>
          <a:p>
            <a:pPr algn="r" indent="0" marL="0">
              <a:lnSpc>
                <a:spcPct val="110000"/>
              </a:lnSpc>
              <a:buNone/>
            </a:pPr>
            <a:r>
              <a:rPr lang="en-US" sz="1250" b="1" dirty="0">
                <a:solidFill>
                  <a:srgbClr val="2C5F2D"/>
                </a:solidFill>
                <a:latin typeface="Calibri" pitchFamily="34" charset="0"/>
                <a:ea typeface="Calibri" pitchFamily="34" charset="-122"/>
                <a:cs typeface="Calibri" pitchFamily="34" charset="-120"/>
              </a:rPr>
              <a:t>Power</a:t>
            </a:r>
            <a:endParaRPr lang="en-US" sz="1250" dirty="0"/>
          </a:p>
        </p:txBody>
      </p:sp>
      <p:sp>
        <p:nvSpPr>
          <p:cNvPr id="9" name="Shape 7"/>
          <p:cNvSpPr/>
          <p:nvPr/>
        </p:nvSpPr>
        <p:spPr>
          <a:xfrm>
            <a:off x="548640" y="3246120"/>
            <a:ext cx="11091672" cy="960120"/>
          </a:xfrm>
          <a:prstGeom prst="roundRect">
            <a:avLst>
              <a:gd name="adj" fmla="val 7619"/>
            </a:avLst>
          </a:prstGeom>
          <a:solidFill>
            <a:srgbClr val="E2EDF4"/>
          </a:solidFill>
          <a:ln/>
        </p:spPr>
      </p:sp>
      <p:sp>
        <p:nvSpPr>
          <p:cNvPr id="10" name="Text 8"/>
          <p:cNvSpPr/>
          <p:nvPr/>
        </p:nvSpPr>
        <p:spPr>
          <a:xfrm>
            <a:off x="914400" y="3246120"/>
            <a:ext cx="10360152" cy="960120"/>
          </a:xfrm>
          <a:prstGeom prst="rect">
            <a:avLst/>
          </a:prstGeom>
          <a:noFill/>
          <a:ln/>
        </p:spPr>
        <p:txBody>
          <a:bodyPr wrap="square" lIns="0" tIns="0" rIns="0" bIns="0" rtlCol="0" anchor="ctr"/>
          <a:lstStyle/>
          <a:p>
            <a:pPr indent="0" marL="0">
              <a:lnSpc>
                <a:spcPct val="115000"/>
              </a:lnSpc>
              <a:buNone/>
            </a:pPr>
            <a:r>
              <a:rPr lang="en-US" sz="2000" b="1" dirty="0">
                <a:solidFill>
                  <a:srgbClr val="1B2A41"/>
                </a:solidFill>
                <a:latin typeface="Calibri" pitchFamily="34" charset="0"/>
                <a:ea typeface="Calibri" pitchFamily="34" charset="-122"/>
                <a:cs typeface="Calibri" pitchFamily="34" charset="-120"/>
              </a:rPr>
              <a:t>Shortly afterward I came home drunk. There had been no fight.</a:t>
            </a:r>
            <a:endParaRPr lang="en-US" sz="2000" dirty="0"/>
          </a:p>
        </p:txBody>
      </p:sp>
      <p:sp>
        <p:nvSpPr>
          <p:cNvPr id="11" name="Shape 9"/>
          <p:cNvSpPr/>
          <p:nvPr/>
        </p:nvSpPr>
        <p:spPr>
          <a:xfrm>
            <a:off x="548640" y="4389120"/>
            <a:ext cx="11091672" cy="960120"/>
          </a:xfrm>
          <a:prstGeom prst="roundRect">
            <a:avLst>
              <a:gd name="adj" fmla="val 7619"/>
            </a:avLst>
          </a:prstGeom>
          <a:solidFill>
            <a:srgbClr val="EAF1E6"/>
          </a:solidFill>
          <a:ln/>
        </p:spPr>
      </p:sp>
      <p:sp>
        <p:nvSpPr>
          <p:cNvPr id="12" name="Text 10"/>
          <p:cNvSpPr/>
          <p:nvPr/>
        </p:nvSpPr>
        <p:spPr>
          <a:xfrm>
            <a:off x="914400" y="4389120"/>
            <a:ext cx="7818120" cy="960120"/>
          </a:xfrm>
          <a:prstGeom prst="rect">
            <a:avLst/>
          </a:prstGeom>
          <a:noFill/>
          <a:ln/>
        </p:spPr>
        <p:txBody>
          <a:bodyPr wrap="square" lIns="0" tIns="0" rIns="0" bIns="0" rtlCol="0" anchor="ctr"/>
          <a:lstStyle/>
          <a:p>
            <a:pPr indent="0" marL="0">
              <a:lnSpc>
                <a:spcPct val="115000"/>
              </a:lnSpc>
              <a:buNone/>
            </a:pPr>
            <a:r>
              <a:rPr lang="en-US" sz="2600" b="1" u="sng" dirty="0">
                <a:solidFill>
                  <a:srgbClr val="1B2A41"/>
                </a:solidFill>
                <a:latin typeface="Calibri" pitchFamily="34" charset="0"/>
                <a:ea typeface="Calibri" pitchFamily="34" charset="-122"/>
                <a:cs typeface="Calibri" pitchFamily="34" charset="-120"/>
              </a:rPr>
              <a:t>Was I crazy?</a:t>
            </a:r>
            <a:endParaRPr lang="en-US" sz="2600" dirty="0"/>
          </a:p>
        </p:txBody>
      </p:sp>
      <p:sp>
        <p:nvSpPr>
          <p:cNvPr id="13" name="Text 11"/>
          <p:cNvSpPr/>
          <p:nvPr/>
        </p:nvSpPr>
        <p:spPr>
          <a:xfrm>
            <a:off x="8915400" y="4389120"/>
            <a:ext cx="2377440" cy="960120"/>
          </a:xfrm>
          <a:prstGeom prst="rect">
            <a:avLst/>
          </a:prstGeom>
          <a:noFill/>
          <a:ln/>
        </p:spPr>
        <p:txBody>
          <a:bodyPr wrap="square" lIns="0" tIns="0" rIns="0" bIns="0" rtlCol="0" anchor="ctr"/>
          <a:lstStyle/>
          <a:p>
            <a:pPr algn="r" indent="0" marL="0">
              <a:lnSpc>
                <a:spcPct val="110000"/>
              </a:lnSpc>
              <a:buNone/>
            </a:pPr>
            <a:r>
              <a:rPr lang="en-US" sz="1250" b="1" dirty="0">
                <a:solidFill>
                  <a:srgbClr val="2C5F2D"/>
                </a:solidFill>
                <a:latin typeface="Calibri" pitchFamily="34" charset="0"/>
                <a:ea typeface="Calibri" pitchFamily="34" charset="-122"/>
                <a:cs typeface="Calibri" pitchFamily="34" charset="-120"/>
              </a:rPr>
              <a:t>Level</a:t>
            </a:r>
            <a:endParaRPr lang="en-US" sz="1250" dirty="0"/>
          </a:p>
        </p:txBody>
      </p:sp>
      <p:sp>
        <p:nvSpPr>
          <p:cNvPr id="14" name="Text 12"/>
          <p:cNvSpPr/>
          <p:nvPr/>
        </p:nvSpPr>
        <p:spPr>
          <a:xfrm>
            <a:off x="548640" y="5532120"/>
            <a:ext cx="11091672" cy="292608"/>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Alcoholics Anonymous</a:t>
            </a:r>
            <a:pPr indent="0" marL="0">
              <a:buNone/>
            </a:pPr>
            <a:r>
              <a:rPr lang="en-US" sz="1200" dirty="0">
                <a:solidFill>
                  <a:srgbClr val="6B7A8C"/>
                </a:solidFill>
                <a:latin typeface="Calibri" pitchFamily="34" charset="0"/>
                <a:ea typeface="Calibri" pitchFamily="34" charset="-122"/>
                <a:cs typeface="Calibri" pitchFamily="34" charset="-120"/>
              </a:rPr>
              <a:t>, 4th ed., “Bill’s Story,” p. 5.</a:t>
            </a:r>
            <a:endParaRPr lang="en-US" sz="1200" dirty="0"/>
          </a:p>
        </p:txBody>
      </p:sp>
      <p:sp>
        <p:nvSpPr>
          <p:cNvPr id="15" name="Text 13"/>
          <p:cNvSpPr/>
          <p:nvPr/>
        </p:nvSpPr>
        <p:spPr>
          <a:xfrm>
            <a:off x="548640" y="6355080"/>
            <a:ext cx="11091672" cy="292608"/>
          </a:xfrm>
          <a:prstGeom prst="rect">
            <a:avLst/>
          </a:prstGeom>
          <a:noFill/>
          <a:ln/>
        </p:spPr>
        <p:txBody>
          <a:bodyPr wrap="square" lIns="0" tIns="0" rIns="0" bIns="0" rtlCol="0" anchor="ctr"/>
          <a:lstStyle/>
          <a:p>
            <a:pPr indent="0" marL="0">
              <a:buNone/>
            </a:pPr>
            <a:r>
              <a:rPr lang="en-US" sz="950" dirty="0">
                <a:solidFill>
                  <a:srgbClr val="6B7A8C"/>
                </a:solidFill>
                <a:latin typeface="Calibri" pitchFamily="34" charset="0"/>
                <a:ea typeface="Calibri" pitchFamily="34" charset="-122"/>
                <a:cs typeface="Calibri" pitchFamily="34" charset="-120"/>
              </a:rPr>
              <a:t>Copyright © Alcoholics Anonymous World Services, Inc. All rights reserved. Intended for personal use only, and not to be reproduced further or distributed for resale.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2026-08-04T23:56:26Z</dcterms:created>
  <dcterms:modified xsi:type="dcterms:W3CDTF">2026-08-04T23:56:26Z</dcterms:modified>
</cp:coreProperties>
</file>
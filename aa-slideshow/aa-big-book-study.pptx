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while people are settling in.
A.A.W.S. granted permission by email (Drew Deetz, Intellectual Property Administrator,
General Service Office) on the condition that this copyright notice is displayed when
A.A. literature is screen-shared during a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slide. The Big Book is built in three movements.
Doctor's Opinion + Bill's Story = Step 1. The Problem. We are powerless.
Chapters 2-4 = Step 2. The Solution. There is a Power.
Chapters 5-7 = Steps 3 through 12. The action necessary for recovery.
Chapters 8 and 9 speak to the family - read today as Al-Anon and Alateen.
The "MUSTS" exercise begins on page 142.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142. Start here with the newcomer - this is where we check him out.
Three questions, and they are not rhetorical:
1. Will he take every necessary step? Submit to anything? Stop drinking forever?
2. Or does he think he can get away with a few drinks later? Probe this one thoroughly.
3. He either can and will get well, or he will not. If not, why waste the time?
Note for the room: this passage sits in the chapter To Employers, but the test applies
to anyone carrying the message to a newcomer.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Preface, page vii. Why this book is the one we work from.
It is the basic text - that word is circled for a reason. The first portion, the part
that describes the recovery program, has been left largely untouched through three
revisions. The Doctor's Opinion is exactly as Dr. Silkworth wrote it in 1939.
So: this is a book for transferring knowledge. Not a memoir, not history. The directions
have not changed because they did not need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1"/>
        </a:solidFill>
      </p:bgPr>
    </p:bg>
    <p:spTree>
      <p:nvGrpSpPr>
        <p:cNvPr id="1" name=""/>
        <p:cNvGrpSpPr/>
        <p:nvPr/>
      </p:nvGrpSpPr>
      <p:grpSpPr>
        <a:xfrm>
          <a:off x="0" y="0"/>
          <a:ext cx="0" cy="0"/>
          <a:chOff x="0" y="0"/>
          <a:chExt cx="0" cy="0"/>
        </a:xfrm>
      </p:grpSpPr>
      <p:sp>
        <p:nvSpPr>
          <p:cNvPr id="2" name="Text 0"/>
          <p:cNvSpPr/>
          <p:nvPr/>
        </p:nvSpPr>
        <p:spPr>
          <a:xfrm>
            <a:off x="822960" y="914400"/>
            <a:ext cx="10543032"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Big Book Study</a:t>
            </a:r>
            <a:endParaRPr lang="en-US" sz="4400" dirty="0"/>
          </a:p>
        </p:txBody>
      </p:sp>
      <p:sp>
        <p:nvSpPr>
          <p:cNvPr id="3" name="Text 1"/>
          <p:cNvSpPr/>
          <p:nvPr/>
        </p:nvSpPr>
        <p:spPr>
          <a:xfrm>
            <a:off x="822960" y="1737360"/>
            <a:ext cx="10543032" cy="365760"/>
          </a:xfrm>
          <a:prstGeom prst="rect">
            <a:avLst/>
          </a:prstGeom>
          <a:noFill/>
          <a:ln/>
        </p:spPr>
        <p:txBody>
          <a:bodyPr wrap="square" lIns="0" tIns="0" rIns="0" bIns="0" rtlCol="0" anchor="ctr"/>
          <a:lstStyle/>
          <a:p>
            <a:pPr indent="0" marL="0">
              <a:buNone/>
            </a:pPr>
            <a:r>
              <a:rPr lang="en-US" sz="1800" spc="200" kern="0" dirty="0">
                <a:solidFill>
                  <a:srgbClr val="A9B8CC"/>
                </a:solidFill>
                <a:latin typeface="Calibri" pitchFamily="34" charset="0"/>
                <a:ea typeface="Calibri" pitchFamily="34" charset="-122"/>
                <a:cs typeface="Calibri" pitchFamily="34" charset="-120"/>
              </a:rPr>
              <a:t>Alcoholics Anonymous   ·   Fourth Edition</a:t>
            </a:r>
            <a:endParaRPr lang="en-US" sz="1800" dirty="0"/>
          </a:p>
        </p:txBody>
      </p:sp>
      <p:sp>
        <p:nvSpPr>
          <p:cNvPr id="4" name="Shape 2"/>
          <p:cNvSpPr/>
          <p:nvPr/>
        </p:nvSpPr>
        <p:spPr>
          <a:xfrm>
            <a:off x="822960" y="2651760"/>
            <a:ext cx="10543032" cy="2011680"/>
          </a:xfrm>
          <a:prstGeom prst="roundRect">
            <a:avLst>
              <a:gd name="adj" fmla="val 4545"/>
            </a:avLst>
          </a:prstGeom>
          <a:solidFill>
            <a:srgbClr val="FFFFFF"/>
          </a:solidFill>
          <a:ln/>
        </p:spPr>
      </p:sp>
      <p:sp>
        <p:nvSpPr>
          <p:cNvPr id="5" name="Text 3"/>
          <p:cNvSpPr/>
          <p:nvPr/>
        </p:nvSpPr>
        <p:spPr>
          <a:xfrm>
            <a:off x="1115568" y="2788920"/>
            <a:ext cx="9966960" cy="292608"/>
          </a:xfrm>
          <a:prstGeom prst="rect">
            <a:avLst/>
          </a:prstGeom>
          <a:noFill/>
          <a:ln/>
        </p:spPr>
        <p:txBody>
          <a:bodyPr wrap="square" lIns="0" tIns="0" rIns="0" bIns="0" rtlCol="0" anchor="ctr"/>
          <a:lstStyle/>
          <a:p>
            <a:pPr indent="0" marL="0">
              <a:buNone/>
            </a:pPr>
            <a:r>
              <a:rPr lang="en-US" sz="1200" b="1" spc="200" kern="0" dirty="0">
                <a:solidFill>
                  <a:srgbClr val="9E1B60"/>
                </a:solidFill>
                <a:latin typeface="Calibri" pitchFamily="34" charset="0"/>
                <a:ea typeface="Calibri" pitchFamily="34" charset="-122"/>
                <a:cs typeface="Calibri" pitchFamily="34" charset="-120"/>
              </a:rPr>
              <a:t>COPYRIGHT NOTICE</a:t>
            </a:r>
            <a:endParaRPr lang="en-US" sz="1200" dirty="0"/>
          </a:p>
        </p:txBody>
      </p:sp>
      <p:sp>
        <p:nvSpPr>
          <p:cNvPr id="6" name="Text 4"/>
          <p:cNvSpPr/>
          <p:nvPr/>
        </p:nvSpPr>
        <p:spPr>
          <a:xfrm>
            <a:off x="1115568" y="3127248"/>
            <a:ext cx="9966960" cy="1371600"/>
          </a:xfrm>
          <a:prstGeom prst="rect">
            <a:avLst/>
          </a:prstGeom>
          <a:noFill/>
          <a:ln/>
        </p:spPr>
        <p:txBody>
          <a:bodyPr wrap="square" lIns="0" tIns="0" rIns="0" bIns="0" rtlCol="0" anchor="t"/>
          <a:lstStyle/>
          <a:p>
            <a:pPr indent="0" marL="0">
              <a:lnSpc>
                <a:spcPct val="120000"/>
              </a:lnSpc>
              <a:buNone/>
            </a:pPr>
            <a:r>
              <a:rPr lang="en-US" sz="1700" i="1" dirty="0">
                <a:solidFill>
                  <a:srgbClr val="1B2A41"/>
                </a:solidFill>
                <a:latin typeface="Calibri" pitchFamily="34" charset="0"/>
                <a:ea typeface="Calibri" pitchFamily="34" charset="-122"/>
                <a:cs typeface="Calibri" pitchFamily="34" charset="-120"/>
              </a:rPr>
              <a:t>“These materials are copyright © by Alcoholics Anonymous World Services, Inc. ("A.A.W.S."). All rights reserved. Individual printing or photocopying of a single copy is permitted. Intended for personal use only, and not to be reproduced further or distributed for resale.”</a:t>
            </a:r>
            <a:endParaRPr lang="en-US" sz="1700" dirty="0"/>
          </a:p>
        </p:txBody>
      </p:sp>
      <p:sp>
        <p:nvSpPr>
          <p:cNvPr id="7" name="Text 5"/>
          <p:cNvSpPr/>
          <p:nvPr/>
        </p:nvSpPr>
        <p:spPr>
          <a:xfrm>
            <a:off x="822960" y="4892040"/>
            <a:ext cx="10543032" cy="731520"/>
          </a:xfrm>
          <a:prstGeom prst="rect">
            <a:avLst/>
          </a:prstGeom>
          <a:noFill/>
          <a:ln/>
        </p:spPr>
        <p:txBody>
          <a:bodyPr wrap="square" lIns="0" tIns="0" rIns="0" bIns="0" rtlCol="0" anchor="t"/>
          <a:lstStyle/>
          <a:p>
            <a:pPr indent="0" marL="0">
              <a:lnSpc>
                <a:spcPct val="120000"/>
              </a:lnSpc>
              <a:buNone/>
            </a:pPr>
            <a:r>
              <a:rPr lang="en-US" sz="1300" dirty="0">
                <a:solidFill>
                  <a:srgbClr val="A9B8CC"/>
                </a:solidFill>
                <a:latin typeface="Calibri" pitchFamily="34" charset="0"/>
                <a:ea typeface="Calibri" pitchFamily="34" charset="-122"/>
                <a:cs typeface="Calibri" pitchFamily="34" charset="-120"/>
              </a:rPr>
              <a:t>Displayed at the request of A.A. World Services, Inc. A.A.W.S. has advised that it has no objection to screen-sharing A.A. literature from aa.org or from authorized e-books during an A.A. meeting, provided this notice is also displayed.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22376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The Big Book</a:t>
            </a:r>
            <a:endParaRPr lang="en-US" sz="4000" dirty="0"/>
          </a:p>
        </p:txBody>
      </p:sp>
      <p:sp>
        <p:nvSpPr>
          <p:cNvPr id="3" name="Text 1"/>
          <p:cNvSpPr/>
          <p:nvPr/>
        </p:nvSpPr>
        <p:spPr>
          <a:xfrm>
            <a:off x="548640" y="914400"/>
            <a:ext cx="7223760" cy="347472"/>
          </a:xfrm>
          <a:prstGeom prst="rect">
            <a:avLst/>
          </a:prstGeom>
          <a:noFill/>
          <a:ln/>
        </p:spPr>
        <p:txBody>
          <a:bodyPr wrap="square" lIns="0" tIns="0" rIns="0" bIns="0" rtlCol="0" anchor="ctr"/>
          <a:lstStyle/>
          <a:p>
            <a:pPr indent="0" marL="0">
              <a:buNone/>
            </a:pPr>
            <a:r>
              <a:rPr lang="en-US" sz="1700" spc="200" kern="0" dirty="0">
                <a:solidFill>
                  <a:srgbClr val="6B7A8C"/>
                </a:solidFill>
                <a:latin typeface="Calibri" pitchFamily="34" charset="0"/>
                <a:ea typeface="Calibri" pitchFamily="34" charset="-122"/>
                <a:cs typeface="Calibri" pitchFamily="34" charset="-120"/>
              </a:rPr>
              <a:t>Problem   ·   Solution   ·   Action</a:t>
            </a:r>
            <a:endParaRPr lang="en-US" sz="1700" dirty="0"/>
          </a:p>
        </p:txBody>
      </p:sp>
      <p:sp>
        <p:nvSpPr>
          <p:cNvPr id="4" name="Shape 2"/>
          <p:cNvSpPr/>
          <p:nvPr/>
        </p:nvSpPr>
        <p:spPr>
          <a:xfrm>
            <a:off x="8138160" y="320040"/>
            <a:ext cx="3502152" cy="960120"/>
          </a:xfrm>
          <a:prstGeom prst="roundRect">
            <a:avLst>
              <a:gd name="adj" fmla="val 9524"/>
            </a:avLst>
          </a:prstGeom>
          <a:solidFill>
            <a:srgbClr val="9E1B60"/>
          </a:solidFill>
          <a:ln/>
        </p:spPr>
      </p:sp>
      <p:sp>
        <p:nvSpPr>
          <p:cNvPr id="5" name="Text 3"/>
          <p:cNvSpPr/>
          <p:nvPr/>
        </p:nvSpPr>
        <p:spPr>
          <a:xfrm>
            <a:off x="8138160" y="320040"/>
            <a:ext cx="3502152"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“MUSTS”</a:t>
            </a:r>
            <a:endParaRPr lang="en-US" sz="1900" dirty="0"/>
          </a:p>
          <a:p>
            <a:pPr algn="ctr" indent="0" marL="0">
              <a:buNone/>
            </a:pPr>
            <a:r>
              <a:rPr lang="en-US" sz="1400" dirty="0">
                <a:solidFill>
                  <a:srgbClr val="F7D9E8"/>
                </a:solidFill>
                <a:latin typeface="Calibri" pitchFamily="34" charset="0"/>
                <a:ea typeface="Calibri" pitchFamily="34" charset="-122"/>
                <a:cs typeface="Calibri" pitchFamily="34" charset="-120"/>
              </a:rPr>
              <a:t>Start on page 142</a:t>
            </a:r>
            <a:endParaRPr lang="en-US" sz="1900" dirty="0"/>
          </a:p>
        </p:txBody>
      </p:sp>
      <p:sp>
        <p:nvSpPr>
          <p:cNvPr id="6" name="Shape 4"/>
          <p:cNvSpPr/>
          <p:nvPr/>
        </p:nvSpPr>
        <p:spPr>
          <a:xfrm>
            <a:off x="548640" y="1371600"/>
            <a:ext cx="11091672" cy="1051560"/>
          </a:xfrm>
          <a:prstGeom prst="roundRect">
            <a:avLst>
              <a:gd name="adj" fmla="val 6957"/>
            </a:avLst>
          </a:prstGeom>
          <a:solidFill>
            <a:srgbClr val="EAF1E6"/>
          </a:solidFill>
          <a:ln/>
        </p:spPr>
      </p:sp>
      <p:sp>
        <p:nvSpPr>
          <p:cNvPr id="7" name="Shape 5"/>
          <p:cNvSpPr/>
          <p:nvPr/>
        </p:nvSpPr>
        <p:spPr>
          <a:xfrm>
            <a:off x="548640" y="1371600"/>
            <a:ext cx="3017520" cy="1051560"/>
          </a:xfrm>
          <a:prstGeom prst="roundRect">
            <a:avLst>
              <a:gd name="adj" fmla="val 6957"/>
            </a:avLst>
          </a:prstGeom>
          <a:solidFill>
            <a:srgbClr val="2C5F2D"/>
          </a:solidFill>
          <a:ln/>
        </p:spPr>
      </p:sp>
      <p:sp>
        <p:nvSpPr>
          <p:cNvPr id="8" name="Text 6"/>
          <p:cNvSpPr/>
          <p:nvPr/>
        </p:nvSpPr>
        <p:spPr>
          <a:xfrm>
            <a:off x="777240" y="1371600"/>
            <a:ext cx="2560320" cy="105156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 1</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Problem  ·  Powerless</a:t>
            </a:r>
            <a:endParaRPr lang="en-US" sz="2100" dirty="0"/>
          </a:p>
        </p:txBody>
      </p:sp>
      <p:sp>
        <p:nvSpPr>
          <p:cNvPr id="9" name="Text 7"/>
          <p:cNvSpPr/>
          <p:nvPr/>
        </p:nvSpPr>
        <p:spPr>
          <a:xfrm>
            <a:off x="3794760" y="1549908"/>
            <a:ext cx="457200" cy="329184"/>
          </a:xfrm>
          <a:prstGeom prst="rect">
            <a:avLst/>
          </a:prstGeom>
          <a:noFill/>
          <a:ln/>
        </p:spPr>
        <p:txBody>
          <a:bodyPr wrap="square" lIns="0" tIns="0" rIns="0" bIns="0" rtlCol="0" anchor="ctr"/>
          <a:lstStyle/>
          <a:p>
            <a:pPr algn="r" indent="0" marL="0">
              <a:buNone/>
            </a:pPr>
            <a:endParaRPr lang="en-US" sz="1500" dirty="0"/>
          </a:p>
        </p:txBody>
      </p:sp>
      <p:sp>
        <p:nvSpPr>
          <p:cNvPr id="10" name="Text 8"/>
          <p:cNvSpPr/>
          <p:nvPr/>
        </p:nvSpPr>
        <p:spPr>
          <a:xfrm>
            <a:off x="4370832" y="15499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The Doctor’s Opinion</a:t>
            </a:r>
            <a:endParaRPr lang="en-US" sz="1700" dirty="0"/>
          </a:p>
        </p:txBody>
      </p:sp>
      <p:sp>
        <p:nvSpPr>
          <p:cNvPr id="11" name="Text 9"/>
          <p:cNvSpPr/>
          <p:nvPr/>
        </p:nvSpPr>
        <p:spPr>
          <a:xfrm>
            <a:off x="10195560" y="15499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xxi</a:t>
            </a:r>
            <a:endParaRPr lang="en-US" sz="1400" dirty="0"/>
          </a:p>
        </p:txBody>
      </p:sp>
      <p:sp>
        <p:nvSpPr>
          <p:cNvPr id="12" name="Text 10"/>
          <p:cNvSpPr/>
          <p:nvPr/>
        </p:nvSpPr>
        <p:spPr>
          <a:xfrm>
            <a:off x="3794760" y="191566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1</a:t>
            </a:r>
            <a:endParaRPr lang="en-US" sz="1500" dirty="0"/>
          </a:p>
        </p:txBody>
      </p:sp>
      <p:sp>
        <p:nvSpPr>
          <p:cNvPr id="13" name="Text 11"/>
          <p:cNvSpPr/>
          <p:nvPr/>
        </p:nvSpPr>
        <p:spPr>
          <a:xfrm>
            <a:off x="4370832" y="19156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Bill’s Story</a:t>
            </a:r>
            <a:endParaRPr lang="en-US" sz="1700" dirty="0"/>
          </a:p>
        </p:txBody>
      </p:sp>
      <p:sp>
        <p:nvSpPr>
          <p:cNvPr id="14" name="Text 12"/>
          <p:cNvSpPr/>
          <p:nvPr/>
        </p:nvSpPr>
        <p:spPr>
          <a:xfrm>
            <a:off x="10195560" y="19156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1</a:t>
            </a:r>
            <a:endParaRPr lang="en-US" sz="1400" dirty="0"/>
          </a:p>
        </p:txBody>
      </p:sp>
      <p:sp>
        <p:nvSpPr>
          <p:cNvPr id="15" name="Shape 13"/>
          <p:cNvSpPr/>
          <p:nvPr/>
        </p:nvSpPr>
        <p:spPr>
          <a:xfrm>
            <a:off x="548640" y="2560320"/>
            <a:ext cx="11091672" cy="1325880"/>
          </a:xfrm>
          <a:prstGeom prst="roundRect">
            <a:avLst>
              <a:gd name="adj" fmla="val 5517"/>
            </a:avLst>
          </a:prstGeom>
          <a:solidFill>
            <a:srgbClr val="E2EDF4"/>
          </a:solidFill>
          <a:ln/>
        </p:spPr>
      </p:sp>
      <p:sp>
        <p:nvSpPr>
          <p:cNvPr id="16" name="Shape 14"/>
          <p:cNvSpPr/>
          <p:nvPr/>
        </p:nvSpPr>
        <p:spPr>
          <a:xfrm>
            <a:off x="548640" y="2560320"/>
            <a:ext cx="3017520" cy="1325880"/>
          </a:xfrm>
          <a:prstGeom prst="roundRect">
            <a:avLst>
              <a:gd name="adj" fmla="val 5517"/>
            </a:avLst>
          </a:prstGeom>
          <a:solidFill>
            <a:srgbClr val="065A82"/>
          </a:solidFill>
          <a:ln/>
        </p:spPr>
      </p:sp>
      <p:sp>
        <p:nvSpPr>
          <p:cNvPr id="17" name="Text 15"/>
          <p:cNvSpPr/>
          <p:nvPr/>
        </p:nvSpPr>
        <p:spPr>
          <a:xfrm>
            <a:off x="777240" y="2560320"/>
            <a:ext cx="2560320" cy="132588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 2</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Solution  ·  Power</a:t>
            </a:r>
            <a:endParaRPr lang="en-US" sz="2100" dirty="0"/>
          </a:p>
        </p:txBody>
      </p:sp>
      <p:sp>
        <p:nvSpPr>
          <p:cNvPr id="18" name="Text 16"/>
          <p:cNvSpPr/>
          <p:nvPr/>
        </p:nvSpPr>
        <p:spPr>
          <a:xfrm>
            <a:off x="3794760" y="269290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2</a:t>
            </a:r>
            <a:endParaRPr lang="en-US" sz="1500" dirty="0"/>
          </a:p>
        </p:txBody>
      </p:sp>
      <p:sp>
        <p:nvSpPr>
          <p:cNvPr id="19" name="Text 17"/>
          <p:cNvSpPr/>
          <p:nvPr/>
        </p:nvSpPr>
        <p:spPr>
          <a:xfrm>
            <a:off x="4370832" y="26929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There Is a Solution</a:t>
            </a:r>
            <a:endParaRPr lang="en-US" sz="1700" dirty="0"/>
          </a:p>
        </p:txBody>
      </p:sp>
      <p:sp>
        <p:nvSpPr>
          <p:cNvPr id="20" name="Text 18"/>
          <p:cNvSpPr/>
          <p:nvPr/>
        </p:nvSpPr>
        <p:spPr>
          <a:xfrm>
            <a:off x="10195560" y="26929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17</a:t>
            </a:r>
            <a:endParaRPr lang="en-US" sz="1400" dirty="0"/>
          </a:p>
        </p:txBody>
      </p:sp>
      <p:sp>
        <p:nvSpPr>
          <p:cNvPr id="21" name="Text 19"/>
          <p:cNvSpPr/>
          <p:nvPr/>
        </p:nvSpPr>
        <p:spPr>
          <a:xfrm>
            <a:off x="3794760" y="305866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3</a:t>
            </a:r>
            <a:endParaRPr lang="en-US" sz="1500" dirty="0"/>
          </a:p>
        </p:txBody>
      </p:sp>
      <p:sp>
        <p:nvSpPr>
          <p:cNvPr id="22" name="Text 20"/>
          <p:cNvSpPr/>
          <p:nvPr/>
        </p:nvSpPr>
        <p:spPr>
          <a:xfrm>
            <a:off x="4370832" y="30586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More About Alcoholism</a:t>
            </a:r>
            <a:endParaRPr lang="en-US" sz="1700" dirty="0"/>
          </a:p>
        </p:txBody>
      </p:sp>
      <p:sp>
        <p:nvSpPr>
          <p:cNvPr id="23" name="Text 21"/>
          <p:cNvSpPr/>
          <p:nvPr/>
        </p:nvSpPr>
        <p:spPr>
          <a:xfrm>
            <a:off x="10195560" y="30586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30</a:t>
            </a:r>
            <a:endParaRPr lang="en-US" sz="1400" dirty="0"/>
          </a:p>
        </p:txBody>
      </p:sp>
      <p:sp>
        <p:nvSpPr>
          <p:cNvPr id="24" name="Text 22"/>
          <p:cNvSpPr/>
          <p:nvPr/>
        </p:nvSpPr>
        <p:spPr>
          <a:xfrm>
            <a:off x="3794760" y="342442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4</a:t>
            </a:r>
            <a:endParaRPr lang="en-US" sz="1500" dirty="0"/>
          </a:p>
        </p:txBody>
      </p:sp>
      <p:sp>
        <p:nvSpPr>
          <p:cNvPr id="25" name="Text 23"/>
          <p:cNvSpPr/>
          <p:nvPr/>
        </p:nvSpPr>
        <p:spPr>
          <a:xfrm>
            <a:off x="4370832" y="342442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We Agnostics</a:t>
            </a:r>
            <a:endParaRPr lang="en-US" sz="1700" dirty="0"/>
          </a:p>
        </p:txBody>
      </p:sp>
      <p:sp>
        <p:nvSpPr>
          <p:cNvPr id="26" name="Text 24"/>
          <p:cNvSpPr/>
          <p:nvPr/>
        </p:nvSpPr>
        <p:spPr>
          <a:xfrm>
            <a:off x="10195560" y="342442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44</a:t>
            </a:r>
            <a:endParaRPr lang="en-US" sz="1400" dirty="0"/>
          </a:p>
        </p:txBody>
      </p:sp>
      <p:sp>
        <p:nvSpPr>
          <p:cNvPr id="27" name="Shape 25"/>
          <p:cNvSpPr/>
          <p:nvPr/>
        </p:nvSpPr>
        <p:spPr>
          <a:xfrm>
            <a:off x="548640" y="4023360"/>
            <a:ext cx="11091672" cy="1325880"/>
          </a:xfrm>
          <a:prstGeom prst="roundRect">
            <a:avLst>
              <a:gd name="adj" fmla="val 5517"/>
            </a:avLst>
          </a:prstGeom>
          <a:solidFill>
            <a:srgbClr val="EAF1E6"/>
          </a:solidFill>
          <a:ln/>
        </p:spPr>
      </p:sp>
      <p:sp>
        <p:nvSpPr>
          <p:cNvPr id="28" name="Shape 26"/>
          <p:cNvSpPr/>
          <p:nvPr/>
        </p:nvSpPr>
        <p:spPr>
          <a:xfrm>
            <a:off x="548640" y="4023360"/>
            <a:ext cx="3017520" cy="1325880"/>
          </a:xfrm>
          <a:prstGeom prst="roundRect">
            <a:avLst>
              <a:gd name="adj" fmla="val 5517"/>
            </a:avLst>
          </a:prstGeom>
          <a:solidFill>
            <a:srgbClr val="2C5F2D"/>
          </a:solidFill>
          <a:ln/>
        </p:spPr>
      </p:sp>
      <p:sp>
        <p:nvSpPr>
          <p:cNvPr id="29" name="Text 27"/>
          <p:cNvSpPr/>
          <p:nvPr/>
        </p:nvSpPr>
        <p:spPr>
          <a:xfrm>
            <a:off x="777240" y="4023360"/>
            <a:ext cx="2560320" cy="132588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STEPS 3–12</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Action Necessary for Recovery</a:t>
            </a:r>
            <a:endParaRPr lang="en-US" sz="2100" dirty="0"/>
          </a:p>
        </p:txBody>
      </p:sp>
      <p:sp>
        <p:nvSpPr>
          <p:cNvPr id="30" name="Text 28"/>
          <p:cNvSpPr/>
          <p:nvPr/>
        </p:nvSpPr>
        <p:spPr>
          <a:xfrm>
            <a:off x="3794760" y="415594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5</a:t>
            </a:r>
            <a:endParaRPr lang="en-US" sz="1500" dirty="0"/>
          </a:p>
        </p:txBody>
      </p:sp>
      <p:sp>
        <p:nvSpPr>
          <p:cNvPr id="31" name="Text 29"/>
          <p:cNvSpPr/>
          <p:nvPr/>
        </p:nvSpPr>
        <p:spPr>
          <a:xfrm>
            <a:off x="4370832" y="415594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How It Works</a:t>
            </a:r>
            <a:endParaRPr lang="en-US" sz="1700" dirty="0"/>
          </a:p>
        </p:txBody>
      </p:sp>
      <p:sp>
        <p:nvSpPr>
          <p:cNvPr id="32" name="Text 30"/>
          <p:cNvSpPr/>
          <p:nvPr/>
        </p:nvSpPr>
        <p:spPr>
          <a:xfrm>
            <a:off x="10195560" y="415594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58</a:t>
            </a:r>
            <a:endParaRPr lang="en-US" sz="1400" dirty="0"/>
          </a:p>
        </p:txBody>
      </p:sp>
      <p:sp>
        <p:nvSpPr>
          <p:cNvPr id="33" name="Text 31"/>
          <p:cNvSpPr/>
          <p:nvPr/>
        </p:nvSpPr>
        <p:spPr>
          <a:xfrm>
            <a:off x="3794760" y="452170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6</a:t>
            </a:r>
            <a:endParaRPr lang="en-US" sz="1500" dirty="0"/>
          </a:p>
        </p:txBody>
      </p:sp>
      <p:sp>
        <p:nvSpPr>
          <p:cNvPr id="34" name="Text 32"/>
          <p:cNvSpPr/>
          <p:nvPr/>
        </p:nvSpPr>
        <p:spPr>
          <a:xfrm>
            <a:off x="4370832" y="45217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Into Action</a:t>
            </a:r>
            <a:endParaRPr lang="en-US" sz="1700" dirty="0"/>
          </a:p>
        </p:txBody>
      </p:sp>
      <p:sp>
        <p:nvSpPr>
          <p:cNvPr id="35" name="Text 33"/>
          <p:cNvSpPr/>
          <p:nvPr/>
        </p:nvSpPr>
        <p:spPr>
          <a:xfrm>
            <a:off x="10195560" y="45217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72</a:t>
            </a:r>
            <a:endParaRPr lang="en-US" sz="1400" dirty="0"/>
          </a:p>
        </p:txBody>
      </p:sp>
      <p:sp>
        <p:nvSpPr>
          <p:cNvPr id="36" name="Text 34"/>
          <p:cNvSpPr/>
          <p:nvPr/>
        </p:nvSpPr>
        <p:spPr>
          <a:xfrm>
            <a:off x="3794760" y="488746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7</a:t>
            </a:r>
            <a:endParaRPr lang="en-US" sz="1500" dirty="0"/>
          </a:p>
        </p:txBody>
      </p:sp>
      <p:sp>
        <p:nvSpPr>
          <p:cNvPr id="37" name="Text 35"/>
          <p:cNvSpPr/>
          <p:nvPr/>
        </p:nvSpPr>
        <p:spPr>
          <a:xfrm>
            <a:off x="4370832" y="48874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Working With Others</a:t>
            </a:r>
            <a:endParaRPr lang="en-US" sz="1700" dirty="0"/>
          </a:p>
        </p:txBody>
      </p:sp>
      <p:sp>
        <p:nvSpPr>
          <p:cNvPr id="38" name="Text 36"/>
          <p:cNvSpPr/>
          <p:nvPr/>
        </p:nvSpPr>
        <p:spPr>
          <a:xfrm>
            <a:off x="10195560" y="48874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89</a:t>
            </a:r>
            <a:endParaRPr lang="en-US" sz="1400" dirty="0"/>
          </a:p>
        </p:txBody>
      </p:sp>
      <p:sp>
        <p:nvSpPr>
          <p:cNvPr id="39" name="Shape 37"/>
          <p:cNvSpPr/>
          <p:nvPr/>
        </p:nvSpPr>
        <p:spPr>
          <a:xfrm>
            <a:off x="548640" y="5532120"/>
            <a:ext cx="11091672" cy="502920"/>
          </a:xfrm>
          <a:prstGeom prst="roundRect">
            <a:avLst>
              <a:gd name="adj" fmla="val 14545"/>
            </a:avLst>
          </a:prstGeom>
          <a:solidFill>
            <a:srgbClr val="F1F4F7"/>
          </a:solidFill>
          <a:ln/>
        </p:spPr>
      </p:sp>
      <p:sp>
        <p:nvSpPr>
          <p:cNvPr id="40" name="Text 38"/>
          <p:cNvSpPr/>
          <p:nvPr/>
        </p:nvSpPr>
        <p:spPr>
          <a:xfrm>
            <a:off x="868680" y="5532120"/>
            <a:ext cx="5029200" cy="502920"/>
          </a:xfrm>
          <a:prstGeom prst="rect">
            <a:avLst/>
          </a:prstGeom>
          <a:noFill/>
          <a:ln/>
        </p:spPr>
        <p:txBody>
          <a:bodyPr wrap="square" lIns="0" tIns="0" rIns="0" bIns="0" rtlCol="0" anchor="ctr"/>
          <a:lstStyle/>
          <a:p>
            <a:pPr indent="0" marL="0">
              <a:buNone/>
            </a:pPr>
            <a:r>
              <a:rPr lang="en-US" sz="1400" b="1" dirty="0">
                <a:solidFill>
                  <a:srgbClr val="6B7A8C"/>
                </a:solidFill>
                <a:latin typeface="Calibri" pitchFamily="34" charset="0"/>
                <a:ea typeface="Calibri" pitchFamily="34" charset="-122"/>
                <a:cs typeface="Calibri" pitchFamily="34" charset="-120"/>
              </a:rPr>
              <a:t>8   </a:t>
            </a:r>
            <a:pPr indent="0" marL="0">
              <a:buNone/>
            </a:pPr>
            <a:r>
              <a:rPr lang="en-US" sz="1400" strike="sngStrike" dirty="0">
                <a:solidFill>
                  <a:srgbClr val="6B7A8C"/>
                </a:solidFill>
                <a:latin typeface="Calibri" pitchFamily="34" charset="0"/>
                <a:ea typeface="Calibri" pitchFamily="34" charset="-122"/>
                <a:cs typeface="Calibri" pitchFamily="34" charset="-120"/>
              </a:rPr>
              <a:t>To Wives</a:t>
            </a:r>
            <a:pPr indent="0" marL="0">
              <a:buNone/>
            </a:pPr>
            <a:r>
              <a:rPr lang="en-US" sz="1400" dirty="0">
                <a:solidFill>
                  <a:srgbClr val="6B7A8C"/>
                </a:solidFill>
                <a:latin typeface="Calibri" pitchFamily="34" charset="0"/>
                <a:ea typeface="Calibri" pitchFamily="34" charset="-122"/>
                <a:cs typeface="Calibri" pitchFamily="34" charset="-120"/>
              </a:rPr>
              <a:t>   →   </a:t>
            </a:r>
            <a:pPr indent="0" marL="0">
              <a:buNone/>
            </a:pPr>
            <a:r>
              <a:rPr lang="en-US" sz="1400" b="1" dirty="0">
                <a:solidFill>
                  <a:srgbClr val="1B2A41"/>
                </a:solidFill>
                <a:latin typeface="Calibri" pitchFamily="34" charset="0"/>
                <a:ea typeface="Calibri" pitchFamily="34" charset="-122"/>
                <a:cs typeface="Calibri" pitchFamily="34" charset="-120"/>
              </a:rPr>
              <a:t>To Al-Anons</a:t>
            </a:r>
            <a:pPr indent="0" marL="0">
              <a:buNone/>
            </a:pPr>
            <a:r>
              <a:rPr lang="en-US" sz="1400" dirty="0">
                <a:solidFill>
                  <a:srgbClr val="6B7A8C"/>
                </a:solidFill>
                <a:latin typeface="Calibri" pitchFamily="34" charset="0"/>
                <a:ea typeface="Calibri" pitchFamily="34" charset="-122"/>
                <a:cs typeface="Calibri" pitchFamily="34" charset="-120"/>
              </a:rPr>
              <a:t>     p. 104</a:t>
            </a:r>
            <a:endParaRPr lang="en-US" sz="1400" dirty="0"/>
          </a:p>
        </p:txBody>
      </p:sp>
      <p:sp>
        <p:nvSpPr>
          <p:cNvPr id="41" name="Text 39"/>
          <p:cNvSpPr/>
          <p:nvPr/>
        </p:nvSpPr>
        <p:spPr>
          <a:xfrm>
            <a:off x="6309360" y="5532120"/>
            <a:ext cx="5029200" cy="502920"/>
          </a:xfrm>
          <a:prstGeom prst="rect">
            <a:avLst/>
          </a:prstGeom>
          <a:noFill/>
          <a:ln/>
        </p:spPr>
        <p:txBody>
          <a:bodyPr wrap="square" lIns="0" tIns="0" rIns="0" bIns="0" rtlCol="0" anchor="ctr"/>
          <a:lstStyle/>
          <a:p>
            <a:pPr indent="0" marL="0">
              <a:buNone/>
            </a:pPr>
            <a:r>
              <a:rPr lang="en-US" sz="1400" b="1" dirty="0">
                <a:solidFill>
                  <a:srgbClr val="6B7A8C"/>
                </a:solidFill>
                <a:latin typeface="Calibri" pitchFamily="34" charset="0"/>
                <a:ea typeface="Calibri" pitchFamily="34" charset="-122"/>
                <a:cs typeface="Calibri" pitchFamily="34" charset="-120"/>
              </a:rPr>
              <a:t>9   </a:t>
            </a:r>
            <a:pPr indent="0" marL="0">
              <a:buNone/>
            </a:pPr>
            <a:r>
              <a:rPr lang="en-US" sz="1400" strike="sngStrike" dirty="0">
                <a:solidFill>
                  <a:srgbClr val="6B7A8C"/>
                </a:solidFill>
                <a:latin typeface="Calibri" pitchFamily="34" charset="0"/>
                <a:ea typeface="Calibri" pitchFamily="34" charset="-122"/>
                <a:cs typeface="Calibri" pitchFamily="34" charset="-120"/>
              </a:rPr>
              <a:t>The Family Afterward</a:t>
            </a:r>
            <a:pPr indent="0" marL="0">
              <a:buNone/>
            </a:pPr>
            <a:r>
              <a:rPr lang="en-US" sz="1400" dirty="0">
                <a:solidFill>
                  <a:srgbClr val="6B7A8C"/>
                </a:solidFill>
                <a:latin typeface="Calibri" pitchFamily="34" charset="0"/>
                <a:ea typeface="Calibri" pitchFamily="34" charset="-122"/>
                <a:cs typeface="Calibri" pitchFamily="34" charset="-120"/>
              </a:rPr>
              <a:t>   →   </a:t>
            </a:r>
            <a:pPr indent="0" marL="0">
              <a:buNone/>
            </a:pPr>
            <a:r>
              <a:rPr lang="en-US" sz="1400" b="1" dirty="0">
                <a:solidFill>
                  <a:srgbClr val="1B2A41"/>
                </a:solidFill>
                <a:latin typeface="Calibri" pitchFamily="34" charset="0"/>
                <a:ea typeface="Calibri" pitchFamily="34" charset="-122"/>
                <a:cs typeface="Calibri" pitchFamily="34" charset="-120"/>
              </a:rPr>
              <a:t>The Alateens Afterward</a:t>
            </a:r>
            <a:pPr indent="0" marL="0">
              <a:buNone/>
            </a:pPr>
            <a:r>
              <a:rPr lang="en-US" sz="1400" dirty="0">
                <a:solidFill>
                  <a:srgbClr val="6B7A8C"/>
                </a:solidFill>
                <a:latin typeface="Calibri" pitchFamily="34" charset="0"/>
                <a:ea typeface="Calibri" pitchFamily="34" charset="-122"/>
                <a:cs typeface="Calibri" pitchFamily="34" charset="-120"/>
              </a:rPr>
              <a:t>     p. 122</a:t>
            </a:r>
            <a:endParaRPr lang="en-US" sz="1400" dirty="0"/>
          </a:p>
        </p:txBody>
      </p:sp>
      <p:sp>
        <p:nvSpPr>
          <p:cNvPr id="42" name="Text 4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86384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Check Out the Newcomer</a:t>
            </a:r>
            <a:endParaRPr lang="en-US" sz="4000" dirty="0"/>
          </a:p>
        </p:txBody>
      </p:sp>
      <p:sp>
        <p:nvSpPr>
          <p:cNvPr id="3" name="Text 1"/>
          <p:cNvSpPr/>
          <p:nvPr/>
        </p:nvSpPr>
        <p:spPr>
          <a:xfrm>
            <a:off x="548640" y="914400"/>
            <a:ext cx="786384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“Start here with the newcomer.”</a:t>
            </a:r>
            <a:endParaRPr lang="en-US" sz="1700" dirty="0"/>
          </a:p>
        </p:txBody>
      </p:sp>
      <p:sp>
        <p:nvSpPr>
          <p:cNvPr id="4" name="Shape 2"/>
          <p:cNvSpPr/>
          <p:nvPr/>
        </p:nvSpPr>
        <p:spPr>
          <a:xfrm>
            <a:off x="8778240" y="320040"/>
            <a:ext cx="2862072" cy="960120"/>
          </a:xfrm>
          <a:prstGeom prst="roundRect">
            <a:avLst>
              <a:gd name="adj" fmla="val 9524"/>
            </a:avLst>
          </a:prstGeom>
          <a:solidFill>
            <a:srgbClr val="9E1B60"/>
          </a:solidFill>
          <a:ln/>
        </p:spPr>
      </p:sp>
      <p:sp>
        <p:nvSpPr>
          <p:cNvPr id="5" name="Text 3"/>
          <p:cNvSpPr/>
          <p:nvPr/>
        </p:nvSpPr>
        <p:spPr>
          <a:xfrm>
            <a:off x="8778240" y="320040"/>
            <a:ext cx="2862072"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“MUSTS”</a:t>
            </a:r>
            <a:endParaRPr lang="en-US" sz="1900" dirty="0"/>
          </a:p>
          <a:p>
            <a:pPr algn="ctr" indent="0" marL="0">
              <a:buNone/>
            </a:pPr>
            <a:r>
              <a:rPr lang="en-US" sz="1400" dirty="0">
                <a:solidFill>
                  <a:srgbClr val="F7D9E8"/>
                </a:solidFill>
                <a:latin typeface="Calibri" pitchFamily="34" charset="0"/>
                <a:ea typeface="Calibri" pitchFamily="34" charset="-122"/>
                <a:cs typeface="Calibri" pitchFamily="34" charset="-120"/>
              </a:rPr>
              <a:t>Page 142</a:t>
            </a:r>
            <a:endParaRPr lang="en-US" sz="1900" dirty="0"/>
          </a:p>
        </p:txBody>
      </p:sp>
      <p:sp>
        <p:nvSpPr>
          <p:cNvPr id="6" name="Shape 4"/>
          <p:cNvSpPr/>
          <p:nvPr/>
        </p:nvSpPr>
        <p:spPr>
          <a:xfrm>
            <a:off x="548640" y="1463040"/>
            <a:ext cx="11091672" cy="914400"/>
          </a:xfrm>
          <a:prstGeom prst="roundRect">
            <a:avLst>
              <a:gd name="adj" fmla="val 8000"/>
            </a:avLst>
          </a:prstGeom>
          <a:solidFill>
            <a:srgbClr val="FFF7D9"/>
          </a:solidFill>
          <a:ln/>
        </p:spPr>
      </p:sp>
      <p:sp>
        <p:nvSpPr>
          <p:cNvPr id="7" name="Shape 5"/>
          <p:cNvSpPr/>
          <p:nvPr/>
        </p:nvSpPr>
        <p:spPr>
          <a:xfrm>
            <a:off x="822960" y="1700784"/>
            <a:ext cx="438912" cy="438912"/>
          </a:xfrm>
          <a:prstGeom prst="ellipse">
            <a:avLst/>
          </a:prstGeom>
          <a:solidFill>
            <a:srgbClr val="9E1B60"/>
          </a:solidFill>
          <a:ln/>
        </p:spPr>
      </p:sp>
      <p:sp>
        <p:nvSpPr>
          <p:cNvPr id="8" name="Text 6"/>
          <p:cNvSpPr/>
          <p:nvPr/>
        </p:nvSpPr>
        <p:spPr>
          <a:xfrm>
            <a:off x="822960" y="170078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7"/>
          <p:cNvSpPr/>
          <p:nvPr/>
        </p:nvSpPr>
        <p:spPr>
          <a:xfrm>
            <a:off x="1463040" y="1463040"/>
            <a:ext cx="10012680" cy="91440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Will he take every necessary step, submit to anything to get well, to stop drinking forever?</a:t>
            </a:r>
            <a:endParaRPr lang="en-US" sz="2000" dirty="0"/>
          </a:p>
        </p:txBody>
      </p:sp>
      <p:sp>
        <p:nvSpPr>
          <p:cNvPr id="10" name="Shape 8"/>
          <p:cNvSpPr/>
          <p:nvPr/>
        </p:nvSpPr>
        <p:spPr>
          <a:xfrm>
            <a:off x="548640" y="2560320"/>
            <a:ext cx="11091672" cy="1554480"/>
          </a:xfrm>
          <a:prstGeom prst="roundRect">
            <a:avLst>
              <a:gd name="adj" fmla="val 4706"/>
            </a:avLst>
          </a:prstGeom>
          <a:solidFill>
            <a:srgbClr val="FFF7D9"/>
          </a:solidFill>
          <a:ln/>
        </p:spPr>
      </p:sp>
      <p:sp>
        <p:nvSpPr>
          <p:cNvPr id="11" name="Shape 9"/>
          <p:cNvSpPr/>
          <p:nvPr/>
        </p:nvSpPr>
        <p:spPr>
          <a:xfrm>
            <a:off x="822960" y="3118104"/>
            <a:ext cx="438912" cy="438912"/>
          </a:xfrm>
          <a:prstGeom prst="ellipse">
            <a:avLst/>
          </a:prstGeom>
          <a:solidFill>
            <a:srgbClr val="9E1B60"/>
          </a:solidFill>
          <a:ln/>
        </p:spPr>
      </p:sp>
      <p:sp>
        <p:nvSpPr>
          <p:cNvPr id="12" name="Text 10"/>
          <p:cNvSpPr/>
          <p:nvPr/>
        </p:nvSpPr>
        <p:spPr>
          <a:xfrm>
            <a:off x="822960" y="311810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1463040" y="2560320"/>
            <a:ext cx="10012680" cy="155448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…does he think he is fooling you, and that after rest and treatment he will be able to get away with a few drinks now and then? We believe a man should be thoroughly probed on these points. Be satisfied he is not deceiving himself or you.</a:t>
            </a:r>
            <a:endParaRPr lang="en-US" sz="2000" dirty="0"/>
          </a:p>
        </p:txBody>
      </p:sp>
      <p:sp>
        <p:nvSpPr>
          <p:cNvPr id="14" name="Shape 12"/>
          <p:cNvSpPr/>
          <p:nvPr/>
        </p:nvSpPr>
        <p:spPr>
          <a:xfrm>
            <a:off x="548640" y="4297680"/>
            <a:ext cx="11091672" cy="1188720"/>
          </a:xfrm>
          <a:prstGeom prst="roundRect">
            <a:avLst>
              <a:gd name="adj" fmla="val 6154"/>
            </a:avLst>
          </a:prstGeom>
          <a:solidFill>
            <a:srgbClr val="FFF7D9"/>
          </a:solidFill>
          <a:ln/>
        </p:spPr>
      </p:sp>
      <p:sp>
        <p:nvSpPr>
          <p:cNvPr id="15" name="Shape 13"/>
          <p:cNvSpPr/>
          <p:nvPr/>
        </p:nvSpPr>
        <p:spPr>
          <a:xfrm>
            <a:off x="822960" y="4672584"/>
            <a:ext cx="438912" cy="438912"/>
          </a:xfrm>
          <a:prstGeom prst="ellipse">
            <a:avLst/>
          </a:prstGeom>
          <a:solidFill>
            <a:srgbClr val="9E1B60"/>
          </a:solidFill>
          <a:ln/>
        </p:spPr>
      </p:sp>
      <p:sp>
        <p:nvSpPr>
          <p:cNvPr id="16" name="Text 14"/>
          <p:cNvSpPr/>
          <p:nvPr/>
        </p:nvSpPr>
        <p:spPr>
          <a:xfrm>
            <a:off x="822960" y="467258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463040" y="4297680"/>
            <a:ext cx="10012680" cy="118872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Either you are dealing with a man who can and will get well or you are not. If not, why waste time with him? This may seem severe, but it is usually the best course.</a:t>
            </a:r>
            <a:endParaRPr lang="en-US" sz="2000" dirty="0"/>
          </a:p>
        </p:txBody>
      </p:sp>
      <p:sp>
        <p:nvSpPr>
          <p:cNvPr id="18" name="Text 16"/>
          <p:cNvSpPr/>
          <p:nvPr/>
        </p:nvSpPr>
        <p:spPr>
          <a:xfrm>
            <a:off x="548640" y="571500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“To Employers,” p. 142.</a:t>
            </a:r>
            <a:endParaRPr lang="en-US" sz="1200" dirty="0"/>
          </a:p>
        </p:txBody>
      </p:sp>
      <p:sp>
        <p:nvSpPr>
          <p:cNvPr id="19" name="Text 17"/>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86384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The Basic Text</a:t>
            </a:r>
            <a:endParaRPr lang="en-US" sz="4000" dirty="0"/>
          </a:p>
        </p:txBody>
      </p:sp>
      <p:sp>
        <p:nvSpPr>
          <p:cNvPr id="3" name="Text 1"/>
          <p:cNvSpPr/>
          <p:nvPr/>
        </p:nvSpPr>
        <p:spPr>
          <a:xfrm>
            <a:off x="548640" y="914400"/>
            <a:ext cx="786384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basic text for our Society.”</a:t>
            </a:r>
            <a:endParaRPr lang="en-US" sz="1700" dirty="0"/>
          </a:p>
        </p:txBody>
      </p:sp>
      <p:sp>
        <p:nvSpPr>
          <p:cNvPr id="4" name="Shape 2"/>
          <p:cNvSpPr/>
          <p:nvPr/>
        </p:nvSpPr>
        <p:spPr>
          <a:xfrm>
            <a:off x="8778240" y="320040"/>
            <a:ext cx="2862072" cy="960120"/>
          </a:xfrm>
          <a:prstGeom prst="roundRect">
            <a:avLst>
              <a:gd name="adj" fmla="val 9524"/>
            </a:avLst>
          </a:prstGeom>
          <a:solidFill>
            <a:srgbClr val="065A82"/>
          </a:solidFill>
          <a:ln/>
        </p:spPr>
      </p:sp>
      <p:sp>
        <p:nvSpPr>
          <p:cNvPr id="5" name="Text 3"/>
          <p:cNvSpPr/>
          <p:nvPr/>
        </p:nvSpPr>
        <p:spPr>
          <a:xfrm>
            <a:off x="8778240" y="320040"/>
            <a:ext cx="2862072" cy="960120"/>
          </a:xfrm>
          <a:prstGeom prst="rect">
            <a:avLst/>
          </a:prstGeom>
          <a:noFill/>
          <a:ln/>
        </p:spPr>
        <p:txBody>
          <a:bodyPr wrap="square" lIns="0" tIns="0" rIns="0" bIns="0" rtlCol="0" anchor="ctr"/>
          <a:lstStyle/>
          <a:p>
            <a:pPr algn="ctr" indent="0" marL="0">
              <a:buNone/>
            </a:pPr>
            <a:r>
              <a:rPr lang="en-US" sz="1900" b="1" spc="200" kern="0" dirty="0">
                <a:solidFill>
                  <a:srgbClr val="FFFFFF"/>
                </a:solidFill>
                <a:latin typeface="Cambria" pitchFamily="34" charset="0"/>
                <a:ea typeface="Cambria" pitchFamily="34" charset="-122"/>
                <a:cs typeface="Cambria" pitchFamily="34" charset="-120"/>
              </a:rPr>
              <a:t>PREFACE</a:t>
            </a:r>
            <a:endParaRPr lang="en-US" sz="1900" dirty="0"/>
          </a:p>
          <a:p>
            <a:pPr algn="ctr" indent="0" marL="0">
              <a:buNone/>
            </a:pPr>
            <a:r>
              <a:rPr lang="en-US" sz="1400" dirty="0">
                <a:solidFill>
                  <a:srgbClr val="C7DEEC"/>
                </a:solidFill>
                <a:latin typeface="Calibri" pitchFamily="34" charset="0"/>
                <a:ea typeface="Calibri" pitchFamily="34" charset="-122"/>
                <a:cs typeface="Calibri" pitchFamily="34" charset="-120"/>
              </a:rPr>
              <a:t>Page vii</a:t>
            </a:r>
            <a:endParaRPr lang="en-US" sz="1900" dirty="0"/>
          </a:p>
        </p:txBody>
      </p:sp>
      <p:sp>
        <p:nvSpPr>
          <p:cNvPr id="6" name="Shape 4"/>
          <p:cNvSpPr/>
          <p:nvPr/>
        </p:nvSpPr>
        <p:spPr>
          <a:xfrm>
            <a:off x="548640" y="1463040"/>
            <a:ext cx="11091672" cy="1737360"/>
          </a:xfrm>
          <a:prstGeom prst="roundRect">
            <a:avLst>
              <a:gd name="adj" fmla="val 4211"/>
            </a:avLst>
          </a:prstGeom>
          <a:solidFill>
            <a:srgbClr val="E2EDF4"/>
          </a:solidFill>
          <a:ln/>
        </p:spPr>
      </p:sp>
      <p:sp>
        <p:nvSpPr>
          <p:cNvPr id="7" name="Text 5"/>
          <p:cNvSpPr/>
          <p:nvPr/>
        </p:nvSpPr>
        <p:spPr>
          <a:xfrm>
            <a:off x="914400" y="1463040"/>
            <a:ext cx="10360152" cy="173736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Because this book has become the </a:t>
            </a:r>
            <a:pPr indent="0" marL="0">
              <a:lnSpc>
                <a:spcPct val="115000"/>
              </a:lnSpc>
              <a:buNone/>
            </a:pPr>
            <a:r>
              <a:rPr lang="en-US" sz="1900" b="1" dirty="0">
                <a:solidFill>
                  <a:srgbClr val="1B2A41"/>
                </a:solidFill>
                <a:latin typeface="Calibri" pitchFamily="34" charset="0"/>
                <a:ea typeface="Calibri" pitchFamily="34" charset="-122"/>
                <a:cs typeface="Calibri" pitchFamily="34" charset="-120"/>
              </a:rPr>
              <a:t>basic text</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for our Society and has helped such large numbers of alcoholic men and women to recovery, there exists strong sentiment against any radical changes being made in it. Therefore, the first portion of this volume, describing the A.A. recovery program, has been left largely untouched in the course of revisions made for the second, third, and fourth editions.</a:t>
            </a:r>
            <a:endParaRPr lang="en-US" sz="1900" dirty="0"/>
          </a:p>
        </p:txBody>
      </p:sp>
      <p:sp>
        <p:nvSpPr>
          <p:cNvPr id="8" name="Shape 6"/>
          <p:cNvSpPr/>
          <p:nvPr/>
        </p:nvSpPr>
        <p:spPr>
          <a:xfrm>
            <a:off x="548640" y="3383280"/>
            <a:ext cx="11091672" cy="1097280"/>
          </a:xfrm>
          <a:prstGeom prst="roundRect">
            <a:avLst>
              <a:gd name="adj" fmla="val 6667"/>
            </a:avLst>
          </a:prstGeom>
          <a:solidFill>
            <a:srgbClr val="E2EDF4"/>
          </a:solidFill>
          <a:ln/>
        </p:spPr>
      </p:sp>
      <p:sp>
        <p:nvSpPr>
          <p:cNvPr id="9" name="Text 7"/>
          <p:cNvSpPr/>
          <p:nvPr/>
        </p:nvSpPr>
        <p:spPr>
          <a:xfrm>
            <a:off x="914400" y="3383280"/>
            <a:ext cx="10360152" cy="10972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 section called “The Doctor’s Opinion” has been kept intact, just as it was originally written in 1939 by the late Dr. William D. Silkworth, our Society’s great medical benefactor.</a:t>
            </a:r>
            <a:endParaRPr lang="en-US" sz="1900" dirty="0"/>
          </a:p>
        </p:txBody>
      </p:sp>
      <p:sp>
        <p:nvSpPr>
          <p:cNvPr id="10" name="Shape 8"/>
          <p:cNvSpPr/>
          <p:nvPr/>
        </p:nvSpPr>
        <p:spPr>
          <a:xfrm>
            <a:off x="548640" y="4709160"/>
            <a:ext cx="11091672" cy="914400"/>
          </a:xfrm>
          <a:prstGeom prst="roundRect">
            <a:avLst>
              <a:gd name="adj" fmla="val 8000"/>
            </a:avLst>
          </a:prstGeom>
          <a:solidFill>
            <a:srgbClr val="1B2A41"/>
          </a:solidFill>
          <a:ln/>
        </p:spPr>
      </p:sp>
      <p:sp>
        <p:nvSpPr>
          <p:cNvPr id="11" name="Text 9"/>
          <p:cNvSpPr/>
          <p:nvPr/>
        </p:nvSpPr>
        <p:spPr>
          <a:xfrm>
            <a:off x="914400" y="48280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5084064"/>
            <a:ext cx="10360152" cy="41148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A book for transferring knowledge.</a:t>
            </a:r>
            <a:endParaRPr lang="en-US" sz="2400" dirty="0"/>
          </a:p>
        </p:txBody>
      </p:sp>
      <p:sp>
        <p:nvSpPr>
          <p:cNvPr id="13" name="Text 11"/>
          <p:cNvSpPr/>
          <p:nvPr/>
        </p:nvSpPr>
        <p:spPr>
          <a:xfrm>
            <a:off x="548640" y="57607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Preface, p. vii.</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2026-08-04T21:16:57Z</dcterms:created>
  <dcterms:modified xsi:type="dcterms:W3CDTF">2026-08-04T21:16:57Z</dcterms:modified>
</cp:coreProperties>
</file>